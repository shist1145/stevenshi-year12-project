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7"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Lst>
  <p:sldSz cy="5143500" cx="9144000"/>
  <p:notesSz cx="6858000" cy="9144000"/>
  <p:embeddedFontLst>
    <p:embeddedFont>
      <p:font typeface="Proxima Nova"/>
      <p:regular r:id="rId53"/>
      <p:bold r:id="rId54"/>
      <p:italic r:id="rId55"/>
      <p:boldItalic r:id="rId56"/>
    </p:embeddedFont>
    <p:embeddedFont>
      <p:font typeface="Source Code Pro"/>
      <p:regular r:id="rId57"/>
      <p:bold r:id="rId58"/>
      <p:italic r:id="rId59"/>
      <p:boldItalic r:id="rId60"/>
    </p:embeddedFont>
    <p:embeddedFont>
      <p:font typeface="Oswald"/>
      <p:regular r:id="rId61"/>
      <p:bold r:id="rId6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1D673EE-A136-4475-A9BE-83F346C9F8B3}">
  <a:tblStyle styleId="{E1D673EE-A136-4475-A9BE-83F346C9F8B3}"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font" Target="fonts/ProximaNova-regular.fntdata"/><Relationship Id="rId54" Type="http://schemas.openxmlformats.org/officeDocument/2006/relationships/font" Target="fonts/ProximaNova-bold.fntdata"/><Relationship Id="rId55" Type="http://schemas.openxmlformats.org/officeDocument/2006/relationships/font" Target="fonts/ProximaNova-italic.fntdata"/><Relationship Id="rId56" Type="http://schemas.openxmlformats.org/officeDocument/2006/relationships/font" Target="fonts/ProximaNova-boldItalic.fntdata"/><Relationship Id="rId57" Type="http://schemas.openxmlformats.org/officeDocument/2006/relationships/font" Target="fonts/SourceCodePro-regular.fntdata"/><Relationship Id="rId58" Type="http://schemas.openxmlformats.org/officeDocument/2006/relationships/font" Target="fonts/SourceCodePro-bold.fntdata"/><Relationship Id="rId59" Type="http://schemas.openxmlformats.org/officeDocument/2006/relationships/font" Target="fonts/SourceCodePro-italic.fntdata"/><Relationship Id="rId60" Type="http://schemas.openxmlformats.org/officeDocument/2006/relationships/font" Target="fonts/SourceCodePro-boldItalic.fntdata"/><Relationship Id="rId61" Type="http://schemas.openxmlformats.org/officeDocument/2006/relationships/font" Target="fonts/Oswald-regular.fntdata"/><Relationship Id="rId62" Type="http://schemas.openxmlformats.org/officeDocument/2006/relationships/font" Target="fonts/Oswald-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54bacc4fa1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354bacc4fa1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5472b95edd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35472b95edd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54bacc4fa1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354bacc4fa1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54bacc4fa1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354bacc4fa1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2a7d712b34db0c75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2a7d712b34db0c75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2a7d712b34db0c75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2a7d712b34db0c75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35472b95edd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35472b95edd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35472b95edd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35472b95edd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Define, Describe and Discuss</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35472b95edd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35472b95edd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a:solidFill>
                  <a:schemeClr val="dk1"/>
                </a:solidFill>
              </a:rPr>
              <a:t>Define, Describe and Discuss</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35472b95edd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7" name="Google Shape;237;g35472b95edd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a:solidFill>
                  <a:schemeClr val="dk1"/>
                </a:solidFill>
              </a:rPr>
              <a:t>Define, Describe and Discuss</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354bacc4fa1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354bacc4fa1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354bacc4fa1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9" name="Google Shape;249;g354bacc4fa1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What will you work on this sprint? - </a:t>
            </a:r>
            <a:r>
              <a:rPr lang="en-GB">
                <a:solidFill>
                  <a:schemeClr val="dk1"/>
                </a:solidFill>
              </a:rPr>
              <a:t>Insert evidence of your sprint backlog above</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354bacc4fa1_0_1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354bacc4fa1_0_1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1000"/>
              </a:spcAft>
              <a:buNone/>
            </a:pPr>
            <a:r>
              <a:t/>
            </a:r>
            <a:endParaRPr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354bacc4fa1_0_2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3" name="Google Shape;263;g354bacc4fa1_0_2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35fd017ad6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35fd017ad6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1000"/>
              </a:spcAft>
              <a:buNone/>
            </a:pPr>
            <a:r>
              <a:t/>
            </a:r>
            <a:endParaRPr sz="1200"/>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35fd017ad67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9" name="Google Shape;279;g35fd017ad67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359380066b3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g359380066b3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3ef04be6d8c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4" name="Google Shape;294;g3ef04be6d8c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354bacc4fa1_0_2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9" name="Google Shape;299;g354bacc4fa1_0_2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354bacc4fa1_0_3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5" name="Google Shape;305;g354bacc4fa1_0_3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354bacc4fa1_0_3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1" name="Google Shape;311;g354bacc4fa1_0_3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1"/>
                </a:solidFill>
              </a:rPr>
              <a:t>What will you work on this sprint? - Insert evidence of your sprint backlog above</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354bacc4fa1_0_3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7" name="Google Shape;317;g354bacc4fa1_0_3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354bacc4fa1_0_3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3" name="Google Shape;323;g354bacc4fa1_0_3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354bacc4fa1_0_3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7" name="Google Shape;327;g354bacc4fa1_0_3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354bacc4fa1_0_3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3" name="Google Shape;333;g354bacc4fa1_0_3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354bacc4fa1_0_3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9" name="Google Shape;339;g354bacc4fa1_0_3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1"/>
                </a:solidFill>
              </a:rPr>
              <a:t>What will you work on this sprint? - Insert evidence of your sprint backlog above</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354bacc4fa1_0_3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3" name="Google Shape;343;g354bacc4fa1_0_3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g354bacc4fa1_0_3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9" name="Google Shape;349;g354bacc4fa1_0_3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354bacc4fa1_0_3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3" name="Google Shape;353;g354bacc4fa1_0_3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354bacc4fa1_0_3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9" name="Google Shape;359;g354bacc4fa1_0_3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354bacc4fa1_0_3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5" name="Google Shape;365;g354bacc4fa1_0_3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1"/>
                </a:solidFill>
              </a:rPr>
              <a:t>What will you work on this sprint? - Insert evidence of your sprint backlog above</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g354bacc4fa1_0_3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9" name="Google Shape;369;g354bacc4fa1_0_3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g354bacc4fa1_0_3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5" name="Google Shape;375;g354bacc4fa1_0_3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g354bacc4fa1_0_3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9" name="Google Shape;379;g354bacc4fa1_0_3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g354bacc4fa1_0_4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5" name="Google Shape;385;g354bacc4fa1_0_4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g354bacc4fa1_0_4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2" name="Google Shape;392;g354bacc4fa1_0_4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g354bacc4fa1_0_4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8" name="Google Shape;398;g354bacc4fa1_0_4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g354bacc4fa1_0_3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4" name="Google Shape;404;g354bacc4fa1_0_3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g354bacc4fa1_0_3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1" name="Google Shape;411;g354bacc4fa1_0_3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g354bacc4fa1_0_4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8" name="Google Shape;418;g354bacc4fa1_0_4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g354bacc4fa1_0_4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5" name="Google Shape;425;g354bacc4fa1_0_4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g3e5124b457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1" name="Google Shape;431;g3e5124b457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g3e5124b4575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8" name="Google Shape;438;g3e5124b4575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g3e5124b4575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6" name="Google Shape;446;g3e5124b4575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g3e5124b4575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4" name="Google Shape;454;g3e5124b4575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rot="10800000">
            <a:off x="4226100" y="2933550"/>
            <a:ext cx="691800" cy="388500"/>
          </a:xfrm>
          <a:prstGeom prst="triangle">
            <a:avLst>
              <a:gd fmla="val 50000"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a:off x="-25" y="0"/>
            <a:ext cx="9144000" cy="31242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type="ctrTitle"/>
          </p:nvPr>
        </p:nvSpPr>
        <p:spPr>
          <a:xfrm>
            <a:off x="411175" y="644300"/>
            <a:ext cx="8282400" cy="21090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1"/>
              </a:buClr>
              <a:buSzPts val="6000"/>
              <a:buNone/>
              <a:defRPr sz="6000">
                <a:solidFill>
                  <a:schemeClr val="lt1"/>
                </a:solidFill>
              </a:defRPr>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p:txBody>
      </p:sp>
      <p:sp>
        <p:nvSpPr>
          <p:cNvPr id="13" name="Google Shape;13;p2"/>
          <p:cNvSpPr txBox="1"/>
          <p:nvPr>
            <p:ph idx="1" type="subTitle"/>
          </p:nvPr>
        </p:nvSpPr>
        <p:spPr>
          <a:xfrm>
            <a:off x="411175" y="3398250"/>
            <a:ext cx="8282400" cy="1260600"/>
          </a:xfrm>
          <a:prstGeom prst="rect">
            <a:avLst/>
          </a:prstGeom>
        </p:spPr>
        <p:txBody>
          <a:bodyPr anchorCtr="0" anchor="ctr" bIns="91425" lIns="91425" spcFirstLastPara="1" rIns="91425" wrap="square" tIns="91425">
            <a:normAutofit/>
          </a:bodyPr>
          <a:lstStyle>
            <a:lvl1pPr lvl="0" algn="ctr">
              <a:lnSpc>
                <a:spcPct val="100000"/>
              </a:lnSpc>
              <a:spcBef>
                <a:spcPts val="0"/>
              </a:spcBef>
              <a:spcAft>
                <a:spcPts val="0"/>
              </a:spcAft>
              <a:buSzPts val="3600"/>
              <a:buFont typeface="Oswald"/>
              <a:buNone/>
              <a:defRPr sz="3600">
                <a:latin typeface="Oswald"/>
                <a:ea typeface="Oswald"/>
                <a:cs typeface="Oswald"/>
                <a:sym typeface="Oswald"/>
              </a:defRPr>
            </a:lvl1pPr>
            <a:lvl2pPr lvl="1" algn="ctr">
              <a:lnSpc>
                <a:spcPct val="100000"/>
              </a:lnSpc>
              <a:spcBef>
                <a:spcPts val="0"/>
              </a:spcBef>
              <a:spcAft>
                <a:spcPts val="0"/>
              </a:spcAft>
              <a:buSzPts val="3600"/>
              <a:buFont typeface="Oswald"/>
              <a:buNone/>
              <a:defRPr sz="3600">
                <a:latin typeface="Oswald"/>
                <a:ea typeface="Oswald"/>
                <a:cs typeface="Oswald"/>
                <a:sym typeface="Oswald"/>
              </a:defRPr>
            </a:lvl2pPr>
            <a:lvl3pPr lvl="2" algn="ctr">
              <a:lnSpc>
                <a:spcPct val="100000"/>
              </a:lnSpc>
              <a:spcBef>
                <a:spcPts val="0"/>
              </a:spcBef>
              <a:spcAft>
                <a:spcPts val="0"/>
              </a:spcAft>
              <a:buSzPts val="3600"/>
              <a:buFont typeface="Oswald"/>
              <a:buNone/>
              <a:defRPr sz="3600">
                <a:latin typeface="Oswald"/>
                <a:ea typeface="Oswald"/>
                <a:cs typeface="Oswald"/>
                <a:sym typeface="Oswald"/>
              </a:defRPr>
            </a:lvl3pPr>
            <a:lvl4pPr lvl="3" algn="ctr">
              <a:lnSpc>
                <a:spcPct val="100000"/>
              </a:lnSpc>
              <a:spcBef>
                <a:spcPts val="0"/>
              </a:spcBef>
              <a:spcAft>
                <a:spcPts val="0"/>
              </a:spcAft>
              <a:buSzPts val="3600"/>
              <a:buFont typeface="Oswald"/>
              <a:buNone/>
              <a:defRPr sz="3600">
                <a:latin typeface="Oswald"/>
                <a:ea typeface="Oswald"/>
                <a:cs typeface="Oswald"/>
                <a:sym typeface="Oswald"/>
              </a:defRPr>
            </a:lvl4pPr>
            <a:lvl5pPr lvl="4" algn="ctr">
              <a:lnSpc>
                <a:spcPct val="100000"/>
              </a:lnSpc>
              <a:spcBef>
                <a:spcPts val="0"/>
              </a:spcBef>
              <a:spcAft>
                <a:spcPts val="0"/>
              </a:spcAft>
              <a:buSzPts val="3600"/>
              <a:buFont typeface="Oswald"/>
              <a:buNone/>
              <a:defRPr sz="3600">
                <a:latin typeface="Oswald"/>
                <a:ea typeface="Oswald"/>
                <a:cs typeface="Oswald"/>
                <a:sym typeface="Oswald"/>
              </a:defRPr>
            </a:lvl5pPr>
            <a:lvl6pPr lvl="5" algn="ctr">
              <a:lnSpc>
                <a:spcPct val="100000"/>
              </a:lnSpc>
              <a:spcBef>
                <a:spcPts val="0"/>
              </a:spcBef>
              <a:spcAft>
                <a:spcPts val="0"/>
              </a:spcAft>
              <a:buSzPts val="3600"/>
              <a:buFont typeface="Oswald"/>
              <a:buNone/>
              <a:defRPr sz="3600">
                <a:latin typeface="Oswald"/>
                <a:ea typeface="Oswald"/>
                <a:cs typeface="Oswald"/>
                <a:sym typeface="Oswald"/>
              </a:defRPr>
            </a:lvl6pPr>
            <a:lvl7pPr lvl="6" algn="ctr">
              <a:lnSpc>
                <a:spcPct val="100000"/>
              </a:lnSpc>
              <a:spcBef>
                <a:spcPts val="0"/>
              </a:spcBef>
              <a:spcAft>
                <a:spcPts val="0"/>
              </a:spcAft>
              <a:buSzPts val="3600"/>
              <a:buFont typeface="Oswald"/>
              <a:buNone/>
              <a:defRPr sz="3600">
                <a:latin typeface="Oswald"/>
                <a:ea typeface="Oswald"/>
                <a:cs typeface="Oswald"/>
                <a:sym typeface="Oswald"/>
              </a:defRPr>
            </a:lvl7pPr>
            <a:lvl8pPr lvl="7" algn="ctr">
              <a:lnSpc>
                <a:spcPct val="100000"/>
              </a:lnSpc>
              <a:spcBef>
                <a:spcPts val="0"/>
              </a:spcBef>
              <a:spcAft>
                <a:spcPts val="0"/>
              </a:spcAft>
              <a:buSzPts val="3600"/>
              <a:buFont typeface="Oswald"/>
              <a:buNone/>
              <a:defRPr sz="3600">
                <a:latin typeface="Oswald"/>
                <a:ea typeface="Oswald"/>
                <a:cs typeface="Oswald"/>
                <a:sym typeface="Oswald"/>
              </a:defRPr>
            </a:lvl8pPr>
            <a:lvl9pPr lvl="8" algn="ctr">
              <a:lnSpc>
                <a:spcPct val="100000"/>
              </a:lnSpc>
              <a:spcBef>
                <a:spcPts val="0"/>
              </a:spcBef>
              <a:spcAft>
                <a:spcPts val="0"/>
              </a:spcAft>
              <a:buSzPts val="3600"/>
              <a:buFont typeface="Oswald"/>
              <a:buNone/>
              <a:defRPr sz="3600">
                <a:latin typeface="Oswald"/>
                <a:ea typeface="Oswald"/>
                <a:cs typeface="Oswald"/>
                <a:sym typeface="Oswald"/>
              </a:defRPr>
            </a:lvl9pPr>
          </a:lstStyle>
          <a:p/>
        </p:txBody>
      </p:sp>
      <p:sp>
        <p:nvSpPr>
          <p:cNvPr id="14" name="Google Shape;14;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rint 1 Header" type="secHead">
  <p:cSld name="SECTION_HEADER">
    <p:spTree>
      <p:nvGrpSpPr>
        <p:cNvPr id="15" name="Shape 15"/>
        <p:cNvGrpSpPr/>
        <p:nvPr/>
      </p:nvGrpSpPr>
      <p:grpSpPr>
        <a:xfrm>
          <a:off x="0" y="0"/>
          <a:ext cx="0" cy="0"/>
          <a:chOff x="0" y="0"/>
          <a:chExt cx="0" cy="0"/>
        </a:xfrm>
      </p:grpSpPr>
      <p:sp>
        <p:nvSpPr>
          <p:cNvPr id="16" name="Google Shape;16;p3"/>
          <p:cNvSpPr/>
          <p:nvPr/>
        </p:nvSpPr>
        <p:spPr>
          <a:xfrm>
            <a:off x="0" y="1567350"/>
            <a:ext cx="9144000" cy="20088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3"/>
          <p:cNvSpPr txBox="1"/>
          <p:nvPr>
            <p:ph type="title"/>
          </p:nvPr>
        </p:nvSpPr>
        <p:spPr>
          <a:xfrm>
            <a:off x="430800" y="1889700"/>
            <a:ext cx="8282400" cy="15165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3600"/>
              <a:buNone/>
              <a:defRPr sz="3600">
                <a:solidFill>
                  <a:schemeClr val="lt1"/>
                </a:solidFill>
              </a:defRPr>
            </a:lvl1pPr>
            <a:lvl2pPr lvl="1" algn="ctr">
              <a:spcBef>
                <a:spcPts val="0"/>
              </a:spcBef>
              <a:spcAft>
                <a:spcPts val="0"/>
              </a:spcAft>
              <a:buClr>
                <a:schemeClr val="lt1"/>
              </a:buClr>
              <a:buSzPts val="3600"/>
              <a:buNone/>
              <a:defRPr sz="3600">
                <a:solidFill>
                  <a:schemeClr val="lt1"/>
                </a:solidFill>
              </a:defRPr>
            </a:lvl2pPr>
            <a:lvl3pPr lvl="2" algn="ctr">
              <a:spcBef>
                <a:spcPts val="0"/>
              </a:spcBef>
              <a:spcAft>
                <a:spcPts val="0"/>
              </a:spcAft>
              <a:buClr>
                <a:schemeClr val="lt1"/>
              </a:buClr>
              <a:buSzPts val="3600"/>
              <a:buNone/>
              <a:defRPr sz="3600">
                <a:solidFill>
                  <a:schemeClr val="lt1"/>
                </a:solidFill>
              </a:defRPr>
            </a:lvl3pPr>
            <a:lvl4pPr lvl="3" algn="ctr">
              <a:spcBef>
                <a:spcPts val="0"/>
              </a:spcBef>
              <a:spcAft>
                <a:spcPts val="0"/>
              </a:spcAft>
              <a:buClr>
                <a:schemeClr val="lt1"/>
              </a:buClr>
              <a:buSzPts val="3600"/>
              <a:buNone/>
              <a:defRPr sz="3600">
                <a:solidFill>
                  <a:schemeClr val="lt1"/>
                </a:solidFill>
              </a:defRPr>
            </a:lvl4pPr>
            <a:lvl5pPr lvl="4" algn="ctr">
              <a:spcBef>
                <a:spcPts val="0"/>
              </a:spcBef>
              <a:spcAft>
                <a:spcPts val="0"/>
              </a:spcAft>
              <a:buClr>
                <a:schemeClr val="lt1"/>
              </a:buClr>
              <a:buSzPts val="3600"/>
              <a:buNone/>
              <a:defRPr sz="3600">
                <a:solidFill>
                  <a:schemeClr val="lt1"/>
                </a:solidFill>
              </a:defRPr>
            </a:lvl5pPr>
            <a:lvl6pPr lvl="5" algn="ctr">
              <a:spcBef>
                <a:spcPts val="0"/>
              </a:spcBef>
              <a:spcAft>
                <a:spcPts val="0"/>
              </a:spcAft>
              <a:buClr>
                <a:schemeClr val="lt1"/>
              </a:buClr>
              <a:buSzPts val="3600"/>
              <a:buNone/>
              <a:defRPr sz="3600">
                <a:solidFill>
                  <a:schemeClr val="lt1"/>
                </a:solidFill>
              </a:defRPr>
            </a:lvl6pPr>
            <a:lvl7pPr lvl="6" algn="ctr">
              <a:spcBef>
                <a:spcPts val="0"/>
              </a:spcBef>
              <a:spcAft>
                <a:spcPts val="0"/>
              </a:spcAft>
              <a:buClr>
                <a:schemeClr val="lt1"/>
              </a:buClr>
              <a:buSzPts val="3600"/>
              <a:buNone/>
              <a:defRPr sz="3600">
                <a:solidFill>
                  <a:schemeClr val="lt1"/>
                </a:solidFill>
              </a:defRPr>
            </a:lvl7pPr>
            <a:lvl8pPr lvl="7" algn="ctr">
              <a:spcBef>
                <a:spcPts val="0"/>
              </a:spcBef>
              <a:spcAft>
                <a:spcPts val="0"/>
              </a:spcAft>
              <a:buClr>
                <a:schemeClr val="lt1"/>
              </a:buClr>
              <a:buSzPts val="3600"/>
              <a:buNone/>
              <a:defRPr sz="3600">
                <a:solidFill>
                  <a:schemeClr val="lt1"/>
                </a:solidFill>
              </a:defRPr>
            </a:lvl8pPr>
            <a:lvl9pPr lvl="8" algn="ctr">
              <a:spcBef>
                <a:spcPts val="0"/>
              </a:spcBef>
              <a:spcAft>
                <a:spcPts val="0"/>
              </a:spcAft>
              <a:buClr>
                <a:schemeClr val="lt1"/>
              </a:buClr>
              <a:buSzPts val="3600"/>
              <a:buNone/>
              <a:defRPr sz="3600">
                <a:solidFill>
                  <a:schemeClr val="lt1"/>
                </a:solidFill>
              </a:defRPr>
            </a:lvl9pPr>
          </a:lstStyle>
          <a:p/>
        </p:txBody>
      </p:sp>
      <p:sp>
        <p:nvSpPr>
          <p:cNvPr id="18" name="Google Shape;18;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rint 2 Header">
  <p:cSld name="SECTION_HEADER_1">
    <p:spTree>
      <p:nvGrpSpPr>
        <p:cNvPr id="19" name="Shape 19"/>
        <p:cNvGrpSpPr/>
        <p:nvPr/>
      </p:nvGrpSpPr>
      <p:grpSpPr>
        <a:xfrm>
          <a:off x="0" y="0"/>
          <a:ext cx="0" cy="0"/>
          <a:chOff x="0" y="0"/>
          <a:chExt cx="0" cy="0"/>
        </a:xfrm>
      </p:grpSpPr>
      <p:sp>
        <p:nvSpPr>
          <p:cNvPr id="20" name="Google Shape;20;p4"/>
          <p:cNvSpPr/>
          <p:nvPr/>
        </p:nvSpPr>
        <p:spPr>
          <a:xfrm>
            <a:off x="0" y="1567350"/>
            <a:ext cx="9144000" cy="20088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txBox="1"/>
          <p:nvPr>
            <p:ph type="title"/>
          </p:nvPr>
        </p:nvSpPr>
        <p:spPr>
          <a:xfrm>
            <a:off x="430800" y="1889700"/>
            <a:ext cx="8282400" cy="15165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3600"/>
              <a:buNone/>
              <a:defRPr sz="3600">
                <a:solidFill>
                  <a:schemeClr val="lt1"/>
                </a:solidFill>
              </a:defRPr>
            </a:lvl1pPr>
            <a:lvl2pPr lvl="1" algn="ctr">
              <a:spcBef>
                <a:spcPts val="0"/>
              </a:spcBef>
              <a:spcAft>
                <a:spcPts val="0"/>
              </a:spcAft>
              <a:buClr>
                <a:schemeClr val="lt1"/>
              </a:buClr>
              <a:buSzPts val="3600"/>
              <a:buNone/>
              <a:defRPr sz="3600">
                <a:solidFill>
                  <a:schemeClr val="lt1"/>
                </a:solidFill>
              </a:defRPr>
            </a:lvl2pPr>
            <a:lvl3pPr lvl="2" algn="ctr">
              <a:spcBef>
                <a:spcPts val="0"/>
              </a:spcBef>
              <a:spcAft>
                <a:spcPts val="0"/>
              </a:spcAft>
              <a:buClr>
                <a:schemeClr val="lt1"/>
              </a:buClr>
              <a:buSzPts val="3600"/>
              <a:buNone/>
              <a:defRPr sz="3600">
                <a:solidFill>
                  <a:schemeClr val="lt1"/>
                </a:solidFill>
              </a:defRPr>
            </a:lvl3pPr>
            <a:lvl4pPr lvl="3" algn="ctr">
              <a:spcBef>
                <a:spcPts val="0"/>
              </a:spcBef>
              <a:spcAft>
                <a:spcPts val="0"/>
              </a:spcAft>
              <a:buClr>
                <a:schemeClr val="lt1"/>
              </a:buClr>
              <a:buSzPts val="3600"/>
              <a:buNone/>
              <a:defRPr sz="3600">
                <a:solidFill>
                  <a:schemeClr val="lt1"/>
                </a:solidFill>
              </a:defRPr>
            </a:lvl4pPr>
            <a:lvl5pPr lvl="4" algn="ctr">
              <a:spcBef>
                <a:spcPts val="0"/>
              </a:spcBef>
              <a:spcAft>
                <a:spcPts val="0"/>
              </a:spcAft>
              <a:buClr>
                <a:schemeClr val="lt1"/>
              </a:buClr>
              <a:buSzPts val="3600"/>
              <a:buNone/>
              <a:defRPr sz="3600">
                <a:solidFill>
                  <a:schemeClr val="lt1"/>
                </a:solidFill>
              </a:defRPr>
            </a:lvl5pPr>
            <a:lvl6pPr lvl="5" algn="ctr">
              <a:spcBef>
                <a:spcPts val="0"/>
              </a:spcBef>
              <a:spcAft>
                <a:spcPts val="0"/>
              </a:spcAft>
              <a:buClr>
                <a:schemeClr val="lt1"/>
              </a:buClr>
              <a:buSzPts val="3600"/>
              <a:buNone/>
              <a:defRPr sz="3600">
                <a:solidFill>
                  <a:schemeClr val="lt1"/>
                </a:solidFill>
              </a:defRPr>
            </a:lvl6pPr>
            <a:lvl7pPr lvl="6" algn="ctr">
              <a:spcBef>
                <a:spcPts val="0"/>
              </a:spcBef>
              <a:spcAft>
                <a:spcPts val="0"/>
              </a:spcAft>
              <a:buClr>
                <a:schemeClr val="lt1"/>
              </a:buClr>
              <a:buSzPts val="3600"/>
              <a:buNone/>
              <a:defRPr sz="3600">
                <a:solidFill>
                  <a:schemeClr val="lt1"/>
                </a:solidFill>
              </a:defRPr>
            </a:lvl7pPr>
            <a:lvl8pPr lvl="7" algn="ctr">
              <a:spcBef>
                <a:spcPts val="0"/>
              </a:spcBef>
              <a:spcAft>
                <a:spcPts val="0"/>
              </a:spcAft>
              <a:buClr>
                <a:schemeClr val="lt1"/>
              </a:buClr>
              <a:buSzPts val="3600"/>
              <a:buNone/>
              <a:defRPr sz="3600">
                <a:solidFill>
                  <a:schemeClr val="lt1"/>
                </a:solidFill>
              </a:defRPr>
            </a:lvl8pPr>
            <a:lvl9pPr lvl="8" algn="ctr">
              <a:spcBef>
                <a:spcPts val="0"/>
              </a:spcBef>
              <a:spcAft>
                <a:spcPts val="0"/>
              </a:spcAft>
              <a:buClr>
                <a:schemeClr val="lt1"/>
              </a:buClr>
              <a:buSzPts val="3600"/>
              <a:buNone/>
              <a:defRPr sz="3600">
                <a:solidFill>
                  <a:schemeClr val="lt1"/>
                </a:solidFill>
              </a:defRPr>
            </a:lvl9pPr>
          </a:lstStyle>
          <a:p/>
        </p:txBody>
      </p:sp>
      <p:sp>
        <p:nvSpPr>
          <p:cNvPr id="22" name="Google Shape;22;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rint 3 Header">
  <p:cSld name="SECTION_HEADER_1_1">
    <p:spTree>
      <p:nvGrpSpPr>
        <p:cNvPr id="23" name="Shape 23"/>
        <p:cNvGrpSpPr/>
        <p:nvPr/>
      </p:nvGrpSpPr>
      <p:grpSpPr>
        <a:xfrm>
          <a:off x="0" y="0"/>
          <a:ext cx="0" cy="0"/>
          <a:chOff x="0" y="0"/>
          <a:chExt cx="0" cy="0"/>
        </a:xfrm>
      </p:grpSpPr>
      <p:sp>
        <p:nvSpPr>
          <p:cNvPr id="24" name="Google Shape;24;p5"/>
          <p:cNvSpPr/>
          <p:nvPr/>
        </p:nvSpPr>
        <p:spPr>
          <a:xfrm>
            <a:off x="0" y="1567350"/>
            <a:ext cx="9144000" cy="20088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5"/>
          <p:cNvSpPr txBox="1"/>
          <p:nvPr>
            <p:ph type="title"/>
          </p:nvPr>
        </p:nvSpPr>
        <p:spPr>
          <a:xfrm>
            <a:off x="430800" y="1889700"/>
            <a:ext cx="8282400" cy="15165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3600"/>
              <a:buNone/>
              <a:defRPr sz="3600">
                <a:solidFill>
                  <a:schemeClr val="lt1"/>
                </a:solidFill>
              </a:defRPr>
            </a:lvl1pPr>
            <a:lvl2pPr lvl="1" algn="ctr">
              <a:spcBef>
                <a:spcPts val="0"/>
              </a:spcBef>
              <a:spcAft>
                <a:spcPts val="0"/>
              </a:spcAft>
              <a:buClr>
                <a:schemeClr val="lt1"/>
              </a:buClr>
              <a:buSzPts val="3600"/>
              <a:buNone/>
              <a:defRPr sz="3600">
                <a:solidFill>
                  <a:schemeClr val="lt1"/>
                </a:solidFill>
              </a:defRPr>
            </a:lvl2pPr>
            <a:lvl3pPr lvl="2" algn="ctr">
              <a:spcBef>
                <a:spcPts val="0"/>
              </a:spcBef>
              <a:spcAft>
                <a:spcPts val="0"/>
              </a:spcAft>
              <a:buClr>
                <a:schemeClr val="lt1"/>
              </a:buClr>
              <a:buSzPts val="3600"/>
              <a:buNone/>
              <a:defRPr sz="3600">
                <a:solidFill>
                  <a:schemeClr val="lt1"/>
                </a:solidFill>
              </a:defRPr>
            </a:lvl3pPr>
            <a:lvl4pPr lvl="3" algn="ctr">
              <a:spcBef>
                <a:spcPts val="0"/>
              </a:spcBef>
              <a:spcAft>
                <a:spcPts val="0"/>
              </a:spcAft>
              <a:buClr>
                <a:schemeClr val="lt1"/>
              </a:buClr>
              <a:buSzPts val="3600"/>
              <a:buNone/>
              <a:defRPr sz="3600">
                <a:solidFill>
                  <a:schemeClr val="lt1"/>
                </a:solidFill>
              </a:defRPr>
            </a:lvl4pPr>
            <a:lvl5pPr lvl="4" algn="ctr">
              <a:spcBef>
                <a:spcPts val="0"/>
              </a:spcBef>
              <a:spcAft>
                <a:spcPts val="0"/>
              </a:spcAft>
              <a:buClr>
                <a:schemeClr val="lt1"/>
              </a:buClr>
              <a:buSzPts val="3600"/>
              <a:buNone/>
              <a:defRPr sz="3600">
                <a:solidFill>
                  <a:schemeClr val="lt1"/>
                </a:solidFill>
              </a:defRPr>
            </a:lvl5pPr>
            <a:lvl6pPr lvl="5" algn="ctr">
              <a:spcBef>
                <a:spcPts val="0"/>
              </a:spcBef>
              <a:spcAft>
                <a:spcPts val="0"/>
              </a:spcAft>
              <a:buClr>
                <a:schemeClr val="lt1"/>
              </a:buClr>
              <a:buSzPts val="3600"/>
              <a:buNone/>
              <a:defRPr sz="3600">
                <a:solidFill>
                  <a:schemeClr val="lt1"/>
                </a:solidFill>
              </a:defRPr>
            </a:lvl6pPr>
            <a:lvl7pPr lvl="6" algn="ctr">
              <a:spcBef>
                <a:spcPts val="0"/>
              </a:spcBef>
              <a:spcAft>
                <a:spcPts val="0"/>
              </a:spcAft>
              <a:buClr>
                <a:schemeClr val="lt1"/>
              </a:buClr>
              <a:buSzPts val="3600"/>
              <a:buNone/>
              <a:defRPr sz="3600">
                <a:solidFill>
                  <a:schemeClr val="lt1"/>
                </a:solidFill>
              </a:defRPr>
            </a:lvl7pPr>
            <a:lvl8pPr lvl="7" algn="ctr">
              <a:spcBef>
                <a:spcPts val="0"/>
              </a:spcBef>
              <a:spcAft>
                <a:spcPts val="0"/>
              </a:spcAft>
              <a:buClr>
                <a:schemeClr val="lt1"/>
              </a:buClr>
              <a:buSzPts val="3600"/>
              <a:buNone/>
              <a:defRPr sz="3600">
                <a:solidFill>
                  <a:schemeClr val="lt1"/>
                </a:solidFill>
              </a:defRPr>
            </a:lvl8pPr>
            <a:lvl9pPr lvl="8" algn="ctr">
              <a:spcBef>
                <a:spcPts val="0"/>
              </a:spcBef>
              <a:spcAft>
                <a:spcPts val="0"/>
              </a:spcAft>
              <a:buClr>
                <a:schemeClr val="lt1"/>
              </a:buClr>
              <a:buSzPts val="3600"/>
              <a:buNone/>
              <a:defRPr sz="3600">
                <a:solidFill>
                  <a:schemeClr val="lt1"/>
                </a:solidFill>
              </a:defRPr>
            </a:lvl9pPr>
          </a:lstStyle>
          <a:p/>
        </p:txBody>
      </p:sp>
      <p:sp>
        <p:nvSpPr>
          <p:cNvPr id="26" name="Google Shape;26;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rint 4 Header">
  <p:cSld name="SECTION_HEADER_1_1_1">
    <p:spTree>
      <p:nvGrpSpPr>
        <p:cNvPr id="27" name="Shape 27"/>
        <p:cNvGrpSpPr/>
        <p:nvPr/>
      </p:nvGrpSpPr>
      <p:grpSpPr>
        <a:xfrm>
          <a:off x="0" y="0"/>
          <a:ext cx="0" cy="0"/>
          <a:chOff x="0" y="0"/>
          <a:chExt cx="0" cy="0"/>
        </a:xfrm>
      </p:grpSpPr>
      <p:sp>
        <p:nvSpPr>
          <p:cNvPr id="28" name="Google Shape;28;p6"/>
          <p:cNvSpPr/>
          <p:nvPr/>
        </p:nvSpPr>
        <p:spPr>
          <a:xfrm>
            <a:off x="0" y="1567350"/>
            <a:ext cx="9144000" cy="20088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6"/>
          <p:cNvSpPr txBox="1"/>
          <p:nvPr>
            <p:ph type="title"/>
          </p:nvPr>
        </p:nvSpPr>
        <p:spPr>
          <a:xfrm>
            <a:off x="430800" y="1889700"/>
            <a:ext cx="8282400" cy="15165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3600"/>
              <a:buNone/>
              <a:defRPr sz="3600">
                <a:solidFill>
                  <a:schemeClr val="lt1"/>
                </a:solidFill>
              </a:defRPr>
            </a:lvl1pPr>
            <a:lvl2pPr lvl="1" algn="ctr">
              <a:spcBef>
                <a:spcPts val="0"/>
              </a:spcBef>
              <a:spcAft>
                <a:spcPts val="0"/>
              </a:spcAft>
              <a:buClr>
                <a:schemeClr val="lt1"/>
              </a:buClr>
              <a:buSzPts val="3600"/>
              <a:buNone/>
              <a:defRPr sz="3600">
                <a:solidFill>
                  <a:schemeClr val="lt1"/>
                </a:solidFill>
              </a:defRPr>
            </a:lvl2pPr>
            <a:lvl3pPr lvl="2" algn="ctr">
              <a:spcBef>
                <a:spcPts val="0"/>
              </a:spcBef>
              <a:spcAft>
                <a:spcPts val="0"/>
              </a:spcAft>
              <a:buClr>
                <a:schemeClr val="lt1"/>
              </a:buClr>
              <a:buSzPts val="3600"/>
              <a:buNone/>
              <a:defRPr sz="3600">
                <a:solidFill>
                  <a:schemeClr val="lt1"/>
                </a:solidFill>
              </a:defRPr>
            </a:lvl3pPr>
            <a:lvl4pPr lvl="3" algn="ctr">
              <a:spcBef>
                <a:spcPts val="0"/>
              </a:spcBef>
              <a:spcAft>
                <a:spcPts val="0"/>
              </a:spcAft>
              <a:buClr>
                <a:schemeClr val="lt1"/>
              </a:buClr>
              <a:buSzPts val="3600"/>
              <a:buNone/>
              <a:defRPr sz="3600">
                <a:solidFill>
                  <a:schemeClr val="lt1"/>
                </a:solidFill>
              </a:defRPr>
            </a:lvl4pPr>
            <a:lvl5pPr lvl="4" algn="ctr">
              <a:spcBef>
                <a:spcPts val="0"/>
              </a:spcBef>
              <a:spcAft>
                <a:spcPts val="0"/>
              </a:spcAft>
              <a:buClr>
                <a:schemeClr val="lt1"/>
              </a:buClr>
              <a:buSzPts val="3600"/>
              <a:buNone/>
              <a:defRPr sz="3600">
                <a:solidFill>
                  <a:schemeClr val="lt1"/>
                </a:solidFill>
              </a:defRPr>
            </a:lvl5pPr>
            <a:lvl6pPr lvl="5" algn="ctr">
              <a:spcBef>
                <a:spcPts val="0"/>
              </a:spcBef>
              <a:spcAft>
                <a:spcPts val="0"/>
              </a:spcAft>
              <a:buClr>
                <a:schemeClr val="lt1"/>
              </a:buClr>
              <a:buSzPts val="3600"/>
              <a:buNone/>
              <a:defRPr sz="3600">
                <a:solidFill>
                  <a:schemeClr val="lt1"/>
                </a:solidFill>
              </a:defRPr>
            </a:lvl6pPr>
            <a:lvl7pPr lvl="6" algn="ctr">
              <a:spcBef>
                <a:spcPts val="0"/>
              </a:spcBef>
              <a:spcAft>
                <a:spcPts val="0"/>
              </a:spcAft>
              <a:buClr>
                <a:schemeClr val="lt1"/>
              </a:buClr>
              <a:buSzPts val="3600"/>
              <a:buNone/>
              <a:defRPr sz="3600">
                <a:solidFill>
                  <a:schemeClr val="lt1"/>
                </a:solidFill>
              </a:defRPr>
            </a:lvl7pPr>
            <a:lvl8pPr lvl="7" algn="ctr">
              <a:spcBef>
                <a:spcPts val="0"/>
              </a:spcBef>
              <a:spcAft>
                <a:spcPts val="0"/>
              </a:spcAft>
              <a:buClr>
                <a:schemeClr val="lt1"/>
              </a:buClr>
              <a:buSzPts val="3600"/>
              <a:buNone/>
              <a:defRPr sz="3600">
                <a:solidFill>
                  <a:schemeClr val="lt1"/>
                </a:solidFill>
              </a:defRPr>
            </a:lvl8pPr>
            <a:lvl9pPr lvl="8" algn="ctr">
              <a:spcBef>
                <a:spcPts val="0"/>
              </a:spcBef>
              <a:spcAft>
                <a:spcPts val="0"/>
              </a:spcAft>
              <a:buClr>
                <a:schemeClr val="lt1"/>
              </a:buClr>
              <a:buSzPts val="3600"/>
              <a:buNone/>
              <a:defRPr sz="3600">
                <a:solidFill>
                  <a:schemeClr val="lt1"/>
                </a:solidFill>
              </a:defRPr>
            </a:lvl9pPr>
          </a:lstStyle>
          <a:p/>
        </p:txBody>
      </p:sp>
      <p:sp>
        <p:nvSpPr>
          <p:cNvPr id="30" name="Google Shape;30;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rint 1 Task" type="tx">
  <p:cSld name="TITLE_AND_BODY">
    <p:spTree>
      <p:nvGrpSpPr>
        <p:cNvPr id="31" name="Shape 31"/>
        <p:cNvGrpSpPr/>
        <p:nvPr/>
      </p:nvGrpSpPr>
      <p:grpSpPr>
        <a:xfrm>
          <a:off x="0" y="0"/>
          <a:ext cx="0" cy="0"/>
          <a:chOff x="0" y="0"/>
          <a:chExt cx="0" cy="0"/>
        </a:xfrm>
      </p:grpSpPr>
      <p:cxnSp>
        <p:nvCxnSpPr>
          <p:cNvPr id="32" name="Google Shape;32;p7"/>
          <p:cNvCxnSpPr/>
          <p:nvPr/>
        </p:nvCxnSpPr>
        <p:spPr>
          <a:xfrm>
            <a:off x="429200" y="1275577"/>
            <a:ext cx="614100" cy="0"/>
          </a:xfrm>
          <a:prstGeom prst="straightConnector1">
            <a:avLst/>
          </a:prstGeom>
          <a:noFill/>
          <a:ln cap="flat" cmpd="sng" w="19050">
            <a:solidFill>
              <a:schemeClr val="dk2"/>
            </a:solidFill>
            <a:prstDash val="lgDash"/>
            <a:round/>
            <a:headEnd len="sm" w="sm" type="none"/>
            <a:tailEnd len="sm" w="sm" type="none"/>
          </a:ln>
        </p:spPr>
      </p:cxnSp>
      <p:sp>
        <p:nvSpPr>
          <p:cNvPr id="33" name="Google Shape;33;p7"/>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4" name="Google Shape;34;p7"/>
          <p:cNvSpPr txBox="1"/>
          <p:nvPr>
            <p:ph idx="1" type="body"/>
          </p:nvPr>
        </p:nvSpPr>
        <p:spPr>
          <a:xfrm>
            <a:off x="311700" y="1468825"/>
            <a:ext cx="8520600" cy="30999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35" name="Google Shape;35;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
        <p:nvSpPr>
          <p:cNvPr id="36" name="Google Shape;36;p7"/>
          <p:cNvSpPr txBox="1"/>
          <p:nvPr/>
        </p:nvSpPr>
        <p:spPr>
          <a:xfrm>
            <a:off x="0" y="4677225"/>
            <a:ext cx="9144000" cy="466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GB" sz="2100">
                <a:solidFill>
                  <a:schemeClr val="lt1"/>
                </a:solidFill>
                <a:latin typeface="Oswald"/>
                <a:ea typeface="Oswald"/>
                <a:cs typeface="Oswald"/>
                <a:sym typeface="Oswald"/>
              </a:rPr>
              <a:t>Sprint 1, Task </a:t>
            </a:r>
            <a:endParaRPr>
              <a:solidFill>
                <a:schemeClr val="lt1"/>
              </a:solidFill>
            </a:endParaRPr>
          </a:p>
        </p:txBody>
      </p:sp>
      <p:grpSp>
        <p:nvGrpSpPr>
          <p:cNvPr id="37" name="Google Shape;37;p7"/>
          <p:cNvGrpSpPr/>
          <p:nvPr/>
        </p:nvGrpSpPr>
        <p:grpSpPr>
          <a:xfrm>
            <a:off x="8841325" y="-15725"/>
            <a:ext cx="8048525" cy="4667100"/>
            <a:chOff x="8841325" y="-15725"/>
            <a:chExt cx="8048525" cy="4667100"/>
          </a:xfrm>
        </p:grpSpPr>
        <p:sp>
          <p:nvSpPr>
            <p:cNvPr id="38" name="Google Shape;38;p7"/>
            <p:cNvSpPr txBox="1"/>
            <p:nvPr/>
          </p:nvSpPr>
          <p:spPr>
            <a:xfrm>
              <a:off x="9201150" y="767875"/>
              <a:ext cx="7688700" cy="309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1000"/>
                </a:spcAft>
                <a:buNone/>
              </a:pPr>
              <a:r>
                <a:t/>
              </a:r>
              <a:endParaRPr b="1"/>
            </a:p>
          </p:txBody>
        </p:sp>
        <p:sp>
          <p:nvSpPr>
            <p:cNvPr id="39" name="Google Shape;39;p7"/>
            <p:cNvSpPr txBox="1"/>
            <p:nvPr/>
          </p:nvSpPr>
          <p:spPr>
            <a:xfrm rot="-5400000">
              <a:off x="6674425" y="2151175"/>
              <a:ext cx="4667100" cy="333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solidFill>
                    <a:schemeClr val="dk2"/>
                  </a:solidFill>
                  <a:latin typeface="Source Code Pro"/>
                  <a:ea typeface="Source Code Pro"/>
                  <a:cs typeface="Source Code Pro"/>
                  <a:sym typeface="Source Code Pro"/>
                </a:rPr>
                <a:t>Pan right for Instructions</a:t>
              </a:r>
              <a:endParaRPr sz="1800">
                <a:solidFill>
                  <a:schemeClr val="dk2"/>
                </a:solidFill>
                <a:latin typeface="Source Code Pro"/>
                <a:ea typeface="Source Code Pro"/>
                <a:cs typeface="Source Code Pro"/>
                <a:sym typeface="Source Code Pro"/>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rint 1 Review">
  <p:cSld name="TITLE_AND_BODY_2">
    <p:spTree>
      <p:nvGrpSpPr>
        <p:cNvPr id="40" name="Shape 40"/>
        <p:cNvGrpSpPr/>
        <p:nvPr/>
      </p:nvGrpSpPr>
      <p:grpSpPr>
        <a:xfrm>
          <a:off x="0" y="0"/>
          <a:ext cx="0" cy="0"/>
          <a:chOff x="0" y="0"/>
          <a:chExt cx="0" cy="0"/>
        </a:xfrm>
      </p:grpSpPr>
      <p:cxnSp>
        <p:nvCxnSpPr>
          <p:cNvPr id="41" name="Google Shape;41;p8"/>
          <p:cNvCxnSpPr/>
          <p:nvPr/>
        </p:nvCxnSpPr>
        <p:spPr>
          <a:xfrm>
            <a:off x="429200" y="1275577"/>
            <a:ext cx="614100" cy="0"/>
          </a:xfrm>
          <a:prstGeom prst="straightConnector1">
            <a:avLst/>
          </a:prstGeom>
          <a:noFill/>
          <a:ln cap="flat" cmpd="sng" w="19050">
            <a:solidFill>
              <a:schemeClr val="dk2"/>
            </a:solidFill>
            <a:prstDash val="lgDash"/>
            <a:round/>
            <a:headEnd len="sm" w="sm" type="none"/>
            <a:tailEnd len="sm" w="sm" type="none"/>
          </a:ln>
        </p:spPr>
      </p:cxnSp>
      <p:sp>
        <p:nvSpPr>
          <p:cNvPr id="42" name="Google Shape;42;p8"/>
          <p:cNvSpPr txBox="1"/>
          <p:nvPr>
            <p:ph type="title"/>
          </p:nvPr>
        </p:nvSpPr>
        <p:spPr>
          <a:xfrm>
            <a:off x="311700" y="372500"/>
            <a:ext cx="8520600" cy="733500"/>
          </a:xfrm>
          <a:prstGeom prst="rect">
            <a:avLst/>
          </a:prstGeom>
          <a:solidFill>
            <a:schemeClr val="dk1"/>
          </a:solidFill>
        </p:spPr>
        <p:txBody>
          <a:bodyPr anchorCtr="0" anchor="b" bIns="91425" lIns="91425" spcFirstLastPara="1" rIns="91425" wrap="square" tIns="91425">
            <a:normAutofit/>
          </a:bodyPr>
          <a:lstStyle>
            <a:lvl1pPr lvl="0">
              <a:spcBef>
                <a:spcPts val="0"/>
              </a:spcBef>
              <a:spcAft>
                <a:spcPts val="0"/>
              </a:spcAft>
              <a:buClr>
                <a:schemeClr val="lt1"/>
              </a:buClr>
              <a:buSzPts val="3000"/>
              <a:buNone/>
              <a:defRPr>
                <a:solidFill>
                  <a:schemeClr val="lt1"/>
                </a:solidFill>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3" name="Google Shape;43;p8"/>
          <p:cNvSpPr txBox="1"/>
          <p:nvPr>
            <p:ph idx="1" type="body"/>
          </p:nvPr>
        </p:nvSpPr>
        <p:spPr>
          <a:xfrm>
            <a:off x="311700" y="1468825"/>
            <a:ext cx="8520600" cy="30999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4" name="Google Shape;4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
        <p:nvSpPr>
          <p:cNvPr id="45" name="Google Shape;45;p8"/>
          <p:cNvSpPr txBox="1"/>
          <p:nvPr/>
        </p:nvSpPr>
        <p:spPr>
          <a:xfrm>
            <a:off x="0" y="4677225"/>
            <a:ext cx="9144000" cy="466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GB" sz="2100">
                <a:solidFill>
                  <a:schemeClr val="lt1"/>
                </a:solidFill>
                <a:latin typeface="Oswald"/>
                <a:ea typeface="Oswald"/>
                <a:cs typeface="Oswald"/>
                <a:sym typeface="Oswald"/>
              </a:rPr>
              <a:t>Sprint 1 - Review</a:t>
            </a:r>
            <a:endParaRPr>
              <a:solidFill>
                <a:schemeClr val="lt1"/>
              </a:solidFill>
            </a:endParaRPr>
          </a:p>
        </p:txBody>
      </p:sp>
      <p:sp>
        <p:nvSpPr>
          <p:cNvPr id="46" name="Google Shape;46;p8"/>
          <p:cNvSpPr txBox="1"/>
          <p:nvPr/>
        </p:nvSpPr>
        <p:spPr>
          <a:xfrm>
            <a:off x="3285000" y="4112100"/>
            <a:ext cx="5859000" cy="354000"/>
          </a:xfrm>
          <a:prstGeom prst="rect">
            <a:avLst/>
          </a:prstGeom>
          <a:noFill/>
          <a:ln>
            <a:noFill/>
          </a:ln>
        </p:spPr>
        <p:txBody>
          <a:bodyPr anchorCtr="0" anchor="t" bIns="91425" lIns="91425" spcFirstLastPara="1" rIns="91425" wrap="square" tIns="91425">
            <a:spAutoFit/>
          </a:bodyPr>
          <a:lstStyle/>
          <a:p>
            <a:pPr indent="-298450" lvl="0" marL="457200" rtl="0" algn="l">
              <a:spcBef>
                <a:spcPts val="0"/>
              </a:spcBef>
              <a:spcAft>
                <a:spcPts val="0"/>
              </a:spcAft>
              <a:buSzPts val="1100"/>
              <a:buChar char="●"/>
            </a:pPr>
            <a:r>
              <a:t/>
            </a:r>
            <a:endParaRPr sz="1100"/>
          </a:p>
        </p:txBody>
      </p:sp>
      <p:sp>
        <p:nvSpPr>
          <p:cNvPr id="47" name="Google Shape;47;p8"/>
          <p:cNvSpPr txBox="1"/>
          <p:nvPr/>
        </p:nvSpPr>
        <p:spPr>
          <a:xfrm>
            <a:off x="6587500" y="1021800"/>
            <a:ext cx="7688700" cy="3099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1000"/>
              </a:spcAft>
              <a:buNone/>
            </a:pPr>
            <a:r>
              <a:t/>
            </a:r>
            <a:endParaRPr sz="2100">
              <a:solidFill>
                <a:srgbClr val="616161"/>
              </a:solidFill>
              <a:latin typeface="Proxima Nova"/>
              <a:ea typeface="Proxima Nova"/>
              <a:cs typeface="Proxima Nova"/>
              <a:sym typeface="Proxima Nova"/>
            </a:endParaRPr>
          </a:p>
        </p:txBody>
      </p:sp>
      <p:sp>
        <p:nvSpPr>
          <p:cNvPr id="48" name="Google Shape;48;p8"/>
          <p:cNvSpPr txBox="1"/>
          <p:nvPr/>
        </p:nvSpPr>
        <p:spPr>
          <a:xfrm rot="-5400000">
            <a:off x="6674425" y="2151175"/>
            <a:ext cx="4667100" cy="333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solidFill>
                  <a:schemeClr val="dk2"/>
                </a:solidFill>
                <a:latin typeface="Source Code Pro"/>
                <a:ea typeface="Source Code Pro"/>
                <a:cs typeface="Source Code Pro"/>
                <a:sym typeface="Source Code Pro"/>
              </a:rPr>
              <a:t>Pan right for Instructions</a:t>
            </a:r>
            <a:endParaRPr sz="1800">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rint 2 Task">
  <p:cSld name="TITLE_AND_BODY_1">
    <p:spTree>
      <p:nvGrpSpPr>
        <p:cNvPr id="49" name="Shape 49"/>
        <p:cNvGrpSpPr/>
        <p:nvPr/>
      </p:nvGrpSpPr>
      <p:grpSpPr>
        <a:xfrm>
          <a:off x="0" y="0"/>
          <a:ext cx="0" cy="0"/>
          <a:chOff x="0" y="0"/>
          <a:chExt cx="0" cy="0"/>
        </a:xfrm>
      </p:grpSpPr>
      <p:cxnSp>
        <p:nvCxnSpPr>
          <p:cNvPr id="50" name="Google Shape;50;p9"/>
          <p:cNvCxnSpPr/>
          <p:nvPr/>
        </p:nvCxnSpPr>
        <p:spPr>
          <a:xfrm>
            <a:off x="429200" y="1275577"/>
            <a:ext cx="614100" cy="0"/>
          </a:xfrm>
          <a:prstGeom prst="straightConnector1">
            <a:avLst/>
          </a:prstGeom>
          <a:noFill/>
          <a:ln cap="flat" cmpd="sng" w="19050">
            <a:solidFill>
              <a:schemeClr val="dk2"/>
            </a:solidFill>
            <a:prstDash val="lgDash"/>
            <a:round/>
            <a:headEnd len="sm" w="sm" type="none"/>
            <a:tailEnd len="sm" w="sm" type="none"/>
          </a:ln>
        </p:spPr>
      </p:cxnSp>
      <p:sp>
        <p:nvSpPr>
          <p:cNvPr id="51" name="Google Shape;51;p9"/>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52" name="Google Shape;52;p9"/>
          <p:cNvSpPr txBox="1"/>
          <p:nvPr>
            <p:ph idx="1" type="body"/>
          </p:nvPr>
        </p:nvSpPr>
        <p:spPr>
          <a:xfrm>
            <a:off x="311700" y="1468825"/>
            <a:ext cx="8520600" cy="30999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53" name="Google Shape;53;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
        <p:nvSpPr>
          <p:cNvPr id="54" name="Google Shape;54;p9"/>
          <p:cNvSpPr txBox="1"/>
          <p:nvPr/>
        </p:nvSpPr>
        <p:spPr>
          <a:xfrm>
            <a:off x="0" y="4677225"/>
            <a:ext cx="9144000" cy="466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GB" sz="2100">
                <a:solidFill>
                  <a:schemeClr val="lt1"/>
                </a:solidFill>
                <a:latin typeface="Oswald"/>
                <a:ea typeface="Oswald"/>
                <a:cs typeface="Oswald"/>
                <a:sym typeface="Oswald"/>
              </a:rPr>
              <a:t>Sprint 2, Task #</a:t>
            </a:r>
            <a:endParaRPr>
              <a:solidFill>
                <a:schemeClr val="lt1"/>
              </a:solidFill>
            </a:endParaRPr>
          </a:p>
        </p:txBody>
      </p:sp>
      <p:grpSp>
        <p:nvGrpSpPr>
          <p:cNvPr id="55" name="Google Shape;55;p9"/>
          <p:cNvGrpSpPr/>
          <p:nvPr/>
        </p:nvGrpSpPr>
        <p:grpSpPr>
          <a:xfrm>
            <a:off x="8841325" y="-15725"/>
            <a:ext cx="8048525" cy="4667100"/>
            <a:chOff x="8841325" y="-15725"/>
            <a:chExt cx="8048525" cy="4667100"/>
          </a:xfrm>
        </p:grpSpPr>
        <p:sp>
          <p:nvSpPr>
            <p:cNvPr id="56" name="Google Shape;56;p9"/>
            <p:cNvSpPr txBox="1"/>
            <p:nvPr/>
          </p:nvSpPr>
          <p:spPr>
            <a:xfrm>
              <a:off x="9201150" y="767875"/>
              <a:ext cx="7688700" cy="3099900"/>
            </a:xfrm>
            <a:prstGeom prst="rect">
              <a:avLst/>
            </a:prstGeom>
            <a:noFill/>
            <a:ln>
              <a:noFill/>
            </a:ln>
          </p:spPr>
          <p:txBody>
            <a:bodyPr anchorCtr="0" anchor="t" bIns="91425" lIns="91425" spcFirstLastPara="1" rIns="91425" wrap="square" tIns="91425">
              <a:noAutofit/>
            </a:bodyPr>
            <a:lstStyle/>
            <a:p>
              <a:pPr indent="0" lvl="0" marL="457200" rtl="0" algn="l">
                <a:spcBef>
                  <a:spcPts val="0"/>
                </a:spcBef>
                <a:spcAft>
                  <a:spcPts val="1000"/>
                </a:spcAft>
                <a:buNone/>
              </a:pPr>
              <a:r>
                <a:t/>
              </a:r>
              <a:endParaRPr b="1"/>
            </a:p>
          </p:txBody>
        </p:sp>
        <p:sp>
          <p:nvSpPr>
            <p:cNvPr id="57" name="Google Shape;57;p9"/>
            <p:cNvSpPr txBox="1"/>
            <p:nvPr/>
          </p:nvSpPr>
          <p:spPr>
            <a:xfrm rot="-5400000">
              <a:off x="6674425" y="2151175"/>
              <a:ext cx="4667100" cy="333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solidFill>
                    <a:schemeClr val="dk2"/>
                  </a:solidFill>
                  <a:latin typeface="Source Code Pro"/>
                  <a:ea typeface="Source Code Pro"/>
                  <a:cs typeface="Source Code Pro"/>
                  <a:sym typeface="Source Code Pro"/>
                </a:rPr>
                <a:t>Pan right for Instructions</a:t>
              </a:r>
              <a:endParaRPr sz="1800">
                <a:solidFill>
                  <a:schemeClr val="dk2"/>
                </a:solidFill>
                <a:latin typeface="Source Code Pro"/>
                <a:ea typeface="Source Code Pro"/>
                <a:cs typeface="Source Code Pro"/>
                <a:sym typeface="Source Code Pro"/>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rint 2 Review">
  <p:cSld name="TITLE_AND_BODY_1_2">
    <p:spTree>
      <p:nvGrpSpPr>
        <p:cNvPr id="58" name="Shape 58"/>
        <p:cNvGrpSpPr/>
        <p:nvPr/>
      </p:nvGrpSpPr>
      <p:grpSpPr>
        <a:xfrm>
          <a:off x="0" y="0"/>
          <a:ext cx="0" cy="0"/>
          <a:chOff x="0" y="0"/>
          <a:chExt cx="0" cy="0"/>
        </a:xfrm>
      </p:grpSpPr>
      <p:cxnSp>
        <p:nvCxnSpPr>
          <p:cNvPr id="59" name="Google Shape;59;p10"/>
          <p:cNvCxnSpPr/>
          <p:nvPr/>
        </p:nvCxnSpPr>
        <p:spPr>
          <a:xfrm>
            <a:off x="429200" y="1275577"/>
            <a:ext cx="614100" cy="0"/>
          </a:xfrm>
          <a:prstGeom prst="straightConnector1">
            <a:avLst/>
          </a:prstGeom>
          <a:noFill/>
          <a:ln cap="flat" cmpd="sng" w="19050">
            <a:solidFill>
              <a:schemeClr val="dk2"/>
            </a:solidFill>
            <a:prstDash val="lgDash"/>
            <a:round/>
            <a:headEnd len="sm" w="sm" type="none"/>
            <a:tailEnd len="sm" w="sm" type="none"/>
          </a:ln>
        </p:spPr>
      </p:cxnSp>
      <p:sp>
        <p:nvSpPr>
          <p:cNvPr id="60" name="Google Shape;60;p10"/>
          <p:cNvSpPr txBox="1"/>
          <p:nvPr>
            <p:ph type="title"/>
          </p:nvPr>
        </p:nvSpPr>
        <p:spPr>
          <a:xfrm>
            <a:off x="311700" y="372500"/>
            <a:ext cx="8520600" cy="733500"/>
          </a:xfrm>
          <a:prstGeom prst="rect">
            <a:avLst/>
          </a:prstGeom>
          <a:solidFill>
            <a:schemeClr val="accent2"/>
          </a:solidFill>
        </p:spPr>
        <p:txBody>
          <a:bodyPr anchorCtr="0" anchor="b" bIns="91425" lIns="91425" spcFirstLastPara="1" rIns="91425" wrap="square" tIns="91425">
            <a:normAutofit/>
          </a:bodyPr>
          <a:lstStyle>
            <a:lvl1pPr lvl="0">
              <a:spcBef>
                <a:spcPts val="0"/>
              </a:spcBef>
              <a:spcAft>
                <a:spcPts val="0"/>
              </a:spcAft>
              <a:buClr>
                <a:schemeClr val="lt1"/>
              </a:buClr>
              <a:buSzPts val="3000"/>
              <a:buNone/>
              <a:defRPr>
                <a:solidFill>
                  <a:schemeClr val="lt1"/>
                </a:solidFill>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61" name="Google Shape;61;p10"/>
          <p:cNvSpPr txBox="1"/>
          <p:nvPr>
            <p:ph idx="1" type="body"/>
          </p:nvPr>
        </p:nvSpPr>
        <p:spPr>
          <a:xfrm>
            <a:off x="311700" y="1468825"/>
            <a:ext cx="8520600" cy="30999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62" name="Google Shape;62;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
        <p:nvSpPr>
          <p:cNvPr id="63" name="Google Shape;63;p10"/>
          <p:cNvSpPr txBox="1"/>
          <p:nvPr/>
        </p:nvSpPr>
        <p:spPr>
          <a:xfrm>
            <a:off x="0" y="4677225"/>
            <a:ext cx="9144000" cy="466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GB" sz="2100">
                <a:solidFill>
                  <a:schemeClr val="lt1"/>
                </a:solidFill>
                <a:latin typeface="Oswald"/>
                <a:ea typeface="Oswald"/>
                <a:cs typeface="Oswald"/>
                <a:sym typeface="Oswald"/>
              </a:rPr>
              <a:t>Sprint 2 - Review</a:t>
            </a:r>
            <a:endParaRPr>
              <a:solidFill>
                <a:schemeClr val="lt1"/>
              </a:solidFill>
            </a:endParaRPr>
          </a:p>
        </p:txBody>
      </p:sp>
      <p:sp>
        <p:nvSpPr>
          <p:cNvPr id="64" name="Google Shape;64;p10"/>
          <p:cNvSpPr txBox="1"/>
          <p:nvPr/>
        </p:nvSpPr>
        <p:spPr>
          <a:xfrm>
            <a:off x="5644300" y="188450"/>
            <a:ext cx="7688700" cy="3099900"/>
          </a:xfrm>
          <a:prstGeom prst="rect">
            <a:avLst/>
          </a:prstGeom>
          <a:noFill/>
          <a:ln>
            <a:noFill/>
          </a:ln>
        </p:spPr>
        <p:txBody>
          <a:bodyPr anchorCtr="0" anchor="ctr" bIns="91425" lIns="91425" spcFirstLastPara="1" rIns="91425" wrap="square" tIns="91425">
            <a:noAutofit/>
          </a:bodyPr>
          <a:lstStyle/>
          <a:p>
            <a:pPr indent="0" lvl="0" marL="457200" rtl="0" algn="l">
              <a:spcBef>
                <a:spcPts val="0"/>
              </a:spcBef>
              <a:spcAft>
                <a:spcPts val="0"/>
              </a:spcAft>
              <a:buNone/>
            </a:pPr>
            <a:r>
              <a:t/>
            </a:r>
            <a:endParaRPr b="1" sz="1800"/>
          </a:p>
          <a:p>
            <a:pPr indent="0" lvl="0" marL="457200" rtl="0" algn="l">
              <a:spcBef>
                <a:spcPts val="1000"/>
              </a:spcBef>
              <a:spcAft>
                <a:spcPts val="0"/>
              </a:spcAft>
              <a:buNone/>
            </a:pPr>
            <a:r>
              <a:t/>
            </a:r>
            <a:endParaRPr b="1" sz="1800"/>
          </a:p>
          <a:p>
            <a:pPr indent="0" lvl="0" marL="457200" rtl="0" algn="l">
              <a:spcBef>
                <a:spcPts val="1000"/>
              </a:spcBef>
              <a:spcAft>
                <a:spcPts val="1000"/>
              </a:spcAft>
              <a:buNone/>
            </a:pPr>
            <a:r>
              <a:t/>
            </a:r>
            <a:endParaRPr b="1" sz="1800"/>
          </a:p>
        </p:txBody>
      </p:sp>
      <p:sp>
        <p:nvSpPr>
          <p:cNvPr id="65" name="Google Shape;65;p10"/>
          <p:cNvSpPr txBox="1"/>
          <p:nvPr/>
        </p:nvSpPr>
        <p:spPr>
          <a:xfrm rot="-5400000">
            <a:off x="6674425" y="2151175"/>
            <a:ext cx="4667100" cy="333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solidFill>
                  <a:schemeClr val="dk2"/>
                </a:solidFill>
                <a:latin typeface="Source Code Pro"/>
                <a:ea typeface="Source Code Pro"/>
                <a:cs typeface="Source Code Pro"/>
                <a:sym typeface="Source Code Pro"/>
              </a:rPr>
              <a:t>Pan right for Instructions</a:t>
            </a:r>
            <a:endParaRPr sz="1800">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rint 3 Task">
  <p:cSld name="TITLE_AND_BODY_1_1">
    <p:spTree>
      <p:nvGrpSpPr>
        <p:cNvPr id="66" name="Shape 66"/>
        <p:cNvGrpSpPr/>
        <p:nvPr/>
      </p:nvGrpSpPr>
      <p:grpSpPr>
        <a:xfrm>
          <a:off x="0" y="0"/>
          <a:ext cx="0" cy="0"/>
          <a:chOff x="0" y="0"/>
          <a:chExt cx="0" cy="0"/>
        </a:xfrm>
      </p:grpSpPr>
      <p:cxnSp>
        <p:nvCxnSpPr>
          <p:cNvPr id="67" name="Google Shape;67;p11"/>
          <p:cNvCxnSpPr/>
          <p:nvPr/>
        </p:nvCxnSpPr>
        <p:spPr>
          <a:xfrm>
            <a:off x="429200" y="1275577"/>
            <a:ext cx="614100" cy="0"/>
          </a:xfrm>
          <a:prstGeom prst="straightConnector1">
            <a:avLst/>
          </a:prstGeom>
          <a:noFill/>
          <a:ln cap="flat" cmpd="sng" w="19050">
            <a:solidFill>
              <a:schemeClr val="dk2"/>
            </a:solidFill>
            <a:prstDash val="lgDash"/>
            <a:round/>
            <a:headEnd len="sm" w="sm" type="none"/>
            <a:tailEnd len="sm" w="sm" type="none"/>
          </a:ln>
        </p:spPr>
      </p:cxnSp>
      <p:sp>
        <p:nvSpPr>
          <p:cNvPr id="68" name="Google Shape;68;p11"/>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69" name="Google Shape;69;p11"/>
          <p:cNvSpPr txBox="1"/>
          <p:nvPr>
            <p:ph idx="1" type="body"/>
          </p:nvPr>
        </p:nvSpPr>
        <p:spPr>
          <a:xfrm>
            <a:off x="311700" y="1468825"/>
            <a:ext cx="8520600" cy="30999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70" name="Google Shape;70;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
        <p:nvSpPr>
          <p:cNvPr id="71" name="Google Shape;71;p11"/>
          <p:cNvSpPr txBox="1"/>
          <p:nvPr/>
        </p:nvSpPr>
        <p:spPr>
          <a:xfrm>
            <a:off x="0" y="4677225"/>
            <a:ext cx="9144000" cy="4662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GB" sz="2100">
                <a:solidFill>
                  <a:schemeClr val="lt1"/>
                </a:solidFill>
                <a:latin typeface="Oswald"/>
                <a:ea typeface="Oswald"/>
                <a:cs typeface="Oswald"/>
                <a:sym typeface="Oswald"/>
              </a:rPr>
              <a:t>Sprint 3, Task #</a:t>
            </a:r>
            <a:endParaRPr>
              <a:solidFill>
                <a:schemeClr val="lt1"/>
              </a:solidFill>
            </a:endParaRPr>
          </a:p>
        </p:txBody>
      </p:sp>
      <p:grpSp>
        <p:nvGrpSpPr>
          <p:cNvPr id="72" name="Google Shape;72;p11"/>
          <p:cNvGrpSpPr/>
          <p:nvPr/>
        </p:nvGrpSpPr>
        <p:grpSpPr>
          <a:xfrm>
            <a:off x="8841325" y="-15725"/>
            <a:ext cx="8048525" cy="4667100"/>
            <a:chOff x="8841325" y="-15725"/>
            <a:chExt cx="8048525" cy="4667100"/>
          </a:xfrm>
        </p:grpSpPr>
        <p:sp>
          <p:nvSpPr>
            <p:cNvPr id="73" name="Google Shape;73;p11"/>
            <p:cNvSpPr txBox="1"/>
            <p:nvPr/>
          </p:nvSpPr>
          <p:spPr>
            <a:xfrm>
              <a:off x="9201150" y="767875"/>
              <a:ext cx="7688700" cy="3099900"/>
            </a:xfrm>
            <a:prstGeom prst="rect">
              <a:avLst/>
            </a:prstGeom>
            <a:noFill/>
            <a:ln>
              <a:noFill/>
            </a:ln>
          </p:spPr>
          <p:txBody>
            <a:bodyPr anchorCtr="0" anchor="t" bIns="91425" lIns="91425" spcFirstLastPara="1" rIns="91425" wrap="square" tIns="91425">
              <a:noAutofit/>
            </a:bodyPr>
            <a:lstStyle/>
            <a:p>
              <a:pPr indent="0" lvl="0" marL="457200" rtl="0" algn="l">
                <a:spcBef>
                  <a:spcPts val="0"/>
                </a:spcBef>
                <a:spcAft>
                  <a:spcPts val="1000"/>
                </a:spcAft>
                <a:buNone/>
              </a:pPr>
              <a:r>
                <a:t/>
              </a:r>
              <a:endParaRPr b="1"/>
            </a:p>
          </p:txBody>
        </p:sp>
        <p:sp>
          <p:nvSpPr>
            <p:cNvPr id="74" name="Google Shape;74;p11"/>
            <p:cNvSpPr txBox="1"/>
            <p:nvPr/>
          </p:nvSpPr>
          <p:spPr>
            <a:xfrm rot="-5400000">
              <a:off x="6674425" y="2151175"/>
              <a:ext cx="4667100" cy="333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solidFill>
                    <a:schemeClr val="dk2"/>
                  </a:solidFill>
                  <a:latin typeface="Source Code Pro"/>
                  <a:ea typeface="Source Code Pro"/>
                  <a:cs typeface="Source Code Pro"/>
                  <a:sym typeface="Source Code Pro"/>
                </a:rPr>
                <a:t>Pan right for Instructions</a:t>
              </a:r>
              <a:endParaRPr sz="1800">
                <a:solidFill>
                  <a:schemeClr val="dk2"/>
                </a:solidFill>
                <a:latin typeface="Source Code Pro"/>
                <a:ea typeface="Source Code Pro"/>
                <a:cs typeface="Source Code Pro"/>
                <a:sym typeface="Source Code Pro"/>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rint 3 Review">
  <p:cSld name="TITLE_AND_BODY_1_1_2">
    <p:spTree>
      <p:nvGrpSpPr>
        <p:cNvPr id="75" name="Shape 75"/>
        <p:cNvGrpSpPr/>
        <p:nvPr/>
      </p:nvGrpSpPr>
      <p:grpSpPr>
        <a:xfrm>
          <a:off x="0" y="0"/>
          <a:ext cx="0" cy="0"/>
          <a:chOff x="0" y="0"/>
          <a:chExt cx="0" cy="0"/>
        </a:xfrm>
      </p:grpSpPr>
      <p:cxnSp>
        <p:nvCxnSpPr>
          <p:cNvPr id="76" name="Google Shape;76;p12"/>
          <p:cNvCxnSpPr/>
          <p:nvPr/>
        </p:nvCxnSpPr>
        <p:spPr>
          <a:xfrm>
            <a:off x="429200" y="1275577"/>
            <a:ext cx="614100" cy="0"/>
          </a:xfrm>
          <a:prstGeom prst="straightConnector1">
            <a:avLst/>
          </a:prstGeom>
          <a:noFill/>
          <a:ln cap="flat" cmpd="sng" w="19050">
            <a:solidFill>
              <a:schemeClr val="dk2"/>
            </a:solidFill>
            <a:prstDash val="lgDash"/>
            <a:round/>
            <a:headEnd len="sm" w="sm" type="none"/>
            <a:tailEnd len="sm" w="sm" type="none"/>
          </a:ln>
        </p:spPr>
      </p:cxnSp>
      <p:sp>
        <p:nvSpPr>
          <p:cNvPr id="77" name="Google Shape;77;p12"/>
          <p:cNvSpPr txBox="1"/>
          <p:nvPr>
            <p:ph type="title"/>
          </p:nvPr>
        </p:nvSpPr>
        <p:spPr>
          <a:xfrm>
            <a:off x="38975" y="348825"/>
            <a:ext cx="8520600" cy="733500"/>
          </a:xfrm>
          <a:prstGeom prst="rect">
            <a:avLst/>
          </a:prstGeom>
          <a:solidFill>
            <a:schemeClr val="accent6"/>
          </a:solidFill>
        </p:spPr>
        <p:txBody>
          <a:bodyPr anchorCtr="0" anchor="b" bIns="91425" lIns="91425" spcFirstLastPara="1" rIns="91425" wrap="square" tIns="91425">
            <a:normAutofit/>
          </a:bodyPr>
          <a:lstStyle>
            <a:lvl1pPr lvl="0">
              <a:spcBef>
                <a:spcPts val="0"/>
              </a:spcBef>
              <a:spcAft>
                <a:spcPts val="0"/>
              </a:spcAft>
              <a:buClr>
                <a:schemeClr val="lt1"/>
              </a:buClr>
              <a:buSzPts val="3000"/>
              <a:buNone/>
              <a:defRPr>
                <a:solidFill>
                  <a:schemeClr val="lt1"/>
                </a:solidFill>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78" name="Google Shape;78;p12"/>
          <p:cNvSpPr txBox="1"/>
          <p:nvPr>
            <p:ph idx="1" type="body"/>
          </p:nvPr>
        </p:nvSpPr>
        <p:spPr>
          <a:xfrm>
            <a:off x="311700" y="1468825"/>
            <a:ext cx="8520600" cy="30999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79" name="Google Shape;7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
        <p:nvSpPr>
          <p:cNvPr id="80" name="Google Shape;80;p12"/>
          <p:cNvSpPr txBox="1"/>
          <p:nvPr/>
        </p:nvSpPr>
        <p:spPr>
          <a:xfrm>
            <a:off x="0" y="4677225"/>
            <a:ext cx="9144000" cy="4662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GB" sz="2100">
                <a:solidFill>
                  <a:schemeClr val="lt1"/>
                </a:solidFill>
                <a:latin typeface="Oswald"/>
                <a:ea typeface="Oswald"/>
                <a:cs typeface="Oswald"/>
                <a:sym typeface="Oswald"/>
              </a:rPr>
              <a:t>Sprint 3 - Review</a:t>
            </a:r>
            <a:endParaRPr>
              <a:solidFill>
                <a:schemeClr val="lt1"/>
              </a:solidFill>
            </a:endParaRPr>
          </a:p>
        </p:txBody>
      </p:sp>
      <p:sp>
        <p:nvSpPr>
          <p:cNvPr id="81" name="Google Shape;81;p12"/>
          <p:cNvSpPr txBox="1"/>
          <p:nvPr/>
        </p:nvSpPr>
        <p:spPr>
          <a:xfrm>
            <a:off x="3943525" y="968775"/>
            <a:ext cx="7688700" cy="3099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1000"/>
              </a:spcAft>
              <a:buNone/>
            </a:pPr>
            <a:r>
              <a:t/>
            </a:r>
            <a:endParaRPr b="1" sz="1800"/>
          </a:p>
        </p:txBody>
      </p:sp>
      <p:sp>
        <p:nvSpPr>
          <p:cNvPr id="82" name="Google Shape;82;p12"/>
          <p:cNvSpPr txBox="1"/>
          <p:nvPr/>
        </p:nvSpPr>
        <p:spPr>
          <a:xfrm rot="-5400000">
            <a:off x="6674425" y="2151175"/>
            <a:ext cx="4667100" cy="333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solidFill>
                  <a:schemeClr val="dk2"/>
                </a:solidFill>
                <a:latin typeface="Source Code Pro"/>
                <a:ea typeface="Source Code Pro"/>
                <a:cs typeface="Source Code Pro"/>
                <a:sym typeface="Source Code Pro"/>
              </a:rPr>
              <a:t>Pan right for Instructions</a:t>
            </a:r>
            <a:endParaRPr sz="1800">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rint 4 Task">
  <p:cSld name="TITLE_AND_BODY_1_1_1">
    <p:spTree>
      <p:nvGrpSpPr>
        <p:cNvPr id="83" name="Shape 83"/>
        <p:cNvGrpSpPr/>
        <p:nvPr/>
      </p:nvGrpSpPr>
      <p:grpSpPr>
        <a:xfrm>
          <a:off x="0" y="0"/>
          <a:ext cx="0" cy="0"/>
          <a:chOff x="0" y="0"/>
          <a:chExt cx="0" cy="0"/>
        </a:xfrm>
      </p:grpSpPr>
      <p:cxnSp>
        <p:nvCxnSpPr>
          <p:cNvPr id="84" name="Google Shape;84;p13"/>
          <p:cNvCxnSpPr/>
          <p:nvPr/>
        </p:nvCxnSpPr>
        <p:spPr>
          <a:xfrm>
            <a:off x="429200" y="1275577"/>
            <a:ext cx="614100" cy="0"/>
          </a:xfrm>
          <a:prstGeom prst="straightConnector1">
            <a:avLst/>
          </a:prstGeom>
          <a:noFill/>
          <a:ln cap="flat" cmpd="sng" w="19050">
            <a:solidFill>
              <a:schemeClr val="dk2"/>
            </a:solidFill>
            <a:prstDash val="lgDash"/>
            <a:round/>
            <a:headEnd len="sm" w="sm" type="none"/>
            <a:tailEnd len="sm" w="sm" type="none"/>
          </a:ln>
        </p:spPr>
      </p:cxnSp>
      <p:sp>
        <p:nvSpPr>
          <p:cNvPr id="85" name="Google Shape;85;p13"/>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6" name="Google Shape;86;p13"/>
          <p:cNvSpPr txBox="1"/>
          <p:nvPr>
            <p:ph idx="1" type="body"/>
          </p:nvPr>
        </p:nvSpPr>
        <p:spPr>
          <a:xfrm>
            <a:off x="311700" y="1468825"/>
            <a:ext cx="8520600" cy="30999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87" name="Google Shape;87;p1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
        <p:nvSpPr>
          <p:cNvPr id="88" name="Google Shape;88;p13"/>
          <p:cNvSpPr txBox="1"/>
          <p:nvPr/>
        </p:nvSpPr>
        <p:spPr>
          <a:xfrm>
            <a:off x="0" y="4677225"/>
            <a:ext cx="9144000" cy="4662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GB" sz="2100">
                <a:solidFill>
                  <a:schemeClr val="lt1"/>
                </a:solidFill>
                <a:latin typeface="Oswald"/>
                <a:ea typeface="Oswald"/>
                <a:cs typeface="Oswald"/>
                <a:sym typeface="Oswald"/>
              </a:rPr>
              <a:t>Sprint 4, Task #</a:t>
            </a:r>
            <a:endParaRPr>
              <a:solidFill>
                <a:schemeClr val="lt1"/>
              </a:solidFill>
            </a:endParaRPr>
          </a:p>
        </p:txBody>
      </p:sp>
      <p:grpSp>
        <p:nvGrpSpPr>
          <p:cNvPr id="89" name="Google Shape;89;p13"/>
          <p:cNvGrpSpPr/>
          <p:nvPr/>
        </p:nvGrpSpPr>
        <p:grpSpPr>
          <a:xfrm>
            <a:off x="8841325" y="-15725"/>
            <a:ext cx="8048525" cy="4667100"/>
            <a:chOff x="8841325" y="-15725"/>
            <a:chExt cx="8048525" cy="4667100"/>
          </a:xfrm>
        </p:grpSpPr>
        <p:sp>
          <p:nvSpPr>
            <p:cNvPr id="90" name="Google Shape;90;p13"/>
            <p:cNvSpPr txBox="1"/>
            <p:nvPr/>
          </p:nvSpPr>
          <p:spPr>
            <a:xfrm>
              <a:off x="9201150" y="767875"/>
              <a:ext cx="7688700" cy="309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1000"/>
                </a:spcAft>
                <a:buNone/>
              </a:pPr>
              <a:r>
                <a:t/>
              </a:r>
              <a:endParaRPr b="1"/>
            </a:p>
          </p:txBody>
        </p:sp>
        <p:sp>
          <p:nvSpPr>
            <p:cNvPr id="91" name="Google Shape;91;p13"/>
            <p:cNvSpPr txBox="1"/>
            <p:nvPr/>
          </p:nvSpPr>
          <p:spPr>
            <a:xfrm rot="-5400000">
              <a:off x="6674425" y="2151175"/>
              <a:ext cx="4667100" cy="333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solidFill>
                    <a:schemeClr val="dk2"/>
                  </a:solidFill>
                  <a:latin typeface="Source Code Pro"/>
                  <a:ea typeface="Source Code Pro"/>
                  <a:cs typeface="Source Code Pro"/>
                  <a:sym typeface="Source Code Pro"/>
                </a:rPr>
                <a:t>Pan right for Instructions</a:t>
              </a:r>
              <a:endParaRPr sz="1800">
                <a:solidFill>
                  <a:schemeClr val="dk2"/>
                </a:solidFill>
                <a:latin typeface="Source Code Pro"/>
                <a:ea typeface="Source Code Pro"/>
                <a:cs typeface="Source Code Pro"/>
                <a:sym typeface="Source Code Pro"/>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rint 4 Review">
  <p:cSld name="TITLE_AND_BODY_1_1_1_1">
    <p:spTree>
      <p:nvGrpSpPr>
        <p:cNvPr id="92" name="Shape 92"/>
        <p:cNvGrpSpPr/>
        <p:nvPr/>
      </p:nvGrpSpPr>
      <p:grpSpPr>
        <a:xfrm>
          <a:off x="0" y="0"/>
          <a:ext cx="0" cy="0"/>
          <a:chOff x="0" y="0"/>
          <a:chExt cx="0" cy="0"/>
        </a:xfrm>
      </p:grpSpPr>
      <p:cxnSp>
        <p:nvCxnSpPr>
          <p:cNvPr id="93" name="Google Shape;93;p14"/>
          <p:cNvCxnSpPr/>
          <p:nvPr/>
        </p:nvCxnSpPr>
        <p:spPr>
          <a:xfrm>
            <a:off x="429200" y="1275577"/>
            <a:ext cx="614100" cy="0"/>
          </a:xfrm>
          <a:prstGeom prst="straightConnector1">
            <a:avLst/>
          </a:prstGeom>
          <a:noFill/>
          <a:ln cap="flat" cmpd="sng" w="19050">
            <a:solidFill>
              <a:schemeClr val="dk2"/>
            </a:solidFill>
            <a:prstDash val="lgDash"/>
            <a:round/>
            <a:headEnd len="sm" w="sm" type="none"/>
            <a:tailEnd len="sm" w="sm" type="none"/>
          </a:ln>
        </p:spPr>
      </p:cxnSp>
      <p:sp>
        <p:nvSpPr>
          <p:cNvPr id="94" name="Google Shape;94;p14"/>
          <p:cNvSpPr txBox="1"/>
          <p:nvPr>
            <p:ph type="title"/>
          </p:nvPr>
        </p:nvSpPr>
        <p:spPr>
          <a:xfrm>
            <a:off x="311700" y="372500"/>
            <a:ext cx="8520600" cy="733500"/>
          </a:xfrm>
          <a:prstGeom prst="rect">
            <a:avLst/>
          </a:prstGeom>
          <a:solidFill>
            <a:schemeClr val="accent4"/>
          </a:solidFill>
        </p:spPr>
        <p:txBody>
          <a:bodyPr anchorCtr="0" anchor="b" bIns="91425" lIns="91425" spcFirstLastPara="1" rIns="91425" wrap="square" tIns="91425">
            <a:normAutofit/>
          </a:bodyPr>
          <a:lstStyle>
            <a:lvl1pPr lvl="0">
              <a:spcBef>
                <a:spcPts val="0"/>
              </a:spcBef>
              <a:spcAft>
                <a:spcPts val="0"/>
              </a:spcAft>
              <a:buClr>
                <a:schemeClr val="lt1"/>
              </a:buClr>
              <a:buSzPts val="3000"/>
              <a:buNone/>
              <a:defRPr>
                <a:solidFill>
                  <a:schemeClr val="lt1"/>
                </a:solidFill>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95" name="Google Shape;95;p14"/>
          <p:cNvSpPr txBox="1"/>
          <p:nvPr>
            <p:ph idx="1" type="body"/>
          </p:nvPr>
        </p:nvSpPr>
        <p:spPr>
          <a:xfrm>
            <a:off x="311700" y="1468825"/>
            <a:ext cx="8520600" cy="30999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96" name="Google Shape;96;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
        <p:nvSpPr>
          <p:cNvPr id="97" name="Google Shape;97;p14"/>
          <p:cNvSpPr txBox="1"/>
          <p:nvPr/>
        </p:nvSpPr>
        <p:spPr>
          <a:xfrm>
            <a:off x="0" y="4677225"/>
            <a:ext cx="9144000" cy="4662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GB" sz="2100">
                <a:solidFill>
                  <a:schemeClr val="lt1"/>
                </a:solidFill>
                <a:latin typeface="Oswald"/>
                <a:ea typeface="Oswald"/>
                <a:cs typeface="Oswald"/>
                <a:sym typeface="Oswald"/>
              </a:rPr>
              <a:t>Sprint 4 - Review</a:t>
            </a:r>
            <a:endParaRPr>
              <a:solidFill>
                <a:schemeClr val="lt1"/>
              </a:solidFill>
            </a:endParaRPr>
          </a:p>
        </p:txBody>
      </p:sp>
      <p:sp>
        <p:nvSpPr>
          <p:cNvPr id="98" name="Google Shape;98;p14"/>
          <p:cNvSpPr txBox="1"/>
          <p:nvPr/>
        </p:nvSpPr>
        <p:spPr>
          <a:xfrm>
            <a:off x="1455300" y="627850"/>
            <a:ext cx="7688700" cy="3099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1000"/>
              </a:spcAft>
              <a:buNone/>
            </a:pPr>
            <a:r>
              <a:t/>
            </a:r>
            <a:endParaRPr b="1" sz="1800"/>
          </a:p>
        </p:txBody>
      </p:sp>
      <p:sp>
        <p:nvSpPr>
          <p:cNvPr id="99" name="Google Shape;99;p14"/>
          <p:cNvSpPr txBox="1"/>
          <p:nvPr/>
        </p:nvSpPr>
        <p:spPr>
          <a:xfrm rot="-5400000">
            <a:off x="6674425" y="2151175"/>
            <a:ext cx="4667100" cy="333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solidFill>
                  <a:schemeClr val="dk2"/>
                </a:solidFill>
                <a:latin typeface="Source Code Pro"/>
                <a:ea typeface="Source Code Pro"/>
                <a:cs typeface="Source Code Pro"/>
                <a:sym typeface="Source Code Pro"/>
              </a:rPr>
              <a:t>Pan right for Instructions</a:t>
            </a:r>
            <a:endParaRPr sz="1800">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one column" type="twoColTx">
  <p:cSld name="TITLE_AND_TWO_COLUMNS">
    <p:spTree>
      <p:nvGrpSpPr>
        <p:cNvPr id="100" name="Shape 100"/>
        <p:cNvGrpSpPr/>
        <p:nvPr/>
      </p:nvGrpSpPr>
      <p:grpSpPr>
        <a:xfrm>
          <a:off x="0" y="0"/>
          <a:ext cx="0" cy="0"/>
          <a:chOff x="0" y="0"/>
          <a:chExt cx="0" cy="0"/>
        </a:xfrm>
      </p:grpSpPr>
      <p:cxnSp>
        <p:nvCxnSpPr>
          <p:cNvPr id="101" name="Google Shape;101;p15"/>
          <p:cNvCxnSpPr/>
          <p:nvPr/>
        </p:nvCxnSpPr>
        <p:spPr>
          <a:xfrm>
            <a:off x="429200" y="1275577"/>
            <a:ext cx="614100" cy="0"/>
          </a:xfrm>
          <a:prstGeom prst="straightConnector1">
            <a:avLst/>
          </a:prstGeom>
          <a:noFill/>
          <a:ln cap="flat" cmpd="sng" w="19050">
            <a:solidFill>
              <a:schemeClr val="dk2"/>
            </a:solidFill>
            <a:prstDash val="lgDash"/>
            <a:round/>
            <a:headEnd len="sm" w="sm" type="none"/>
            <a:tailEnd len="sm" w="sm" type="none"/>
          </a:ln>
        </p:spPr>
      </p:cxnSp>
      <p:sp>
        <p:nvSpPr>
          <p:cNvPr id="102" name="Google Shape;102;p15"/>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03" name="Google Shape;103;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
        <p:nvSpPr>
          <p:cNvPr id="104" name="Google Shape;104;p15"/>
          <p:cNvSpPr txBox="1"/>
          <p:nvPr>
            <p:ph idx="1" type="body"/>
          </p:nvPr>
        </p:nvSpPr>
        <p:spPr>
          <a:xfrm>
            <a:off x="311700" y="1468825"/>
            <a:ext cx="8520600" cy="30999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105" name="Shape 105"/>
        <p:cNvGrpSpPr/>
        <p:nvPr/>
      </p:nvGrpSpPr>
      <p:grpSpPr>
        <a:xfrm>
          <a:off x="0" y="0"/>
          <a:ext cx="0" cy="0"/>
          <a:chOff x="0" y="0"/>
          <a:chExt cx="0" cy="0"/>
        </a:xfrm>
      </p:grpSpPr>
      <p:cxnSp>
        <p:nvCxnSpPr>
          <p:cNvPr id="106" name="Google Shape;106;p16"/>
          <p:cNvCxnSpPr/>
          <p:nvPr/>
        </p:nvCxnSpPr>
        <p:spPr>
          <a:xfrm>
            <a:off x="429200" y="1275577"/>
            <a:ext cx="614100" cy="0"/>
          </a:xfrm>
          <a:prstGeom prst="straightConnector1">
            <a:avLst/>
          </a:prstGeom>
          <a:noFill/>
          <a:ln cap="flat" cmpd="sng" w="19050">
            <a:solidFill>
              <a:schemeClr val="dk2"/>
            </a:solidFill>
            <a:prstDash val="lgDash"/>
            <a:round/>
            <a:headEnd len="sm" w="sm" type="none"/>
            <a:tailEnd len="sm" w="sm" type="none"/>
          </a:ln>
        </p:spPr>
      </p:cxnSp>
      <p:sp>
        <p:nvSpPr>
          <p:cNvPr id="107" name="Google Shape;107;p16"/>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08" name="Google Shape;108;p16"/>
          <p:cNvSpPr txBox="1"/>
          <p:nvPr>
            <p:ph idx="1" type="body"/>
          </p:nvPr>
        </p:nvSpPr>
        <p:spPr>
          <a:xfrm>
            <a:off x="311700" y="1468825"/>
            <a:ext cx="3999900" cy="30999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09" name="Google Shape;109;p16"/>
          <p:cNvSpPr txBox="1"/>
          <p:nvPr>
            <p:ph idx="2" type="body"/>
          </p:nvPr>
        </p:nvSpPr>
        <p:spPr>
          <a:xfrm>
            <a:off x="4832400" y="1468825"/>
            <a:ext cx="3999900" cy="30999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10" name="Google Shape;110;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11" name="Shape 111"/>
        <p:cNvGrpSpPr/>
        <p:nvPr/>
      </p:nvGrpSpPr>
      <p:grpSpPr>
        <a:xfrm>
          <a:off x="0" y="0"/>
          <a:ext cx="0" cy="0"/>
          <a:chOff x="0" y="0"/>
          <a:chExt cx="0" cy="0"/>
        </a:xfrm>
      </p:grpSpPr>
      <p:sp>
        <p:nvSpPr>
          <p:cNvPr id="112" name="Google Shape;112;p17"/>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13" name="Google Shape;113;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14" name="Shape 114"/>
        <p:cNvGrpSpPr/>
        <p:nvPr/>
      </p:nvGrpSpPr>
      <p:grpSpPr>
        <a:xfrm>
          <a:off x="0" y="0"/>
          <a:ext cx="0" cy="0"/>
          <a:chOff x="0" y="0"/>
          <a:chExt cx="0" cy="0"/>
        </a:xfrm>
      </p:grpSpPr>
      <p:cxnSp>
        <p:nvCxnSpPr>
          <p:cNvPr id="115" name="Google Shape;115;p18"/>
          <p:cNvCxnSpPr/>
          <p:nvPr/>
        </p:nvCxnSpPr>
        <p:spPr>
          <a:xfrm>
            <a:off x="418675" y="1457787"/>
            <a:ext cx="614100" cy="0"/>
          </a:xfrm>
          <a:prstGeom prst="straightConnector1">
            <a:avLst/>
          </a:prstGeom>
          <a:noFill/>
          <a:ln cap="flat" cmpd="sng" w="19050">
            <a:solidFill>
              <a:schemeClr val="dk2"/>
            </a:solidFill>
            <a:prstDash val="lgDash"/>
            <a:round/>
            <a:headEnd len="sm" w="sm" type="none"/>
            <a:tailEnd len="sm" w="sm" type="none"/>
          </a:ln>
        </p:spPr>
      </p:cxnSp>
      <p:sp>
        <p:nvSpPr>
          <p:cNvPr id="116" name="Google Shape;116;p18"/>
          <p:cNvSpPr txBox="1"/>
          <p:nvPr>
            <p:ph type="title"/>
          </p:nvPr>
        </p:nvSpPr>
        <p:spPr>
          <a:xfrm>
            <a:off x="311700" y="6318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117" name="Google Shape;117;p18"/>
          <p:cNvSpPr txBox="1"/>
          <p:nvPr>
            <p:ph idx="1" type="body"/>
          </p:nvPr>
        </p:nvSpPr>
        <p:spPr>
          <a:xfrm>
            <a:off x="311700" y="1618204"/>
            <a:ext cx="2808000" cy="29508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18" name="Google Shape;118;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119" name="Shape 119"/>
        <p:cNvGrpSpPr/>
        <p:nvPr/>
      </p:nvGrpSpPr>
      <p:grpSpPr>
        <a:xfrm>
          <a:off x="0" y="0"/>
          <a:ext cx="0" cy="0"/>
          <a:chOff x="0" y="0"/>
          <a:chExt cx="0" cy="0"/>
        </a:xfrm>
      </p:grpSpPr>
      <p:sp>
        <p:nvSpPr>
          <p:cNvPr id="120" name="Google Shape;120;p19"/>
          <p:cNvSpPr txBox="1"/>
          <p:nvPr>
            <p:ph type="title"/>
          </p:nvPr>
        </p:nvSpPr>
        <p:spPr>
          <a:xfrm>
            <a:off x="490250" y="528900"/>
            <a:ext cx="5678100" cy="40857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5400"/>
              <a:buNone/>
              <a:defRPr sz="5400">
                <a:solidFill>
                  <a:schemeClr val="lt1"/>
                </a:solidFill>
              </a:defRPr>
            </a:lvl1pPr>
            <a:lvl2pPr lvl="1">
              <a:spcBef>
                <a:spcPts val="0"/>
              </a:spcBef>
              <a:spcAft>
                <a:spcPts val="0"/>
              </a:spcAft>
              <a:buClr>
                <a:schemeClr val="lt1"/>
              </a:buClr>
              <a:buSzPts val="5400"/>
              <a:buNone/>
              <a:defRPr sz="5400">
                <a:solidFill>
                  <a:schemeClr val="lt1"/>
                </a:solidFill>
              </a:defRPr>
            </a:lvl2pPr>
            <a:lvl3pPr lvl="2">
              <a:spcBef>
                <a:spcPts val="0"/>
              </a:spcBef>
              <a:spcAft>
                <a:spcPts val="0"/>
              </a:spcAft>
              <a:buClr>
                <a:schemeClr val="lt1"/>
              </a:buClr>
              <a:buSzPts val="5400"/>
              <a:buNone/>
              <a:defRPr sz="5400">
                <a:solidFill>
                  <a:schemeClr val="lt1"/>
                </a:solidFill>
              </a:defRPr>
            </a:lvl3pPr>
            <a:lvl4pPr lvl="3">
              <a:spcBef>
                <a:spcPts val="0"/>
              </a:spcBef>
              <a:spcAft>
                <a:spcPts val="0"/>
              </a:spcAft>
              <a:buClr>
                <a:schemeClr val="lt1"/>
              </a:buClr>
              <a:buSzPts val="5400"/>
              <a:buNone/>
              <a:defRPr sz="5400">
                <a:solidFill>
                  <a:schemeClr val="lt1"/>
                </a:solidFill>
              </a:defRPr>
            </a:lvl4pPr>
            <a:lvl5pPr lvl="4">
              <a:spcBef>
                <a:spcPts val="0"/>
              </a:spcBef>
              <a:spcAft>
                <a:spcPts val="0"/>
              </a:spcAft>
              <a:buClr>
                <a:schemeClr val="lt1"/>
              </a:buClr>
              <a:buSzPts val="5400"/>
              <a:buNone/>
              <a:defRPr sz="5400">
                <a:solidFill>
                  <a:schemeClr val="lt1"/>
                </a:solidFill>
              </a:defRPr>
            </a:lvl5pPr>
            <a:lvl6pPr lvl="5">
              <a:spcBef>
                <a:spcPts val="0"/>
              </a:spcBef>
              <a:spcAft>
                <a:spcPts val="0"/>
              </a:spcAft>
              <a:buClr>
                <a:schemeClr val="lt1"/>
              </a:buClr>
              <a:buSzPts val="5400"/>
              <a:buNone/>
              <a:defRPr sz="5400">
                <a:solidFill>
                  <a:schemeClr val="lt1"/>
                </a:solidFill>
              </a:defRPr>
            </a:lvl6pPr>
            <a:lvl7pPr lvl="6">
              <a:spcBef>
                <a:spcPts val="0"/>
              </a:spcBef>
              <a:spcAft>
                <a:spcPts val="0"/>
              </a:spcAft>
              <a:buClr>
                <a:schemeClr val="lt1"/>
              </a:buClr>
              <a:buSzPts val="5400"/>
              <a:buNone/>
              <a:defRPr sz="5400">
                <a:solidFill>
                  <a:schemeClr val="lt1"/>
                </a:solidFill>
              </a:defRPr>
            </a:lvl7pPr>
            <a:lvl8pPr lvl="7">
              <a:spcBef>
                <a:spcPts val="0"/>
              </a:spcBef>
              <a:spcAft>
                <a:spcPts val="0"/>
              </a:spcAft>
              <a:buClr>
                <a:schemeClr val="lt1"/>
              </a:buClr>
              <a:buSzPts val="5400"/>
              <a:buNone/>
              <a:defRPr sz="5400">
                <a:solidFill>
                  <a:schemeClr val="lt1"/>
                </a:solidFill>
              </a:defRPr>
            </a:lvl8pPr>
            <a:lvl9pPr lvl="8">
              <a:spcBef>
                <a:spcPts val="0"/>
              </a:spcBef>
              <a:spcAft>
                <a:spcPts val="0"/>
              </a:spcAft>
              <a:buClr>
                <a:schemeClr val="lt1"/>
              </a:buClr>
              <a:buSzPts val="5400"/>
              <a:buNone/>
              <a:defRPr sz="5400">
                <a:solidFill>
                  <a:schemeClr val="lt1"/>
                </a:solidFill>
              </a:defRPr>
            </a:lvl9pPr>
          </a:lstStyle>
          <a:p/>
        </p:txBody>
      </p:sp>
      <p:sp>
        <p:nvSpPr>
          <p:cNvPr id="121" name="Google Shape;121;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accent5"/>
        </a:solidFill>
      </p:bgPr>
    </p:bg>
    <p:spTree>
      <p:nvGrpSpPr>
        <p:cNvPr id="122" name="Shape 122"/>
        <p:cNvGrpSpPr/>
        <p:nvPr/>
      </p:nvGrpSpPr>
      <p:grpSpPr>
        <a:xfrm>
          <a:off x="0" y="0"/>
          <a:ext cx="0" cy="0"/>
          <a:chOff x="0" y="0"/>
          <a:chExt cx="0" cy="0"/>
        </a:xfrm>
      </p:grpSpPr>
      <p:sp>
        <p:nvSpPr>
          <p:cNvPr id="123" name="Google Shape;123;p20"/>
          <p:cNvSpPr/>
          <p:nvPr/>
        </p:nvSpPr>
        <p:spPr>
          <a:xfrm>
            <a:off x="4572000" y="175"/>
            <a:ext cx="45720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24" name="Google Shape;124;p20"/>
          <p:cNvCxnSpPr/>
          <p:nvPr/>
        </p:nvCxnSpPr>
        <p:spPr>
          <a:xfrm>
            <a:off x="5029675" y="4495500"/>
            <a:ext cx="577200" cy="0"/>
          </a:xfrm>
          <a:prstGeom prst="straightConnector1">
            <a:avLst/>
          </a:prstGeom>
          <a:noFill/>
          <a:ln cap="flat" cmpd="sng" w="19050">
            <a:solidFill>
              <a:schemeClr val="dk2"/>
            </a:solidFill>
            <a:prstDash val="lgDash"/>
            <a:round/>
            <a:headEnd len="sm" w="sm" type="none"/>
            <a:tailEnd len="sm" w="sm" type="none"/>
          </a:ln>
        </p:spPr>
      </p:cxnSp>
      <p:sp>
        <p:nvSpPr>
          <p:cNvPr id="125" name="Google Shape;125;p20"/>
          <p:cNvSpPr txBox="1"/>
          <p:nvPr>
            <p:ph type="title"/>
          </p:nvPr>
        </p:nvSpPr>
        <p:spPr>
          <a:xfrm>
            <a:off x="265500" y="1078750"/>
            <a:ext cx="4045200" cy="17892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1"/>
              </a:buClr>
              <a:buSzPts val="4600"/>
              <a:buNone/>
              <a:defRPr sz="4600">
                <a:solidFill>
                  <a:schemeClr val="lt1"/>
                </a:solidFill>
              </a:defRPr>
            </a:lvl1pPr>
            <a:lvl2pPr lvl="1" algn="ctr">
              <a:spcBef>
                <a:spcPts val="0"/>
              </a:spcBef>
              <a:spcAft>
                <a:spcPts val="0"/>
              </a:spcAft>
              <a:buClr>
                <a:schemeClr val="lt1"/>
              </a:buClr>
              <a:buSzPts val="4600"/>
              <a:buNone/>
              <a:defRPr sz="4600">
                <a:solidFill>
                  <a:schemeClr val="lt1"/>
                </a:solidFill>
              </a:defRPr>
            </a:lvl2pPr>
            <a:lvl3pPr lvl="2" algn="ctr">
              <a:spcBef>
                <a:spcPts val="0"/>
              </a:spcBef>
              <a:spcAft>
                <a:spcPts val="0"/>
              </a:spcAft>
              <a:buClr>
                <a:schemeClr val="lt1"/>
              </a:buClr>
              <a:buSzPts val="4600"/>
              <a:buNone/>
              <a:defRPr sz="4600">
                <a:solidFill>
                  <a:schemeClr val="lt1"/>
                </a:solidFill>
              </a:defRPr>
            </a:lvl3pPr>
            <a:lvl4pPr lvl="3" algn="ctr">
              <a:spcBef>
                <a:spcPts val="0"/>
              </a:spcBef>
              <a:spcAft>
                <a:spcPts val="0"/>
              </a:spcAft>
              <a:buClr>
                <a:schemeClr val="lt1"/>
              </a:buClr>
              <a:buSzPts val="4600"/>
              <a:buNone/>
              <a:defRPr sz="4600">
                <a:solidFill>
                  <a:schemeClr val="lt1"/>
                </a:solidFill>
              </a:defRPr>
            </a:lvl4pPr>
            <a:lvl5pPr lvl="4" algn="ctr">
              <a:spcBef>
                <a:spcPts val="0"/>
              </a:spcBef>
              <a:spcAft>
                <a:spcPts val="0"/>
              </a:spcAft>
              <a:buClr>
                <a:schemeClr val="lt1"/>
              </a:buClr>
              <a:buSzPts val="4600"/>
              <a:buNone/>
              <a:defRPr sz="4600">
                <a:solidFill>
                  <a:schemeClr val="lt1"/>
                </a:solidFill>
              </a:defRPr>
            </a:lvl5pPr>
            <a:lvl6pPr lvl="5" algn="ctr">
              <a:spcBef>
                <a:spcPts val="0"/>
              </a:spcBef>
              <a:spcAft>
                <a:spcPts val="0"/>
              </a:spcAft>
              <a:buClr>
                <a:schemeClr val="lt1"/>
              </a:buClr>
              <a:buSzPts val="4600"/>
              <a:buNone/>
              <a:defRPr sz="4600">
                <a:solidFill>
                  <a:schemeClr val="lt1"/>
                </a:solidFill>
              </a:defRPr>
            </a:lvl6pPr>
            <a:lvl7pPr lvl="6" algn="ctr">
              <a:spcBef>
                <a:spcPts val="0"/>
              </a:spcBef>
              <a:spcAft>
                <a:spcPts val="0"/>
              </a:spcAft>
              <a:buClr>
                <a:schemeClr val="lt1"/>
              </a:buClr>
              <a:buSzPts val="4600"/>
              <a:buNone/>
              <a:defRPr sz="4600">
                <a:solidFill>
                  <a:schemeClr val="lt1"/>
                </a:solidFill>
              </a:defRPr>
            </a:lvl7pPr>
            <a:lvl8pPr lvl="7" algn="ctr">
              <a:spcBef>
                <a:spcPts val="0"/>
              </a:spcBef>
              <a:spcAft>
                <a:spcPts val="0"/>
              </a:spcAft>
              <a:buClr>
                <a:schemeClr val="lt1"/>
              </a:buClr>
              <a:buSzPts val="4600"/>
              <a:buNone/>
              <a:defRPr sz="4600">
                <a:solidFill>
                  <a:schemeClr val="lt1"/>
                </a:solidFill>
              </a:defRPr>
            </a:lvl8pPr>
            <a:lvl9pPr lvl="8" algn="ctr">
              <a:spcBef>
                <a:spcPts val="0"/>
              </a:spcBef>
              <a:spcAft>
                <a:spcPts val="0"/>
              </a:spcAft>
              <a:buClr>
                <a:schemeClr val="lt1"/>
              </a:buClr>
              <a:buSzPts val="4600"/>
              <a:buNone/>
              <a:defRPr sz="4600">
                <a:solidFill>
                  <a:schemeClr val="lt1"/>
                </a:solidFill>
              </a:defRPr>
            </a:lvl9pPr>
          </a:lstStyle>
          <a:p/>
        </p:txBody>
      </p:sp>
      <p:sp>
        <p:nvSpPr>
          <p:cNvPr id="126" name="Google Shape;126;p20"/>
          <p:cNvSpPr txBox="1"/>
          <p:nvPr>
            <p:ph idx="1" type="subTitle"/>
          </p:nvPr>
        </p:nvSpPr>
        <p:spPr>
          <a:xfrm>
            <a:off x="265500" y="29214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1900"/>
              <a:buNone/>
              <a:defRPr sz="1900">
                <a:solidFill>
                  <a:schemeClr val="lt1"/>
                </a:solidFill>
              </a:defRPr>
            </a:lvl1pPr>
            <a:lvl2pPr lvl="1" algn="ctr">
              <a:lnSpc>
                <a:spcPct val="100000"/>
              </a:lnSpc>
              <a:spcBef>
                <a:spcPts val="0"/>
              </a:spcBef>
              <a:spcAft>
                <a:spcPts val="0"/>
              </a:spcAft>
              <a:buClr>
                <a:schemeClr val="lt1"/>
              </a:buClr>
              <a:buSzPts val="1900"/>
              <a:buNone/>
              <a:defRPr sz="1900">
                <a:solidFill>
                  <a:schemeClr val="lt1"/>
                </a:solidFill>
              </a:defRPr>
            </a:lvl2pPr>
            <a:lvl3pPr lvl="2" algn="ctr">
              <a:lnSpc>
                <a:spcPct val="100000"/>
              </a:lnSpc>
              <a:spcBef>
                <a:spcPts val="0"/>
              </a:spcBef>
              <a:spcAft>
                <a:spcPts val="0"/>
              </a:spcAft>
              <a:buClr>
                <a:schemeClr val="lt1"/>
              </a:buClr>
              <a:buSzPts val="1900"/>
              <a:buNone/>
              <a:defRPr sz="1900">
                <a:solidFill>
                  <a:schemeClr val="lt1"/>
                </a:solidFill>
              </a:defRPr>
            </a:lvl3pPr>
            <a:lvl4pPr lvl="3" algn="ctr">
              <a:lnSpc>
                <a:spcPct val="100000"/>
              </a:lnSpc>
              <a:spcBef>
                <a:spcPts val="0"/>
              </a:spcBef>
              <a:spcAft>
                <a:spcPts val="0"/>
              </a:spcAft>
              <a:buClr>
                <a:schemeClr val="lt1"/>
              </a:buClr>
              <a:buSzPts val="1900"/>
              <a:buNone/>
              <a:defRPr sz="1900">
                <a:solidFill>
                  <a:schemeClr val="lt1"/>
                </a:solidFill>
              </a:defRPr>
            </a:lvl4pPr>
            <a:lvl5pPr lvl="4" algn="ctr">
              <a:lnSpc>
                <a:spcPct val="100000"/>
              </a:lnSpc>
              <a:spcBef>
                <a:spcPts val="0"/>
              </a:spcBef>
              <a:spcAft>
                <a:spcPts val="0"/>
              </a:spcAft>
              <a:buClr>
                <a:schemeClr val="lt1"/>
              </a:buClr>
              <a:buSzPts val="1900"/>
              <a:buNone/>
              <a:defRPr sz="1900">
                <a:solidFill>
                  <a:schemeClr val="lt1"/>
                </a:solidFill>
              </a:defRPr>
            </a:lvl5pPr>
            <a:lvl6pPr lvl="5" algn="ctr">
              <a:lnSpc>
                <a:spcPct val="100000"/>
              </a:lnSpc>
              <a:spcBef>
                <a:spcPts val="0"/>
              </a:spcBef>
              <a:spcAft>
                <a:spcPts val="0"/>
              </a:spcAft>
              <a:buClr>
                <a:schemeClr val="lt1"/>
              </a:buClr>
              <a:buSzPts val="1900"/>
              <a:buNone/>
              <a:defRPr sz="1900">
                <a:solidFill>
                  <a:schemeClr val="lt1"/>
                </a:solidFill>
              </a:defRPr>
            </a:lvl6pPr>
            <a:lvl7pPr lvl="6" algn="ctr">
              <a:lnSpc>
                <a:spcPct val="100000"/>
              </a:lnSpc>
              <a:spcBef>
                <a:spcPts val="0"/>
              </a:spcBef>
              <a:spcAft>
                <a:spcPts val="0"/>
              </a:spcAft>
              <a:buClr>
                <a:schemeClr val="lt1"/>
              </a:buClr>
              <a:buSzPts val="1900"/>
              <a:buNone/>
              <a:defRPr sz="1900">
                <a:solidFill>
                  <a:schemeClr val="lt1"/>
                </a:solidFill>
              </a:defRPr>
            </a:lvl7pPr>
            <a:lvl8pPr lvl="7" algn="ctr">
              <a:lnSpc>
                <a:spcPct val="100000"/>
              </a:lnSpc>
              <a:spcBef>
                <a:spcPts val="0"/>
              </a:spcBef>
              <a:spcAft>
                <a:spcPts val="0"/>
              </a:spcAft>
              <a:buClr>
                <a:schemeClr val="lt1"/>
              </a:buClr>
              <a:buSzPts val="1900"/>
              <a:buNone/>
              <a:defRPr sz="1900">
                <a:solidFill>
                  <a:schemeClr val="lt1"/>
                </a:solidFill>
              </a:defRPr>
            </a:lvl8pPr>
            <a:lvl9pPr lvl="8" algn="ctr">
              <a:lnSpc>
                <a:spcPct val="100000"/>
              </a:lnSpc>
              <a:spcBef>
                <a:spcPts val="0"/>
              </a:spcBef>
              <a:spcAft>
                <a:spcPts val="0"/>
              </a:spcAft>
              <a:buClr>
                <a:schemeClr val="lt1"/>
              </a:buClr>
              <a:buSzPts val="1900"/>
              <a:buNone/>
              <a:defRPr sz="1900">
                <a:solidFill>
                  <a:schemeClr val="lt1"/>
                </a:solidFill>
              </a:defRPr>
            </a:lvl9pPr>
          </a:lstStyle>
          <a:p/>
        </p:txBody>
      </p:sp>
      <p:sp>
        <p:nvSpPr>
          <p:cNvPr id="127" name="Google Shape;127;p20"/>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28" name="Google Shape;128;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29" name="Shape 129"/>
        <p:cNvGrpSpPr/>
        <p:nvPr/>
      </p:nvGrpSpPr>
      <p:grpSpPr>
        <a:xfrm>
          <a:off x="0" y="0"/>
          <a:ext cx="0" cy="0"/>
          <a:chOff x="0" y="0"/>
          <a:chExt cx="0" cy="0"/>
        </a:xfrm>
      </p:grpSpPr>
      <p:sp>
        <p:nvSpPr>
          <p:cNvPr id="130" name="Google Shape;130;p21"/>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100"/>
              <a:buFont typeface="Oswald"/>
              <a:buNone/>
              <a:defRPr sz="2100">
                <a:latin typeface="Oswald"/>
                <a:ea typeface="Oswald"/>
                <a:cs typeface="Oswald"/>
                <a:sym typeface="Oswald"/>
              </a:defRPr>
            </a:lvl1pPr>
          </a:lstStyle>
          <a:p/>
        </p:txBody>
      </p:sp>
      <p:sp>
        <p:nvSpPr>
          <p:cNvPr id="131" name="Google Shape;131;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32" name="Shape 132"/>
        <p:cNvGrpSpPr/>
        <p:nvPr/>
      </p:nvGrpSpPr>
      <p:grpSpPr>
        <a:xfrm>
          <a:off x="0" y="0"/>
          <a:ext cx="0" cy="0"/>
          <a:chOff x="0" y="0"/>
          <a:chExt cx="0" cy="0"/>
        </a:xfrm>
      </p:grpSpPr>
      <p:cxnSp>
        <p:nvCxnSpPr>
          <p:cNvPr id="133" name="Google Shape;133;p22"/>
          <p:cNvCxnSpPr/>
          <p:nvPr/>
        </p:nvCxnSpPr>
        <p:spPr>
          <a:xfrm>
            <a:off x="413275" y="2988275"/>
            <a:ext cx="910500" cy="0"/>
          </a:xfrm>
          <a:prstGeom prst="straightConnector1">
            <a:avLst/>
          </a:prstGeom>
          <a:noFill/>
          <a:ln cap="flat" cmpd="sng" w="28575">
            <a:solidFill>
              <a:schemeClr val="dk2"/>
            </a:solidFill>
            <a:prstDash val="lgDash"/>
            <a:round/>
            <a:headEnd len="sm" w="sm" type="none"/>
            <a:tailEnd len="sm" w="sm" type="none"/>
          </a:ln>
        </p:spPr>
      </p:cxnSp>
      <p:sp>
        <p:nvSpPr>
          <p:cNvPr id="134" name="Google Shape;134;p22"/>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35" name="Google Shape;135;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
        <p:nvSpPr>
          <p:cNvPr id="136" name="Google Shape;136;p22"/>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spcBef>
                <a:spcPts val="0"/>
              </a:spcBef>
              <a:spcAft>
                <a:spcPts val="0"/>
              </a:spcAft>
              <a:buSzPts val="12000"/>
              <a:buNone/>
              <a:defRPr sz="12000"/>
            </a:lvl1pPr>
            <a:lvl2pPr lvl="1">
              <a:spcBef>
                <a:spcPts val="0"/>
              </a:spcBef>
              <a:spcAft>
                <a:spcPts val="0"/>
              </a:spcAft>
              <a:buSzPts val="12000"/>
              <a:buNone/>
              <a:defRPr sz="12000"/>
            </a:lvl2pPr>
            <a:lvl3pPr lvl="2">
              <a:spcBef>
                <a:spcPts val="0"/>
              </a:spcBef>
              <a:spcAft>
                <a:spcPts val="0"/>
              </a:spcAft>
              <a:buSzPts val="12000"/>
              <a:buNone/>
              <a:defRPr sz="12000"/>
            </a:lvl3pPr>
            <a:lvl4pPr lvl="3">
              <a:spcBef>
                <a:spcPts val="0"/>
              </a:spcBef>
              <a:spcAft>
                <a:spcPts val="0"/>
              </a:spcAft>
              <a:buSzPts val="12000"/>
              <a:buNone/>
              <a:defRPr sz="12000"/>
            </a:lvl4pPr>
            <a:lvl5pPr lvl="4">
              <a:spcBef>
                <a:spcPts val="0"/>
              </a:spcBef>
              <a:spcAft>
                <a:spcPts val="0"/>
              </a:spcAft>
              <a:buSzPts val="12000"/>
              <a:buNone/>
              <a:defRPr sz="12000"/>
            </a:lvl5pPr>
            <a:lvl6pPr lvl="5">
              <a:spcBef>
                <a:spcPts val="0"/>
              </a:spcBef>
              <a:spcAft>
                <a:spcPts val="0"/>
              </a:spcAft>
              <a:buSzPts val="12000"/>
              <a:buNone/>
              <a:defRPr sz="12000"/>
            </a:lvl6pPr>
            <a:lvl7pPr lvl="6">
              <a:spcBef>
                <a:spcPts val="0"/>
              </a:spcBef>
              <a:spcAft>
                <a:spcPts val="0"/>
              </a:spcAft>
              <a:buSzPts val="12000"/>
              <a:buNone/>
              <a:defRPr sz="12000"/>
            </a:lvl7pPr>
            <a:lvl8pPr lvl="7">
              <a:spcBef>
                <a:spcPts val="0"/>
              </a:spcBef>
              <a:spcAft>
                <a:spcPts val="0"/>
              </a:spcAft>
              <a:buSzPts val="12000"/>
              <a:buNone/>
              <a:defRPr sz="12000"/>
            </a:lvl8pPr>
            <a:lvl9pPr lvl="8">
              <a:spcBef>
                <a:spcPts val="0"/>
              </a:spcBef>
              <a:spcAft>
                <a:spcPts val="0"/>
              </a:spcAft>
              <a:buSzPts val="12000"/>
              <a:buNone/>
              <a:defRPr sz="12000"/>
            </a:lvl9pPr>
          </a:lstStyle>
          <a:p>
            <a:r>
              <a:t>xx%</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rint 1 Plan " type="blank">
  <p:cSld name="BLANK">
    <p:spTree>
      <p:nvGrpSpPr>
        <p:cNvPr id="137" name="Shape 137"/>
        <p:cNvGrpSpPr/>
        <p:nvPr/>
      </p:nvGrpSpPr>
      <p:grpSpPr>
        <a:xfrm>
          <a:off x="0" y="0"/>
          <a:ext cx="0" cy="0"/>
          <a:chOff x="0" y="0"/>
          <a:chExt cx="0" cy="0"/>
        </a:xfrm>
      </p:grpSpPr>
      <p:sp>
        <p:nvSpPr>
          <p:cNvPr id="138" name="Google Shape;138;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
        <p:nvSpPr>
          <p:cNvPr id="139" name="Google Shape;139;p23"/>
          <p:cNvSpPr txBox="1"/>
          <p:nvPr/>
        </p:nvSpPr>
        <p:spPr>
          <a:xfrm>
            <a:off x="0" y="4677225"/>
            <a:ext cx="9144000" cy="466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GB" sz="2100">
                <a:solidFill>
                  <a:schemeClr val="lt1"/>
                </a:solidFill>
                <a:latin typeface="Oswald"/>
                <a:ea typeface="Oswald"/>
                <a:cs typeface="Oswald"/>
                <a:sym typeface="Oswald"/>
              </a:rPr>
              <a:t>Sprint 1 Plan</a:t>
            </a:r>
            <a:endParaRPr>
              <a:solidFill>
                <a:schemeClr val="lt1"/>
              </a:solidFil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rint 1 Screenshots">
  <p:cSld name="BLANK_2">
    <p:spTree>
      <p:nvGrpSpPr>
        <p:cNvPr id="140" name="Shape 140"/>
        <p:cNvGrpSpPr/>
        <p:nvPr/>
      </p:nvGrpSpPr>
      <p:grpSpPr>
        <a:xfrm>
          <a:off x="0" y="0"/>
          <a:ext cx="0" cy="0"/>
          <a:chOff x="0" y="0"/>
          <a:chExt cx="0" cy="0"/>
        </a:xfrm>
      </p:grpSpPr>
      <p:sp>
        <p:nvSpPr>
          <p:cNvPr id="141" name="Google Shape;141;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
        <p:nvSpPr>
          <p:cNvPr id="142" name="Google Shape;142;p24"/>
          <p:cNvSpPr txBox="1"/>
          <p:nvPr/>
        </p:nvSpPr>
        <p:spPr>
          <a:xfrm>
            <a:off x="0" y="4677225"/>
            <a:ext cx="9144000" cy="466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GB" sz="2100">
                <a:solidFill>
                  <a:schemeClr val="lt1"/>
                </a:solidFill>
                <a:latin typeface="Oswald"/>
                <a:ea typeface="Oswald"/>
                <a:cs typeface="Oswald"/>
                <a:sym typeface="Oswald"/>
              </a:rPr>
              <a:t>Sprint 1, Task     - Screenshots</a:t>
            </a:r>
            <a:endParaRPr>
              <a:solidFill>
                <a:schemeClr val="lt1"/>
              </a:solidFill>
            </a:endParaRPr>
          </a:p>
        </p:txBody>
      </p:sp>
      <p:sp>
        <p:nvSpPr>
          <p:cNvPr id="143" name="Google Shape;143;p24"/>
          <p:cNvSpPr txBox="1"/>
          <p:nvPr/>
        </p:nvSpPr>
        <p:spPr>
          <a:xfrm>
            <a:off x="9201150" y="767875"/>
            <a:ext cx="7688700" cy="309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800"/>
              <a:t>Include at least two screenshots of your TASK</a:t>
            </a:r>
            <a:endParaRPr b="1" sz="1800"/>
          </a:p>
          <a:p>
            <a:pPr indent="-342900" lvl="0" marL="457200" rtl="0" algn="l">
              <a:spcBef>
                <a:spcPts val="1000"/>
              </a:spcBef>
              <a:spcAft>
                <a:spcPts val="0"/>
              </a:spcAft>
              <a:buSzPts val="1800"/>
              <a:buChar char="●"/>
            </a:pPr>
            <a:r>
              <a:rPr lang="en-GB" sz="1800"/>
              <a:t>Beginning of task</a:t>
            </a:r>
            <a:endParaRPr sz="1800"/>
          </a:p>
          <a:p>
            <a:pPr indent="-342900" lvl="0" marL="457200" rtl="0" algn="l">
              <a:spcBef>
                <a:spcPts val="1000"/>
              </a:spcBef>
              <a:spcAft>
                <a:spcPts val="0"/>
              </a:spcAft>
              <a:buSzPts val="1800"/>
              <a:buChar char="●"/>
            </a:pPr>
            <a:r>
              <a:rPr lang="en-GB" sz="1800"/>
              <a:t>Middle of task</a:t>
            </a:r>
            <a:endParaRPr sz="1800"/>
          </a:p>
          <a:p>
            <a:pPr indent="-342900" lvl="0" marL="457200" rtl="0" algn="l">
              <a:spcBef>
                <a:spcPts val="1000"/>
              </a:spcBef>
              <a:spcAft>
                <a:spcPts val="0"/>
              </a:spcAft>
              <a:buSzPts val="1800"/>
              <a:buChar char="●"/>
            </a:pPr>
            <a:r>
              <a:rPr lang="en-GB" sz="1800"/>
              <a:t>End of task</a:t>
            </a:r>
            <a:endParaRPr sz="1800"/>
          </a:p>
          <a:p>
            <a:pPr indent="-342900" lvl="0" marL="457200" rtl="0" algn="l">
              <a:spcBef>
                <a:spcPts val="1000"/>
              </a:spcBef>
              <a:spcAft>
                <a:spcPts val="0"/>
              </a:spcAft>
              <a:buSzPts val="1800"/>
              <a:buChar char="●"/>
            </a:pPr>
            <a:r>
              <a:rPr lang="en-GB" sz="1800"/>
              <a:t>Trialling with End-Users</a:t>
            </a:r>
            <a:endParaRPr sz="1800"/>
          </a:p>
          <a:p>
            <a:pPr indent="-342900" lvl="0" marL="457200" rtl="0" algn="l">
              <a:spcBef>
                <a:spcPts val="1000"/>
              </a:spcBef>
              <a:spcAft>
                <a:spcPts val="0"/>
              </a:spcAft>
              <a:buSzPts val="1800"/>
              <a:buChar char="●"/>
            </a:pPr>
            <a:r>
              <a:rPr lang="en-GB" sz="1800"/>
              <a:t>Testing in class</a:t>
            </a:r>
            <a:endParaRPr sz="1800"/>
          </a:p>
          <a:p>
            <a:pPr indent="-342900" lvl="0" marL="457200" rtl="0" algn="l">
              <a:spcBef>
                <a:spcPts val="1000"/>
              </a:spcBef>
              <a:spcAft>
                <a:spcPts val="1000"/>
              </a:spcAft>
              <a:buSzPts val="1800"/>
              <a:buChar char="●"/>
            </a:pPr>
            <a:r>
              <a:rPr lang="en-GB" sz="1800"/>
              <a:t>Alterations from feedback </a:t>
            </a:r>
            <a:endParaRPr sz="1800"/>
          </a:p>
        </p:txBody>
      </p:sp>
      <p:sp>
        <p:nvSpPr>
          <p:cNvPr id="144" name="Google Shape;144;p24"/>
          <p:cNvSpPr txBox="1"/>
          <p:nvPr/>
        </p:nvSpPr>
        <p:spPr>
          <a:xfrm rot="-5400000">
            <a:off x="6674425" y="2151175"/>
            <a:ext cx="4667100" cy="333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solidFill>
                  <a:schemeClr val="dk2"/>
                </a:solidFill>
                <a:latin typeface="Source Code Pro"/>
                <a:ea typeface="Source Code Pro"/>
                <a:cs typeface="Source Code Pro"/>
                <a:sym typeface="Source Code Pro"/>
              </a:rPr>
              <a:t>Pan right for Instructions</a:t>
            </a:r>
            <a:endParaRPr sz="1800">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rint 2 Plan">
  <p:cSld name="BLANK_1">
    <p:spTree>
      <p:nvGrpSpPr>
        <p:cNvPr id="145" name="Shape 145"/>
        <p:cNvGrpSpPr/>
        <p:nvPr/>
      </p:nvGrpSpPr>
      <p:grpSpPr>
        <a:xfrm>
          <a:off x="0" y="0"/>
          <a:ext cx="0" cy="0"/>
          <a:chOff x="0" y="0"/>
          <a:chExt cx="0" cy="0"/>
        </a:xfrm>
      </p:grpSpPr>
      <p:sp>
        <p:nvSpPr>
          <p:cNvPr id="146" name="Google Shape;146;p2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
        <p:nvSpPr>
          <p:cNvPr id="147" name="Google Shape;147;p25"/>
          <p:cNvSpPr txBox="1"/>
          <p:nvPr/>
        </p:nvSpPr>
        <p:spPr>
          <a:xfrm>
            <a:off x="0" y="4677225"/>
            <a:ext cx="9144000" cy="466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GB" sz="2100">
                <a:solidFill>
                  <a:schemeClr val="lt1"/>
                </a:solidFill>
                <a:latin typeface="Oswald"/>
                <a:ea typeface="Oswald"/>
                <a:cs typeface="Oswald"/>
                <a:sym typeface="Oswald"/>
              </a:rPr>
              <a:t>Sprint 2 Plan</a:t>
            </a:r>
            <a:endParaRPr>
              <a:solidFill>
                <a:schemeClr val="lt1"/>
              </a:solidFil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rint 2 Screenshots">
  <p:cSld name="BLANK_1_2">
    <p:spTree>
      <p:nvGrpSpPr>
        <p:cNvPr id="148" name="Shape 148"/>
        <p:cNvGrpSpPr/>
        <p:nvPr/>
      </p:nvGrpSpPr>
      <p:grpSpPr>
        <a:xfrm>
          <a:off x="0" y="0"/>
          <a:ext cx="0" cy="0"/>
          <a:chOff x="0" y="0"/>
          <a:chExt cx="0" cy="0"/>
        </a:xfrm>
      </p:grpSpPr>
      <p:sp>
        <p:nvSpPr>
          <p:cNvPr id="149" name="Google Shape;149;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
        <p:nvSpPr>
          <p:cNvPr id="150" name="Google Shape;150;p26"/>
          <p:cNvSpPr txBox="1"/>
          <p:nvPr/>
        </p:nvSpPr>
        <p:spPr>
          <a:xfrm>
            <a:off x="0" y="4677225"/>
            <a:ext cx="9144000" cy="466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GB" sz="2100">
                <a:solidFill>
                  <a:schemeClr val="lt1"/>
                </a:solidFill>
                <a:latin typeface="Oswald"/>
                <a:ea typeface="Oswald"/>
                <a:cs typeface="Oswald"/>
                <a:sym typeface="Oswald"/>
              </a:rPr>
              <a:t>Sprint 2, Task # - Screenshots</a:t>
            </a:r>
            <a:endParaRPr>
              <a:solidFill>
                <a:schemeClr val="lt1"/>
              </a:solidFill>
            </a:endParaRPr>
          </a:p>
        </p:txBody>
      </p:sp>
      <p:sp>
        <p:nvSpPr>
          <p:cNvPr id="151" name="Google Shape;151;p26"/>
          <p:cNvSpPr txBox="1"/>
          <p:nvPr/>
        </p:nvSpPr>
        <p:spPr>
          <a:xfrm>
            <a:off x="9201150" y="767875"/>
            <a:ext cx="7688700" cy="309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800"/>
              <a:t>Include at least two screenshots of your TASK</a:t>
            </a:r>
            <a:endParaRPr b="1" sz="1800"/>
          </a:p>
          <a:p>
            <a:pPr indent="-342900" lvl="0" marL="457200" rtl="0" algn="l">
              <a:spcBef>
                <a:spcPts val="1000"/>
              </a:spcBef>
              <a:spcAft>
                <a:spcPts val="0"/>
              </a:spcAft>
              <a:buSzPts val="1800"/>
              <a:buChar char="●"/>
            </a:pPr>
            <a:r>
              <a:rPr lang="en-GB" sz="1800"/>
              <a:t>Beginning of task</a:t>
            </a:r>
            <a:endParaRPr sz="1800"/>
          </a:p>
          <a:p>
            <a:pPr indent="-342900" lvl="0" marL="457200" rtl="0" algn="l">
              <a:spcBef>
                <a:spcPts val="1000"/>
              </a:spcBef>
              <a:spcAft>
                <a:spcPts val="0"/>
              </a:spcAft>
              <a:buSzPts val="1800"/>
              <a:buChar char="●"/>
            </a:pPr>
            <a:r>
              <a:rPr lang="en-GB" sz="1800"/>
              <a:t>Middle of task</a:t>
            </a:r>
            <a:endParaRPr sz="1800"/>
          </a:p>
          <a:p>
            <a:pPr indent="-342900" lvl="0" marL="457200" rtl="0" algn="l">
              <a:spcBef>
                <a:spcPts val="1000"/>
              </a:spcBef>
              <a:spcAft>
                <a:spcPts val="0"/>
              </a:spcAft>
              <a:buSzPts val="1800"/>
              <a:buChar char="●"/>
            </a:pPr>
            <a:r>
              <a:rPr lang="en-GB" sz="1800"/>
              <a:t>End of task</a:t>
            </a:r>
            <a:endParaRPr sz="1800"/>
          </a:p>
          <a:p>
            <a:pPr indent="-342900" lvl="0" marL="457200" rtl="0" algn="l">
              <a:spcBef>
                <a:spcPts val="1000"/>
              </a:spcBef>
              <a:spcAft>
                <a:spcPts val="0"/>
              </a:spcAft>
              <a:buSzPts val="1800"/>
              <a:buChar char="●"/>
            </a:pPr>
            <a:r>
              <a:rPr lang="en-GB" sz="1800"/>
              <a:t>Trialling with End-Users</a:t>
            </a:r>
            <a:endParaRPr sz="1800"/>
          </a:p>
          <a:p>
            <a:pPr indent="-342900" lvl="0" marL="457200" rtl="0" algn="l">
              <a:spcBef>
                <a:spcPts val="1000"/>
              </a:spcBef>
              <a:spcAft>
                <a:spcPts val="0"/>
              </a:spcAft>
              <a:buSzPts val="1800"/>
              <a:buChar char="●"/>
            </a:pPr>
            <a:r>
              <a:rPr lang="en-GB" sz="1800"/>
              <a:t>Testing in class</a:t>
            </a:r>
            <a:endParaRPr sz="1800"/>
          </a:p>
          <a:p>
            <a:pPr indent="-342900" lvl="0" marL="457200" rtl="0" algn="l">
              <a:spcBef>
                <a:spcPts val="1000"/>
              </a:spcBef>
              <a:spcAft>
                <a:spcPts val="1000"/>
              </a:spcAft>
              <a:buSzPts val="1800"/>
              <a:buChar char="●"/>
            </a:pPr>
            <a:r>
              <a:rPr lang="en-GB" sz="1800"/>
              <a:t>Alterations from feedback </a:t>
            </a:r>
            <a:endParaRPr sz="1800"/>
          </a:p>
        </p:txBody>
      </p:sp>
      <p:sp>
        <p:nvSpPr>
          <p:cNvPr id="152" name="Google Shape;152;p26"/>
          <p:cNvSpPr txBox="1"/>
          <p:nvPr/>
        </p:nvSpPr>
        <p:spPr>
          <a:xfrm rot="-5400000">
            <a:off x="6674425" y="2151175"/>
            <a:ext cx="4667100" cy="333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solidFill>
                  <a:schemeClr val="dk2"/>
                </a:solidFill>
                <a:latin typeface="Source Code Pro"/>
                <a:ea typeface="Source Code Pro"/>
                <a:cs typeface="Source Code Pro"/>
                <a:sym typeface="Source Code Pro"/>
              </a:rPr>
              <a:t>Pan right for Instructions</a:t>
            </a:r>
            <a:endParaRPr sz="1800">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rint 3 Plan">
  <p:cSld name="BLANK_1_1">
    <p:spTree>
      <p:nvGrpSpPr>
        <p:cNvPr id="153" name="Shape 153"/>
        <p:cNvGrpSpPr/>
        <p:nvPr/>
      </p:nvGrpSpPr>
      <p:grpSpPr>
        <a:xfrm>
          <a:off x="0" y="0"/>
          <a:ext cx="0" cy="0"/>
          <a:chOff x="0" y="0"/>
          <a:chExt cx="0" cy="0"/>
        </a:xfrm>
      </p:grpSpPr>
      <p:sp>
        <p:nvSpPr>
          <p:cNvPr id="154" name="Google Shape;154;p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
        <p:nvSpPr>
          <p:cNvPr id="155" name="Google Shape;155;p27"/>
          <p:cNvSpPr txBox="1"/>
          <p:nvPr/>
        </p:nvSpPr>
        <p:spPr>
          <a:xfrm>
            <a:off x="0" y="4677225"/>
            <a:ext cx="9144000" cy="4662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GB" sz="2100">
                <a:solidFill>
                  <a:schemeClr val="lt1"/>
                </a:solidFill>
                <a:latin typeface="Oswald"/>
                <a:ea typeface="Oswald"/>
                <a:cs typeface="Oswald"/>
                <a:sym typeface="Oswald"/>
              </a:rPr>
              <a:t>Sprint 3 Plan</a:t>
            </a:r>
            <a:endParaRPr>
              <a:solidFill>
                <a:schemeClr val="lt1"/>
              </a:solidFil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rint 3 Screenshots">
  <p:cSld name="BLANK_1_1_2">
    <p:spTree>
      <p:nvGrpSpPr>
        <p:cNvPr id="156" name="Shape 156"/>
        <p:cNvGrpSpPr/>
        <p:nvPr/>
      </p:nvGrpSpPr>
      <p:grpSpPr>
        <a:xfrm>
          <a:off x="0" y="0"/>
          <a:ext cx="0" cy="0"/>
          <a:chOff x="0" y="0"/>
          <a:chExt cx="0" cy="0"/>
        </a:xfrm>
      </p:grpSpPr>
      <p:sp>
        <p:nvSpPr>
          <p:cNvPr id="157" name="Google Shape;157;p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
        <p:nvSpPr>
          <p:cNvPr id="158" name="Google Shape;158;p28"/>
          <p:cNvSpPr txBox="1"/>
          <p:nvPr/>
        </p:nvSpPr>
        <p:spPr>
          <a:xfrm>
            <a:off x="0" y="4677225"/>
            <a:ext cx="9144000" cy="4662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GB" sz="2100">
                <a:solidFill>
                  <a:schemeClr val="lt1"/>
                </a:solidFill>
                <a:latin typeface="Oswald"/>
                <a:ea typeface="Oswald"/>
                <a:cs typeface="Oswald"/>
                <a:sym typeface="Oswald"/>
              </a:rPr>
              <a:t>Sprint 3, Task # - Screenshots</a:t>
            </a:r>
            <a:endParaRPr>
              <a:solidFill>
                <a:schemeClr val="lt1"/>
              </a:solidFill>
            </a:endParaRPr>
          </a:p>
        </p:txBody>
      </p:sp>
      <p:sp>
        <p:nvSpPr>
          <p:cNvPr id="159" name="Google Shape;159;p28"/>
          <p:cNvSpPr txBox="1"/>
          <p:nvPr/>
        </p:nvSpPr>
        <p:spPr>
          <a:xfrm>
            <a:off x="9201150" y="767875"/>
            <a:ext cx="7688700" cy="309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800"/>
              <a:t>Include at least two screenshots of your TASK</a:t>
            </a:r>
            <a:endParaRPr b="1" sz="1800"/>
          </a:p>
          <a:p>
            <a:pPr indent="-342900" lvl="0" marL="457200" rtl="0" algn="l">
              <a:spcBef>
                <a:spcPts val="1000"/>
              </a:spcBef>
              <a:spcAft>
                <a:spcPts val="0"/>
              </a:spcAft>
              <a:buSzPts val="1800"/>
              <a:buChar char="●"/>
            </a:pPr>
            <a:r>
              <a:rPr lang="en-GB" sz="1800"/>
              <a:t>Beginning of task</a:t>
            </a:r>
            <a:endParaRPr sz="1800"/>
          </a:p>
          <a:p>
            <a:pPr indent="-342900" lvl="0" marL="457200" rtl="0" algn="l">
              <a:spcBef>
                <a:spcPts val="1000"/>
              </a:spcBef>
              <a:spcAft>
                <a:spcPts val="0"/>
              </a:spcAft>
              <a:buSzPts val="1800"/>
              <a:buChar char="●"/>
            </a:pPr>
            <a:r>
              <a:rPr lang="en-GB" sz="1800"/>
              <a:t>Middle of task</a:t>
            </a:r>
            <a:endParaRPr sz="1800"/>
          </a:p>
          <a:p>
            <a:pPr indent="-342900" lvl="0" marL="457200" rtl="0" algn="l">
              <a:spcBef>
                <a:spcPts val="1000"/>
              </a:spcBef>
              <a:spcAft>
                <a:spcPts val="0"/>
              </a:spcAft>
              <a:buSzPts val="1800"/>
              <a:buChar char="●"/>
            </a:pPr>
            <a:r>
              <a:rPr lang="en-GB" sz="1800"/>
              <a:t>End of task</a:t>
            </a:r>
            <a:endParaRPr sz="1800"/>
          </a:p>
          <a:p>
            <a:pPr indent="-342900" lvl="0" marL="457200" rtl="0" algn="l">
              <a:spcBef>
                <a:spcPts val="1000"/>
              </a:spcBef>
              <a:spcAft>
                <a:spcPts val="0"/>
              </a:spcAft>
              <a:buSzPts val="1800"/>
              <a:buChar char="●"/>
            </a:pPr>
            <a:r>
              <a:rPr lang="en-GB" sz="1800"/>
              <a:t>Trialling with End-Users</a:t>
            </a:r>
            <a:endParaRPr sz="1800"/>
          </a:p>
          <a:p>
            <a:pPr indent="-342900" lvl="0" marL="457200" rtl="0" algn="l">
              <a:spcBef>
                <a:spcPts val="1000"/>
              </a:spcBef>
              <a:spcAft>
                <a:spcPts val="0"/>
              </a:spcAft>
              <a:buSzPts val="1800"/>
              <a:buChar char="●"/>
            </a:pPr>
            <a:r>
              <a:rPr lang="en-GB" sz="1800"/>
              <a:t>Testing in class</a:t>
            </a:r>
            <a:endParaRPr sz="1800"/>
          </a:p>
          <a:p>
            <a:pPr indent="-342900" lvl="0" marL="457200" rtl="0" algn="l">
              <a:spcBef>
                <a:spcPts val="1000"/>
              </a:spcBef>
              <a:spcAft>
                <a:spcPts val="1000"/>
              </a:spcAft>
              <a:buSzPts val="1800"/>
              <a:buChar char="●"/>
            </a:pPr>
            <a:r>
              <a:rPr lang="en-GB" sz="1800"/>
              <a:t>Alterations from feedback </a:t>
            </a:r>
            <a:endParaRPr sz="1800"/>
          </a:p>
        </p:txBody>
      </p:sp>
      <p:sp>
        <p:nvSpPr>
          <p:cNvPr id="160" name="Google Shape;160;p28"/>
          <p:cNvSpPr txBox="1"/>
          <p:nvPr/>
        </p:nvSpPr>
        <p:spPr>
          <a:xfrm rot="-5400000">
            <a:off x="6674425" y="2151175"/>
            <a:ext cx="4667100" cy="333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solidFill>
                  <a:schemeClr val="dk2"/>
                </a:solidFill>
                <a:latin typeface="Source Code Pro"/>
                <a:ea typeface="Source Code Pro"/>
                <a:cs typeface="Source Code Pro"/>
                <a:sym typeface="Source Code Pro"/>
              </a:rPr>
              <a:t>Pan right for Instructions</a:t>
            </a:r>
            <a:endParaRPr sz="1800">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rint 4 Plan">
  <p:cSld name="BLANK_1_1_1">
    <p:spTree>
      <p:nvGrpSpPr>
        <p:cNvPr id="161" name="Shape 161"/>
        <p:cNvGrpSpPr/>
        <p:nvPr/>
      </p:nvGrpSpPr>
      <p:grpSpPr>
        <a:xfrm>
          <a:off x="0" y="0"/>
          <a:ext cx="0" cy="0"/>
          <a:chOff x="0" y="0"/>
          <a:chExt cx="0" cy="0"/>
        </a:xfrm>
      </p:grpSpPr>
      <p:sp>
        <p:nvSpPr>
          <p:cNvPr id="162" name="Google Shape;162;p2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
        <p:nvSpPr>
          <p:cNvPr id="163" name="Google Shape;163;p29"/>
          <p:cNvSpPr txBox="1"/>
          <p:nvPr/>
        </p:nvSpPr>
        <p:spPr>
          <a:xfrm>
            <a:off x="0" y="4677225"/>
            <a:ext cx="9144000" cy="4662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GB" sz="2100">
                <a:solidFill>
                  <a:schemeClr val="lt1"/>
                </a:solidFill>
                <a:latin typeface="Oswald"/>
                <a:ea typeface="Oswald"/>
                <a:cs typeface="Oswald"/>
                <a:sym typeface="Oswald"/>
              </a:rPr>
              <a:t>Sprint 4 Plan</a:t>
            </a:r>
            <a:endParaRPr>
              <a:solidFill>
                <a:schemeClr val="lt1"/>
              </a:solidFill>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rint 4 Screenshots">
  <p:cSld name="BLANK_1_1_1_1">
    <p:spTree>
      <p:nvGrpSpPr>
        <p:cNvPr id="164" name="Shape 164"/>
        <p:cNvGrpSpPr/>
        <p:nvPr/>
      </p:nvGrpSpPr>
      <p:grpSpPr>
        <a:xfrm>
          <a:off x="0" y="0"/>
          <a:ext cx="0" cy="0"/>
          <a:chOff x="0" y="0"/>
          <a:chExt cx="0" cy="0"/>
        </a:xfrm>
      </p:grpSpPr>
      <p:sp>
        <p:nvSpPr>
          <p:cNvPr id="165" name="Google Shape;165;p3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
        <p:nvSpPr>
          <p:cNvPr id="166" name="Google Shape;166;p30"/>
          <p:cNvSpPr txBox="1"/>
          <p:nvPr/>
        </p:nvSpPr>
        <p:spPr>
          <a:xfrm>
            <a:off x="0" y="4677225"/>
            <a:ext cx="9144000" cy="4662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GB" sz="2100">
                <a:solidFill>
                  <a:schemeClr val="lt1"/>
                </a:solidFill>
                <a:latin typeface="Oswald"/>
                <a:ea typeface="Oswald"/>
                <a:cs typeface="Oswald"/>
                <a:sym typeface="Oswald"/>
              </a:rPr>
              <a:t>Sprint 4, Task # - Screenshots</a:t>
            </a:r>
            <a:endParaRPr sz="2100">
              <a:solidFill>
                <a:schemeClr val="lt1"/>
              </a:solidFill>
              <a:latin typeface="Oswald"/>
              <a:ea typeface="Oswald"/>
              <a:cs typeface="Oswald"/>
              <a:sym typeface="Oswald"/>
            </a:endParaRPr>
          </a:p>
        </p:txBody>
      </p:sp>
      <p:sp>
        <p:nvSpPr>
          <p:cNvPr id="167" name="Google Shape;167;p30"/>
          <p:cNvSpPr txBox="1"/>
          <p:nvPr/>
        </p:nvSpPr>
        <p:spPr>
          <a:xfrm>
            <a:off x="9201150" y="767875"/>
            <a:ext cx="7688700" cy="309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800"/>
              <a:t>Include at least two screenshots of your TASK</a:t>
            </a:r>
            <a:endParaRPr b="1" sz="1800"/>
          </a:p>
          <a:p>
            <a:pPr indent="-342900" lvl="0" marL="457200" rtl="0" algn="l">
              <a:spcBef>
                <a:spcPts val="1000"/>
              </a:spcBef>
              <a:spcAft>
                <a:spcPts val="0"/>
              </a:spcAft>
              <a:buSzPts val="1800"/>
              <a:buChar char="●"/>
            </a:pPr>
            <a:r>
              <a:rPr lang="en-GB" sz="1800"/>
              <a:t>Beginning of task</a:t>
            </a:r>
            <a:endParaRPr sz="1800"/>
          </a:p>
          <a:p>
            <a:pPr indent="-342900" lvl="0" marL="457200" rtl="0" algn="l">
              <a:spcBef>
                <a:spcPts val="1000"/>
              </a:spcBef>
              <a:spcAft>
                <a:spcPts val="0"/>
              </a:spcAft>
              <a:buSzPts val="1800"/>
              <a:buChar char="●"/>
            </a:pPr>
            <a:r>
              <a:rPr lang="en-GB" sz="1800"/>
              <a:t>Middle of task</a:t>
            </a:r>
            <a:endParaRPr sz="1800"/>
          </a:p>
          <a:p>
            <a:pPr indent="-342900" lvl="0" marL="457200" rtl="0" algn="l">
              <a:spcBef>
                <a:spcPts val="1000"/>
              </a:spcBef>
              <a:spcAft>
                <a:spcPts val="0"/>
              </a:spcAft>
              <a:buSzPts val="1800"/>
              <a:buChar char="●"/>
            </a:pPr>
            <a:r>
              <a:rPr lang="en-GB" sz="1800"/>
              <a:t>End of task</a:t>
            </a:r>
            <a:endParaRPr sz="1800"/>
          </a:p>
          <a:p>
            <a:pPr indent="-342900" lvl="0" marL="457200" rtl="0" algn="l">
              <a:spcBef>
                <a:spcPts val="1000"/>
              </a:spcBef>
              <a:spcAft>
                <a:spcPts val="0"/>
              </a:spcAft>
              <a:buSzPts val="1800"/>
              <a:buChar char="●"/>
            </a:pPr>
            <a:r>
              <a:rPr lang="en-GB" sz="1800"/>
              <a:t>Trialling with End-Users</a:t>
            </a:r>
            <a:endParaRPr sz="1800"/>
          </a:p>
          <a:p>
            <a:pPr indent="-342900" lvl="0" marL="457200" rtl="0" algn="l">
              <a:spcBef>
                <a:spcPts val="1000"/>
              </a:spcBef>
              <a:spcAft>
                <a:spcPts val="0"/>
              </a:spcAft>
              <a:buSzPts val="1800"/>
              <a:buChar char="●"/>
            </a:pPr>
            <a:r>
              <a:rPr lang="en-GB" sz="1800"/>
              <a:t>Testing in class</a:t>
            </a:r>
            <a:endParaRPr sz="1800"/>
          </a:p>
          <a:p>
            <a:pPr indent="-342900" lvl="0" marL="457200" rtl="0" algn="l">
              <a:spcBef>
                <a:spcPts val="1000"/>
              </a:spcBef>
              <a:spcAft>
                <a:spcPts val="1000"/>
              </a:spcAft>
              <a:buSzPts val="1800"/>
              <a:buChar char="●"/>
            </a:pPr>
            <a:r>
              <a:rPr lang="en-GB" sz="1800"/>
              <a:t>Alterations from feedback </a:t>
            </a:r>
            <a:endParaRPr sz="1800"/>
          </a:p>
        </p:txBody>
      </p:sp>
      <p:sp>
        <p:nvSpPr>
          <p:cNvPr id="168" name="Google Shape;168;p30"/>
          <p:cNvSpPr txBox="1"/>
          <p:nvPr/>
        </p:nvSpPr>
        <p:spPr>
          <a:xfrm rot="-5400000">
            <a:off x="6674425" y="2151175"/>
            <a:ext cx="4667100" cy="333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solidFill>
                  <a:schemeClr val="dk2"/>
                </a:solidFill>
                <a:latin typeface="Source Code Pro"/>
                <a:ea typeface="Source Code Pro"/>
                <a:cs typeface="Source Code Pro"/>
                <a:sym typeface="Source Code Pro"/>
              </a:rPr>
              <a:t>Pan right for Instructions</a:t>
            </a:r>
            <a:endParaRPr sz="1800">
              <a:solidFill>
                <a:schemeClr val="dk2"/>
              </a:solidFill>
              <a:latin typeface="Source Code Pro"/>
              <a:ea typeface="Source Code Pro"/>
              <a:cs typeface="Source Code Pro"/>
              <a:sym typeface="Source Code Pro"/>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odern-writer">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372500"/>
            <a:ext cx="8520600" cy="733500"/>
          </a:xfrm>
          <a:prstGeom prst="rect">
            <a:avLst/>
          </a:prstGeom>
          <a:noFill/>
          <a:ln>
            <a:noFill/>
          </a:ln>
        </p:spPr>
        <p:txBody>
          <a:bodyPr anchorCtr="0" anchor="b" bIns="91425" lIns="91425" spcFirstLastPara="1" rIns="91425" wrap="square" tIns="91425">
            <a:normAutofit/>
          </a:bodyPr>
          <a:lstStyle>
            <a:lvl1pPr lvl="0">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1pPr>
            <a:lvl2pPr lvl="1">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2pPr>
            <a:lvl3pPr lvl="2">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3pPr>
            <a:lvl4pPr lvl="3">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4pPr>
            <a:lvl5pPr lvl="4">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5pPr>
            <a:lvl6pPr lvl="5">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6pPr>
            <a:lvl7pPr lvl="6">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7pPr>
            <a:lvl8pPr lvl="7">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8pPr>
            <a:lvl9pPr lvl="8">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9pPr>
          </a:lstStyle>
          <a:p/>
        </p:txBody>
      </p:sp>
      <p:sp>
        <p:nvSpPr>
          <p:cNvPr id="7" name="Google Shape;7;p1"/>
          <p:cNvSpPr txBox="1"/>
          <p:nvPr>
            <p:ph idx="1" type="body"/>
          </p:nvPr>
        </p:nvSpPr>
        <p:spPr>
          <a:xfrm>
            <a:off x="311700" y="1468825"/>
            <a:ext cx="8520600" cy="30999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Source Code Pro"/>
              <a:buChar char="●"/>
              <a:defRPr sz="1800">
                <a:solidFill>
                  <a:schemeClr val="dk2"/>
                </a:solidFill>
                <a:latin typeface="Source Code Pro"/>
                <a:ea typeface="Source Code Pro"/>
                <a:cs typeface="Source Code Pro"/>
                <a:sym typeface="Source Code Pro"/>
              </a:defRPr>
            </a:lvl1pPr>
            <a:lvl2pPr indent="-317500" lvl="1" marL="9144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2pPr>
            <a:lvl3pPr indent="-317500" lvl="2" marL="13716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3pPr>
            <a:lvl4pPr indent="-317500" lvl="3" marL="18288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4pPr>
            <a:lvl5pPr indent="-317500" lvl="4" marL="22860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5pPr>
            <a:lvl6pPr indent="-317500" lvl="5" marL="27432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6pPr>
            <a:lvl7pPr indent="-317500" lvl="6" marL="32004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7pPr>
            <a:lvl8pPr indent="-317500" lvl="7" marL="36576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8pPr>
            <a:lvl9pPr indent="-317500" lvl="8" marL="41148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Source Code Pro"/>
                <a:ea typeface="Source Code Pro"/>
                <a:cs typeface="Source Code Pro"/>
                <a:sym typeface="Source Code Pro"/>
              </a:defRPr>
            </a:lvl1pPr>
            <a:lvl2pPr lvl="1" algn="r">
              <a:buNone/>
              <a:defRPr sz="1000">
                <a:solidFill>
                  <a:schemeClr val="dk2"/>
                </a:solidFill>
                <a:latin typeface="Source Code Pro"/>
                <a:ea typeface="Source Code Pro"/>
                <a:cs typeface="Source Code Pro"/>
                <a:sym typeface="Source Code Pro"/>
              </a:defRPr>
            </a:lvl2pPr>
            <a:lvl3pPr lvl="2" algn="r">
              <a:buNone/>
              <a:defRPr sz="1000">
                <a:solidFill>
                  <a:schemeClr val="dk2"/>
                </a:solidFill>
                <a:latin typeface="Source Code Pro"/>
                <a:ea typeface="Source Code Pro"/>
                <a:cs typeface="Source Code Pro"/>
                <a:sym typeface="Source Code Pro"/>
              </a:defRPr>
            </a:lvl3pPr>
            <a:lvl4pPr lvl="3" algn="r">
              <a:buNone/>
              <a:defRPr sz="1000">
                <a:solidFill>
                  <a:schemeClr val="dk2"/>
                </a:solidFill>
                <a:latin typeface="Source Code Pro"/>
                <a:ea typeface="Source Code Pro"/>
                <a:cs typeface="Source Code Pro"/>
                <a:sym typeface="Source Code Pro"/>
              </a:defRPr>
            </a:lvl4pPr>
            <a:lvl5pPr lvl="4" algn="r">
              <a:buNone/>
              <a:defRPr sz="1000">
                <a:solidFill>
                  <a:schemeClr val="dk2"/>
                </a:solidFill>
                <a:latin typeface="Source Code Pro"/>
                <a:ea typeface="Source Code Pro"/>
                <a:cs typeface="Source Code Pro"/>
                <a:sym typeface="Source Code Pro"/>
              </a:defRPr>
            </a:lvl5pPr>
            <a:lvl6pPr lvl="5" algn="r">
              <a:buNone/>
              <a:defRPr sz="1000">
                <a:solidFill>
                  <a:schemeClr val="dk2"/>
                </a:solidFill>
                <a:latin typeface="Source Code Pro"/>
                <a:ea typeface="Source Code Pro"/>
                <a:cs typeface="Source Code Pro"/>
                <a:sym typeface="Source Code Pro"/>
              </a:defRPr>
            </a:lvl6pPr>
            <a:lvl7pPr lvl="6" algn="r">
              <a:buNone/>
              <a:defRPr sz="1000">
                <a:solidFill>
                  <a:schemeClr val="dk2"/>
                </a:solidFill>
                <a:latin typeface="Source Code Pro"/>
                <a:ea typeface="Source Code Pro"/>
                <a:cs typeface="Source Code Pro"/>
                <a:sym typeface="Source Code Pro"/>
              </a:defRPr>
            </a:lvl7pPr>
            <a:lvl8pPr lvl="7" algn="r">
              <a:buNone/>
              <a:defRPr sz="1000">
                <a:solidFill>
                  <a:schemeClr val="dk2"/>
                </a:solidFill>
                <a:latin typeface="Source Code Pro"/>
                <a:ea typeface="Source Code Pro"/>
                <a:cs typeface="Source Code Pro"/>
                <a:sym typeface="Source Code Pro"/>
              </a:defRPr>
            </a:lvl8pPr>
            <a:lvl9pPr lvl="8" algn="r">
              <a:buNone/>
              <a:defRPr sz="1000">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docs.google.com/document/d/1dQS33YoWi6Dv-do_JgyistE7rM2D67PXh_FO6lOqSnc/edit?usp=classroom_web&amp;authuser=0"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xml"/><Relationship Id="rId3" Type="http://schemas.openxmlformats.org/officeDocument/2006/relationships/slide" Target="slide3.xml"/><Relationship Id="rId4" Type="http://schemas.openxmlformats.org/officeDocument/2006/relationships/slide" Target="slide4.xml"/><Relationship Id="rId5" Type="http://schemas.openxmlformats.org/officeDocument/2006/relationships/slide" Target="slide5.xml"/><Relationship Id="rId6" Type="http://schemas.openxmlformats.org/officeDocument/2006/relationships/slide" Target="slide8.xml"/><Relationship Id="rId7" Type="http://schemas.openxmlformats.org/officeDocument/2006/relationships/slide" Target="slide12.xml"/><Relationship Id="rId8" Type="http://schemas.openxmlformats.org/officeDocument/2006/relationships/slide" Target="slide21.xml"/><Relationship Id="rId9" Type="http://schemas.openxmlformats.org/officeDocument/2006/relationships/slide" Target="slide26.xml"/><Relationship Id="rId10" Type="http://schemas.openxmlformats.org/officeDocument/2006/relationships/slide" Target="slide31.xml"/><Relationship Id="rId11" Type="http://schemas.openxmlformats.org/officeDocument/2006/relationships/slide" Target="slide36.xml"/><Relationship Id="rId12" Type="http://schemas.openxmlformats.org/officeDocument/2006/relationships/slide" Target="slide39.xml"/><Relationship Id="rId13" Type="http://schemas.openxmlformats.org/officeDocument/2006/relationships/slide" Target="slide4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xml"/><Relationship Id="rId3" Type="http://schemas.openxmlformats.org/officeDocument/2006/relationships/hyperlink" Target="https://blog.crisp.se/2016/01/25/henrikkniberg/making-sense-of-mvp" TargetMode="Externa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4.xml"/><Relationship Id="rId3" Type="http://schemas.openxmlformats.org/officeDocument/2006/relationships/slide" Target="slide12.xml"/><Relationship Id="rId4" Type="http://schemas.openxmlformats.org/officeDocument/2006/relationships/slide" Target="slide21.xml"/><Relationship Id="rId5" Type="http://schemas.openxmlformats.org/officeDocument/2006/relationships/slide" Target="slide21.xml"/><Relationship Id="rId6" Type="http://schemas.openxmlformats.org/officeDocument/2006/relationships/slide" Target="slide21.xml"/><Relationship Id="rId7" Type="http://schemas.openxmlformats.org/officeDocument/2006/relationships/slide" Target="slide26.xml"/><Relationship Id="rId8" Type="http://schemas.openxmlformats.org/officeDocument/2006/relationships/slide" Target="slide26.xml"/><Relationship Id="rId9" Type="http://schemas.openxmlformats.org/officeDocument/2006/relationships/slide" Target="slide26.xml"/><Relationship Id="rId10" Type="http://schemas.openxmlformats.org/officeDocument/2006/relationships/slide" Target="slide31.xml"/><Relationship Id="rId11" Type="http://schemas.openxmlformats.org/officeDocument/2006/relationships/slide" Target="slide31.xml"/><Relationship Id="rId12" Type="http://schemas.openxmlformats.org/officeDocument/2006/relationships/slide" Target="slide3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5.xml"/><Relationship Id="rId3" Type="http://schemas.openxmlformats.org/officeDocument/2006/relationships/hyperlink" Target="https://github.com/users/Shist1145/projects/5" TargetMode="External"/><Relationship Id="rId4" Type="http://schemas.openxmlformats.org/officeDocument/2006/relationships/hyperlink" Target="https://github.com/Shist1145/StevenShi-Year12-Project" TargetMode="External"/><Relationship Id="rId5" Type="http://schemas.openxmlformats.org/officeDocument/2006/relationships/hyperlink" Target="https://gemini.google.com/app/ab29350c920b47e7"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8.xml"/><Relationship Id="rId3" Type="http://schemas.openxmlformats.org/officeDocument/2006/relationships/hyperlink" Target="https://drive.google.com/file/d/19-EM3IA7UwMH-Jvjz0TJz3fS3VWXTT_p/view?usp=classroom_web&amp;authuser=0"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5.xml"/><Relationship Id="rId3" Type="http://schemas.openxmlformats.org/officeDocument/2006/relationships/image" Target="../media/image6.png"/><Relationship Id="rId4" Type="http://schemas.openxmlformats.org/officeDocument/2006/relationships/image" Target="../media/image13.png"/><Relationship Id="rId5" Type="http://schemas.openxmlformats.org/officeDocument/2006/relationships/image" Target="../media/image3.png"/><Relationship Id="rId6" Type="http://schemas.openxmlformats.org/officeDocument/2006/relationships/image" Target="../media/image2.png"/><Relationship Id="rId7"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7.xml"/><Relationship Id="rId3" Type="http://schemas.openxmlformats.org/officeDocument/2006/relationships/image" Target="../media/image4.png"/><Relationship Id="rId4" Type="http://schemas.openxmlformats.org/officeDocument/2006/relationships/image" Target="../media/image12.png"/><Relationship Id="rId5" Type="http://schemas.openxmlformats.org/officeDocument/2006/relationships/image" Target="../media/image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8.xml"/><Relationship Id="rId3" Type="http://schemas.openxmlformats.org/officeDocument/2006/relationships/image" Target="../media/image5.png"/><Relationship Id="rId4" Type="http://schemas.openxmlformats.org/officeDocument/2006/relationships/image" Target="../media/image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9.xml"/><Relationship Id="rId3" Type="http://schemas.openxmlformats.org/officeDocument/2006/relationships/image" Target="../media/image1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2.xml"/><Relationship Id="rId3" Type="http://schemas.openxmlformats.org/officeDocument/2006/relationships/image" Target="../media/image10.png"/><Relationship Id="rId4" Type="http://schemas.openxmlformats.org/officeDocument/2006/relationships/image" Target="../media/image1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4.xml"/><Relationship Id="rId3" Type="http://schemas.openxmlformats.org/officeDocument/2006/relationships/image" Target="../media/image1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7.xml"/><Relationship Id="rId3" Type="http://schemas.openxmlformats.org/officeDocument/2006/relationships/hyperlink" Target="https://docs.google.com/document/d/1vkdC1C8fGgoAQ_eWVRO5WCDicFMs8mOI-eGVUBkf1BQ/edit?tab=t.0#bookmark=kix.okoey5bjcrlq"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41.xml"/><Relationship Id="rId3" Type="http://schemas.openxmlformats.org/officeDocument/2006/relationships/hyperlink" Target="https://docs.google.com/document/d/1brcihsg_1OPMouDgqEQVOU7Xqh6JNvK__ya9dL_dVs0/edit?usp=sharing"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43.xml"/><Relationship Id="rId3" Type="http://schemas.openxmlformats.org/officeDocument/2006/relationships/slide" Target="slide44.xml"/><Relationship Id="rId4" Type="http://schemas.openxmlformats.org/officeDocument/2006/relationships/slide" Target="slide45.xml"/><Relationship Id="rId5" Type="http://schemas.openxmlformats.org/officeDocument/2006/relationships/slide" Target="slide4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4.xml"/><Relationship Id="rId3" Type="http://schemas.openxmlformats.org/officeDocument/2006/relationships/hyperlink" Target="https://www.nzqa.govt.nz/nqfdocs/ncea-resource/achievements/2019/as91893.pdf"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5.xml"/><Relationship Id="rId3" Type="http://schemas.openxmlformats.org/officeDocument/2006/relationships/hyperlink" Target="https://www.nzqa.govt.nz/nqfdocs/ncea-resource/achievements/2024/as91896.pdf"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6.xml"/><Relationship Id="rId3" Type="http://schemas.openxmlformats.org/officeDocument/2006/relationships/hyperlink" Target="https://www.nzqa.govt.nz/nqfdocs/ncea-resource/achievements/2019/as91897.pdf"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31"/>
          <p:cNvSpPr txBox="1"/>
          <p:nvPr>
            <p:ph type="ctrTitle"/>
          </p:nvPr>
        </p:nvSpPr>
        <p:spPr>
          <a:xfrm>
            <a:off x="411175" y="644300"/>
            <a:ext cx="8282400" cy="21090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GB"/>
              <a:t>12TDG Portfolio</a:t>
            </a:r>
            <a:endParaRPr/>
          </a:p>
          <a:p>
            <a:pPr indent="0" lvl="0" marL="0" rtl="0" algn="ctr">
              <a:spcBef>
                <a:spcPts val="0"/>
              </a:spcBef>
              <a:spcAft>
                <a:spcPts val="0"/>
              </a:spcAft>
              <a:buNone/>
            </a:pPr>
            <a:r>
              <a:rPr lang="en-GB" sz="3800"/>
              <a:t>Project Planning &amp; Development</a:t>
            </a:r>
            <a:endParaRPr sz="3800"/>
          </a:p>
        </p:txBody>
      </p:sp>
      <p:sp>
        <p:nvSpPr>
          <p:cNvPr id="174" name="Google Shape;174;p31"/>
          <p:cNvSpPr txBox="1"/>
          <p:nvPr>
            <p:ph idx="1" type="subTitle"/>
          </p:nvPr>
        </p:nvSpPr>
        <p:spPr>
          <a:xfrm>
            <a:off x="411175" y="3169650"/>
            <a:ext cx="8282400" cy="12606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GB" sz="2900"/>
              <a:t>For internal: </a:t>
            </a:r>
            <a:r>
              <a:rPr lang="en-GB" sz="2900" u="sng">
                <a:solidFill>
                  <a:schemeClr val="hlink"/>
                </a:solidFill>
                <a:hlinkClick r:id="rId3"/>
              </a:rPr>
              <a:t>My Inquiry Project</a:t>
            </a:r>
            <a:endParaRPr sz="2900"/>
          </a:p>
        </p:txBody>
      </p:sp>
      <p:sp>
        <p:nvSpPr>
          <p:cNvPr id="175" name="Google Shape;175;p31"/>
          <p:cNvSpPr txBox="1"/>
          <p:nvPr>
            <p:ph idx="1" type="subTitle"/>
          </p:nvPr>
        </p:nvSpPr>
        <p:spPr>
          <a:xfrm>
            <a:off x="1577525" y="4214575"/>
            <a:ext cx="5949900" cy="802800"/>
          </a:xfrm>
          <a:prstGeom prst="rect">
            <a:avLst/>
          </a:prstGeom>
          <a:ln cap="flat" cmpd="sng" w="9525">
            <a:solidFill>
              <a:schemeClr val="dk2"/>
            </a:solidFill>
            <a:prstDash val="solid"/>
            <a:round/>
            <a:headEnd len="sm" w="sm" type="none"/>
            <a:tailEnd len="sm" w="sm" type="none"/>
          </a:ln>
        </p:spPr>
        <p:txBody>
          <a:bodyPr anchorCtr="0" anchor="ctr" bIns="91425" lIns="91425" spcFirstLastPara="1" rIns="91425" wrap="square" tIns="91425">
            <a:normAutofit/>
          </a:bodyPr>
          <a:lstStyle/>
          <a:p>
            <a:pPr indent="0" lvl="0" marL="0" rtl="0" algn="l">
              <a:spcBef>
                <a:spcPts val="0"/>
              </a:spcBef>
              <a:spcAft>
                <a:spcPts val="0"/>
              </a:spcAft>
              <a:buNone/>
            </a:pPr>
            <a:r>
              <a:rPr lang="en-GB" sz="1800"/>
              <a:t>Other team members (if any): </a:t>
            </a:r>
            <a:endParaRPr sz="18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32"/>
          <p:cNvSpPr txBox="1"/>
          <p:nvPr>
            <p:ph type="title"/>
          </p:nvPr>
        </p:nvSpPr>
        <p:spPr>
          <a:xfrm>
            <a:off x="265500" y="1078750"/>
            <a:ext cx="4045200" cy="17892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GB"/>
              <a:t>Contents</a:t>
            </a:r>
            <a:endParaRPr/>
          </a:p>
        </p:txBody>
      </p:sp>
      <p:sp>
        <p:nvSpPr>
          <p:cNvPr id="181" name="Google Shape;181;p32"/>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fontScale="77500" lnSpcReduction="10000"/>
          </a:bodyPr>
          <a:lstStyle/>
          <a:p>
            <a:pPr indent="-317183" lvl="0" marL="457200" rtl="0" algn="l">
              <a:spcBef>
                <a:spcPts val="0"/>
              </a:spcBef>
              <a:spcAft>
                <a:spcPts val="0"/>
              </a:spcAft>
              <a:buSzPct val="100000"/>
              <a:buAutoNum type="arabicPeriod"/>
            </a:pPr>
            <a:r>
              <a:rPr lang="en-GB" u="sng">
                <a:solidFill>
                  <a:schemeClr val="hlink"/>
                </a:solidFill>
                <a:hlinkClick action="ppaction://hlinksldjump" r:id="rId3"/>
              </a:rPr>
              <a:t>Your MVP</a:t>
            </a:r>
            <a:endParaRPr/>
          </a:p>
          <a:p>
            <a:pPr indent="-317183" lvl="0" marL="457200" rtl="0" algn="l">
              <a:spcBef>
                <a:spcPts val="1000"/>
              </a:spcBef>
              <a:spcAft>
                <a:spcPts val="0"/>
              </a:spcAft>
              <a:buSzPct val="100000"/>
              <a:buAutoNum type="arabicPeriod"/>
            </a:pPr>
            <a:r>
              <a:rPr lang="en-GB" u="sng">
                <a:solidFill>
                  <a:schemeClr val="hlink"/>
                </a:solidFill>
                <a:hlinkClick action="ppaction://hlinksldjump" r:id="rId4"/>
              </a:rPr>
              <a:t>Project Reminders: Due Dates</a:t>
            </a:r>
            <a:endParaRPr/>
          </a:p>
          <a:p>
            <a:pPr indent="-317183" lvl="0" marL="457200" rtl="0" algn="l">
              <a:spcBef>
                <a:spcPts val="1000"/>
              </a:spcBef>
              <a:spcAft>
                <a:spcPts val="0"/>
              </a:spcAft>
              <a:buSzPct val="100000"/>
              <a:buAutoNum type="arabicPeriod"/>
            </a:pPr>
            <a:r>
              <a:rPr lang="en-GB" u="sng">
                <a:solidFill>
                  <a:schemeClr val="hlink"/>
                </a:solidFill>
                <a:hlinkClick action="ppaction://hlinksldjump" r:id="rId5"/>
              </a:rPr>
              <a:t>Project plan</a:t>
            </a:r>
            <a:endParaRPr/>
          </a:p>
          <a:p>
            <a:pPr indent="-317183" lvl="0" marL="457200" rtl="0" algn="l">
              <a:spcBef>
                <a:spcPts val="1000"/>
              </a:spcBef>
              <a:spcAft>
                <a:spcPts val="0"/>
              </a:spcAft>
              <a:buSzPct val="100000"/>
              <a:buAutoNum type="arabicPeriod"/>
            </a:pPr>
            <a:r>
              <a:rPr lang="en-GB" u="sng">
                <a:solidFill>
                  <a:schemeClr val="hlink"/>
                </a:solidFill>
                <a:hlinkClick action="ppaction://hlinksldjump" r:id="rId6"/>
              </a:rPr>
              <a:t>Project implications</a:t>
            </a:r>
            <a:endParaRPr/>
          </a:p>
          <a:p>
            <a:pPr indent="-317183" lvl="0" marL="457200" rtl="0" algn="l">
              <a:spcBef>
                <a:spcPts val="1000"/>
              </a:spcBef>
              <a:spcAft>
                <a:spcPts val="0"/>
              </a:spcAft>
              <a:buSzPct val="100000"/>
              <a:buAutoNum type="arabicPeriod"/>
            </a:pPr>
            <a:r>
              <a:rPr b="1" lang="en-GB"/>
              <a:t>Sprint Plans</a:t>
            </a:r>
            <a:endParaRPr b="1"/>
          </a:p>
          <a:p>
            <a:pPr indent="457200" lvl="0" marL="457200" rtl="0" algn="l">
              <a:spcBef>
                <a:spcPts val="1000"/>
              </a:spcBef>
              <a:spcAft>
                <a:spcPts val="0"/>
              </a:spcAft>
              <a:buNone/>
            </a:pPr>
            <a:r>
              <a:rPr lang="en-GB" u="sng">
                <a:solidFill>
                  <a:schemeClr val="hlink"/>
                </a:solidFill>
                <a:hlinkClick action="ppaction://hlinksldjump" r:id="rId7"/>
              </a:rPr>
              <a:t>Sprint 1</a:t>
            </a:r>
            <a:r>
              <a:rPr lang="en-GB"/>
              <a:t>		</a:t>
            </a:r>
            <a:r>
              <a:rPr lang="en-GB" u="sng">
                <a:solidFill>
                  <a:schemeClr val="hlink"/>
                </a:solidFill>
                <a:hlinkClick action="ppaction://hlinksldjump" r:id="rId8"/>
              </a:rPr>
              <a:t>Sprint 2</a:t>
            </a:r>
            <a:endParaRPr/>
          </a:p>
          <a:p>
            <a:pPr indent="457200" lvl="0" marL="457200" rtl="0" algn="l">
              <a:spcBef>
                <a:spcPts val="1000"/>
              </a:spcBef>
              <a:spcAft>
                <a:spcPts val="0"/>
              </a:spcAft>
              <a:buNone/>
            </a:pPr>
            <a:r>
              <a:rPr lang="en-GB" u="sng">
                <a:solidFill>
                  <a:schemeClr val="hlink"/>
                </a:solidFill>
                <a:hlinkClick action="ppaction://hlinksldjump" r:id="rId9"/>
              </a:rPr>
              <a:t>Sprint 3</a:t>
            </a:r>
            <a:r>
              <a:rPr lang="en-GB"/>
              <a:t>		</a:t>
            </a:r>
            <a:r>
              <a:rPr lang="en-GB" u="sng">
                <a:solidFill>
                  <a:schemeClr val="hlink"/>
                </a:solidFill>
                <a:hlinkClick action="ppaction://hlinksldjump" r:id="rId10"/>
              </a:rPr>
              <a:t>Sprint 4</a:t>
            </a:r>
            <a:endParaRPr/>
          </a:p>
          <a:p>
            <a:pPr indent="-317183" lvl="0" marL="457200" rtl="0" algn="l">
              <a:spcBef>
                <a:spcPts val="1000"/>
              </a:spcBef>
              <a:spcAft>
                <a:spcPts val="0"/>
              </a:spcAft>
              <a:buSzPct val="100000"/>
              <a:buAutoNum type="arabicPeriod"/>
            </a:pPr>
            <a:r>
              <a:rPr lang="en-GB" u="sng">
                <a:solidFill>
                  <a:schemeClr val="hlink"/>
                </a:solidFill>
                <a:hlinkClick action="ppaction://hlinksldjump" r:id="rId11"/>
              </a:rPr>
              <a:t>Project Evaluation</a:t>
            </a:r>
            <a:endParaRPr/>
          </a:p>
          <a:p>
            <a:pPr indent="-317183" lvl="0" marL="457200" rtl="0" algn="l">
              <a:spcBef>
                <a:spcPts val="1000"/>
              </a:spcBef>
              <a:spcAft>
                <a:spcPts val="0"/>
              </a:spcAft>
              <a:buSzPct val="100000"/>
              <a:buAutoNum type="arabicPeriod"/>
            </a:pPr>
            <a:r>
              <a:rPr lang="en-GB" u="sng">
                <a:solidFill>
                  <a:schemeClr val="hlink"/>
                </a:solidFill>
                <a:hlinkClick action="ppaction://hlinksldjump" r:id="rId12"/>
              </a:rPr>
              <a:t>Your Final Outcome</a:t>
            </a:r>
            <a:endParaRPr/>
          </a:p>
          <a:p>
            <a:pPr indent="-317183" lvl="0" marL="457200" rtl="0" algn="l">
              <a:spcBef>
                <a:spcPts val="1000"/>
              </a:spcBef>
              <a:spcAft>
                <a:spcPts val="1000"/>
              </a:spcAft>
              <a:buSzPct val="100000"/>
              <a:buAutoNum type="arabicPeriod"/>
            </a:pPr>
            <a:r>
              <a:rPr lang="en-GB" u="sng">
                <a:solidFill>
                  <a:schemeClr val="hlink"/>
                </a:solidFill>
                <a:hlinkClick action="ppaction://hlinksldjump" r:id="rId13"/>
              </a:rPr>
              <a:t>Self-checklist</a:t>
            </a:r>
            <a:endParaRPr/>
          </a:p>
        </p:txBody>
      </p:sp>
      <p:sp>
        <p:nvSpPr>
          <p:cNvPr id="182" name="Google Shape;182;p32"/>
          <p:cNvSpPr txBox="1"/>
          <p:nvPr>
            <p:ph idx="1" type="subTitle"/>
          </p:nvPr>
        </p:nvSpPr>
        <p:spPr>
          <a:xfrm>
            <a:off x="265500" y="2921401"/>
            <a:ext cx="4045200" cy="13455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GB"/>
              <a:t>What you will find inside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33"/>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Building The MVP: You</a:t>
            </a:r>
            <a:r>
              <a:rPr lang="en-GB"/>
              <a:t>r</a:t>
            </a:r>
            <a:r>
              <a:rPr lang="en-GB"/>
              <a:t> Minimum Viable Product</a:t>
            </a:r>
            <a:endParaRPr/>
          </a:p>
        </p:txBody>
      </p:sp>
      <p:sp>
        <p:nvSpPr>
          <p:cNvPr id="188" name="Google Shape;188;p33"/>
          <p:cNvSpPr txBox="1"/>
          <p:nvPr>
            <p:ph idx="4294967295" type="body"/>
          </p:nvPr>
        </p:nvSpPr>
        <p:spPr>
          <a:xfrm>
            <a:off x="5997775" y="1121475"/>
            <a:ext cx="2834400" cy="3780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sz="1300"/>
              <a:t>Sprint development helps us to: </a:t>
            </a:r>
            <a:endParaRPr sz="1300"/>
          </a:p>
          <a:p>
            <a:pPr indent="-311150" lvl="0" marL="457200" rtl="0" algn="l">
              <a:spcBef>
                <a:spcPts val="1200"/>
              </a:spcBef>
              <a:spcAft>
                <a:spcPts val="0"/>
              </a:spcAft>
              <a:buSzPts val="1300"/>
              <a:buChar char="●"/>
            </a:pPr>
            <a:r>
              <a:rPr lang="en-GB" sz="1300"/>
              <a:t>Focus on the biggest need of the end-user</a:t>
            </a:r>
            <a:endParaRPr sz="1300"/>
          </a:p>
          <a:p>
            <a:pPr indent="-311150" lvl="0" marL="457200" rtl="0" algn="l">
              <a:spcBef>
                <a:spcPts val="1000"/>
              </a:spcBef>
              <a:spcAft>
                <a:spcPts val="0"/>
              </a:spcAft>
              <a:buSzPts val="1300"/>
              <a:buChar char="●"/>
            </a:pPr>
            <a:r>
              <a:rPr lang="en-GB" sz="1300"/>
              <a:t>Deliver the smallest thing that will allow </a:t>
            </a:r>
            <a:r>
              <a:rPr b="1" lang="en-GB" sz="1300"/>
              <a:t>testing </a:t>
            </a:r>
            <a:r>
              <a:rPr lang="en-GB" sz="1300"/>
              <a:t>and </a:t>
            </a:r>
            <a:r>
              <a:rPr b="1" lang="en-GB" sz="1300"/>
              <a:t>get feedback</a:t>
            </a:r>
            <a:endParaRPr b="1" sz="1300"/>
          </a:p>
          <a:p>
            <a:pPr indent="-311150" lvl="0" marL="457200" rtl="0" algn="l">
              <a:spcBef>
                <a:spcPts val="1000"/>
              </a:spcBef>
              <a:spcAft>
                <a:spcPts val="0"/>
              </a:spcAft>
              <a:buSzPts val="1300"/>
              <a:buChar char="●"/>
            </a:pPr>
            <a:r>
              <a:rPr lang="en-GB" sz="1300"/>
              <a:t>So, think about what your ‘skateboard’ will be in each sprint</a:t>
            </a:r>
            <a:endParaRPr sz="1300"/>
          </a:p>
          <a:p>
            <a:pPr indent="-311150" lvl="0" marL="457200" rtl="0" algn="l">
              <a:spcBef>
                <a:spcPts val="1000"/>
              </a:spcBef>
              <a:spcAft>
                <a:spcPts val="1000"/>
              </a:spcAft>
              <a:buSzPts val="1300"/>
              <a:buChar char="●"/>
            </a:pPr>
            <a:r>
              <a:rPr lang="en-GB" sz="1300" u="sng">
                <a:solidFill>
                  <a:schemeClr val="hlink"/>
                </a:solidFill>
                <a:hlinkClick r:id="rId3"/>
              </a:rPr>
              <a:t>Story about MVP here</a:t>
            </a:r>
            <a:endParaRPr sz="1300"/>
          </a:p>
        </p:txBody>
      </p:sp>
      <p:pic>
        <p:nvPicPr>
          <p:cNvPr id="189" name="Google Shape;189;p33"/>
          <p:cNvPicPr preferRelativeResize="0"/>
          <p:nvPr/>
        </p:nvPicPr>
        <p:blipFill>
          <a:blip r:embed="rId4">
            <a:alphaModFix/>
          </a:blip>
          <a:stretch>
            <a:fillRect/>
          </a:stretch>
        </p:blipFill>
        <p:spPr>
          <a:xfrm>
            <a:off x="396693" y="1121475"/>
            <a:ext cx="5601090" cy="3780000"/>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34"/>
          <p:cNvSpPr txBox="1"/>
          <p:nvPr>
            <p:ph type="title"/>
          </p:nvPr>
        </p:nvSpPr>
        <p:spPr>
          <a:xfrm>
            <a:off x="490250" y="528900"/>
            <a:ext cx="5678100" cy="4085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GB">
                <a:solidFill>
                  <a:schemeClr val="dk2"/>
                </a:solidFill>
              </a:rPr>
              <a:t>Project Reminders</a:t>
            </a:r>
            <a:endParaRPr sz="4178">
              <a:solidFill>
                <a:schemeClr val="dk2"/>
              </a:solidFill>
            </a:endParaRPr>
          </a:p>
          <a:p>
            <a:pPr indent="0" lvl="0" marL="0" rtl="0" algn="l">
              <a:lnSpc>
                <a:spcPct val="100000"/>
              </a:lnSpc>
              <a:spcBef>
                <a:spcPts val="1000"/>
              </a:spcBef>
              <a:spcAft>
                <a:spcPts val="0"/>
              </a:spcAft>
              <a:buNone/>
            </a:pPr>
            <a:r>
              <a:rPr lang="en-GB" sz="3000" u="sng">
                <a:highlight>
                  <a:schemeClr val="dk1"/>
                </a:highlight>
                <a:hlinkClick action="ppaction://hlinksldjump" r:id="rId3"/>
              </a:rPr>
              <a:t>Sprint 1		begins 25 May</a:t>
            </a:r>
            <a:endParaRPr sz="3000">
              <a:highlight>
                <a:schemeClr val="dk1"/>
              </a:highlight>
            </a:endParaRPr>
          </a:p>
          <a:p>
            <a:pPr indent="0" lvl="0" marL="0" rtl="0" algn="l">
              <a:lnSpc>
                <a:spcPct val="100000"/>
              </a:lnSpc>
              <a:spcBef>
                <a:spcPts val="1000"/>
              </a:spcBef>
              <a:spcAft>
                <a:spcPts val="0"/>
              </a:spcAft>
              <a:buNone/>
            </a:pPr>
            <a:r>
              <a:rPr lang="en-GB" sz="3000" u="sng">
                <a:highlight>
                  <a:schemeClr val="accent2"/>
                </a:highlight>
                <a:hlinkClick action="ppaction://hlinksldjump" r:id="rId4"/>
              </a:rPr>
              <a:t>Sprint 2		</a:t>
            </a:r>
            <a:r>
              <a:rPr lang="en-GB" sz="3000" u="sng">
                <a:highlight>
                  <a:schemeClr val="accent2"/>
                </a:highlight>
                <a:hlinkClick action="ppaction://hlinksldjump" r:id="rId5"/>
              </a:rPr>
              <a:t>begins</a:t>
            </a:r>
            <a:r>
              <a:rPr lang="en-GB" sz="3000" u="sng">
                <a:highlight>
                  <a:schemeClr val="accent2"/>
                </a:highlight>
                <a:hlinkClick action="ppaction://hlinksldjump" r:id="rId6"/>
              </a:rPr>
              <a:t> 15 June</a:t>
            </a:r>
            <a:endParaRPr sz="3000">
              <a:highlight>
                <a:schemeClr val="accent2"/>
              </a:highlight>
            </a:endParaRPr>
          </a:p>
          <a:p>
            <a:pPr indent="0" lvl="0" marL="0" rtl="0" algn="l">
              <a:lnSpc>
                <a:spcPct val="100000"/>
              </a:lnSpc>
              <a:spcBef>
                <a:spcPts val="1000"/>
              </a:spcBef>
              <a:spcAft>
                <a:spcPts val="0"/>
              </a:spcAft>
              <a:buNone/>
            </a:pPr>
            <a:r>
              <a:rPr lang="en-GB" sz="3000" u="sng">
                <a:highlight>
                  <a:schemeClr val="accent3"/>
                </a:highlight>
                <a:hlinkClick action="ppaction://hlinksldjump" r:id="rId7"/>
              </a:rPr>
              <a:t>Sprint 3		</a:t>
            </a:r>
            <a:r>
              <a:rPr lang="en-GB" sz="3000" u="sng">
                <a:highlight>
                  <a:schemeClr val="accent3"/>
                </a:highlight>
                <a:hlinkClick action="ppaction://hlinksldjump" r:id="rId8"/>
              </a:rPr>
              <a:t>begins</a:t>
            </a:r>
            <a:r>
              <a:rPr lang="en-GB" sz="3000" u="sng">
                <a:highlight>
                  <a:schemeClr val="accent3"/>
                </a:highlight>
                <a:hlinkClick action="ppaction://hlinksldjump" r:id="rId9"/>
              </a:rPr>
              <a:t> 20 July</a:t>
            </a:r>
            <a:endParaRPr sz="3000">
              <a:highlight>
                <a:schemeClr val="accent3"/>
              </a:highlight>
            </a:endParaRPr>
          </a:p>
          <a:p>
            <a:pPr indent="0" lvl="0" marL="0" rtl="0" algn="l">
              <a:lnSpc>
                <a:spcPct val="100000"/>
              </a:lnSpc>
              <a:spcBef>
                <a:spcPts val="1000"/>
              </a:spcBef>
              <a:spcAft>
                <a:spcPts val="1000"/>
              </a:spcAft>
              <a:buNone/>
            </a:pPr>
            <a:r>
              <a:rPr lang="en-GB" sz="3000" u="sng">
                <a:highlight>
                  <a:schemeClr val="accent4"/>
                </a:highlight>
                <a:hlinkClick action="ppaction://hlinksldjump" r:id="rId10"/>
              </a:rPr>
              <a:t>Sprint 4		</a:t>
            </a:r>
            <a:r>
              <a:rPr lang="en-GB" sz="3000" u="sng">
                <a:highlight>
                  <a:schemeClr val="accent4"/>
                </a:highlight>
                <a:hlinkClick action="ppaction://hlinksldjump" r:id="rId11"/>
              </a:rPr>
              <a:t>begins</a:t>
            </a:r>
            <a:r>
              <a:rPr lang="en-GB" sz="3000" u="sng">
                <a:highlight>
                  <a:schemeClr val="accent4"/>
                </a:highlight>
                <a:hlinkClick action="ppaction://hlinksldjump" r:id="rId12"/>
              </a:rPr>
              <a:t> 10 Aug </a:t>
            </a:r>
            <a:endParaRPr sz="3000">
              <a:highlight>
                <a:schemeClr val="accent4"/>
              </a:highlight>
            </a:endParaRPr>
          </a:p>
        </p:txBody>
      </p:sp>
      <p:sp>
        <p:nvSpPr>
          <p:cNvPr id="195" name="Google Shape;195;p34"/>
          <p:cNvSpPr txBox="1"/>
          <p:nvPr>
            <p:ph type="title"/>
          </p:nvPr>
        </p:nvSpPr>
        <p:spPr>
          <a:xfrm>
            <a:off x="5563450" y="1662800"/>
            <a:ext cx="3281100" cy="2864700"/>
          </a:xfrm>
          <a:prstGeom prst="rect">
            <a:avLst/>
          </a:prstGeom>
        </p:spPr>
        <p:txBody>
          <a:bodyPr anchorCtr="0" anchor="ctr" bIns="91425" lIns="91425" spcFirstLastPara="1" rIns="91425" wrap="square" tIns="91425">
            <a:normAutofit/>
          </a:bodyPr>
          <a:lstStyle/>
          <a:p>
            <a:pPr indent="0" lvl="0" marL="0" rtl="0" algn="r">
              <a:lnSpc>
                <a:spcPct val="100000"/>
              </a:lnSpc>
              <a:spcBef>
                <a:spcPts val="0"/>
              </a:spcBef>
              <a:spcAft>
                <a:spcPts val="0"/>
              </a:spcAft>
              <a:buNone/>
            </a:pPr>
            <a:r>
              <a:rPr b="1" lang="en-GB" sz="3000">
                <a:solidFill>
                  <a:schemeClr val="dk2"/>
                </a:solidFill>
                <a:highlight>
                  <a:schemeClr val="accent6"/>
                </a:highlight>
              </a:rPr>
              <a:t>Prototype</a:t>
            </a:r>
            <a:r>
              <a:rPr lang="en-GB" sz="3000">
                <a:solidFill>
                  <a:schemeClr val="dk2"/>
                </a:solidFill>
                <a:highlight>
                  <a:schemeClr val="accent6"/>
                </a:highlight>
              </a:rPr>
              <a:t> Due</a:t>
            </a:r>
            <a:endParaRPr sz="3000">
              <a:solidFill>
                <a:schemeClr val="dk2"/>
              </a:solidFill>
              <a:highlight>
                <a:schemeClr val="accent6"/>
              </a:highlight>
            </a:endParaRPr>
          </a:p>
          <a:p>
            <a:pPr indent="0" lvl="0" marL="0" rtl="0" algn="r">
              <a:lnSpc>
                <a:spcPct val="100000"/>
              </a:lnSpc>
              <a:spcBef>
                <a:spcPts val="1000"/>
              </a:spcBef>
              <a:spcAft>
                <a:spcPts val="0"/>
              </a:spcAft>
              <a:buNone/>
            </a:pPr>
            <a:r>
              <a:rPr lang="en-GB" sz="3000"/>
              <a:t>30 August 2026</a:t>
            </a:r>
            <a:endParaRPr sz="3000"/>
          </a:p>
          <a:p>
            <a:pPr indent="0" lvl="0" marL="0" rtl="0" algn="r">
              <a:lnSpc>
                <a:spcPct val="100000"/>
              </a:lnSpc>
              <a:spcBef>
                <a:spcPts val="1000"/>
              </a:spcBef>
              <a:spcAft>
                <a:spcPts val="0"/>
              </a:spcAft>
              <a:buNone/>
            </a:pPr>
            <a:r>
              <a:rPr b="1" lang="en-GB" sz="3000">
                <a:solidFill>
                  <a:schemeClr val="dk2"/>
                </a:solidFill>
                <a:highlight>
                  <a:schemeClr val="accent6"/>
                </a:highlight>
              </a:rPr>
              <a:t>Portfolio</a:t>
            </a:r>
            <a:r>
              <a:rPr lang="en-GB" sz="3000">
                <a:solidFill>
                  <a:schemeClr val="dk2"/>
                </a:solidFill>
                <a:highlight>
                  <a:schemeClr val="accent6"/>
                </a:highlight>
              </a:rPr>
              <a:t> Due</a:t>
            </a:r>
            <a:endParaRPr sz="3000">
              <a:solidFill>
                <a:schemeClr val="dk2"/>
              </a:solidFill>
              <a:highlight>
                <a:schemeClr val="accent6"/>
              </a:highlight>
            </a:endParaRPr>
          </a:p>
          <a:p>
            <a:pPr indent="0" lvl="0" marL="0" rtl="0" algn="r">
              <a:lnSpc>
                <a:spcPct val="100000"/>
              </a:lnSpc>
              <a:spcBef>
                <a:spcPts val="1000"/>
              </a:spcBef>
              <a:spcAft>
                <a:spcPts val="1000"/>
              </a:spcAft>
              <a:buNone/>
            </a:pPr>
            <a:r>
              <a:rPr lang="en-GB" sz="3000"/>
              <a:t>18 October </a:t>
            </a:r>
            <a:r>
              <a:rPr lang="en-GB" sz="3000"/>
              <a:t>2026</a:t>
            </a:r>
            <a:endParaRPr sz="30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35"/>
          <p:cNvSpPr txBox="1"/>
          <p:nvPr>
            <p:ph type="title"/>
          </p:nvPr>
        </p:nvSpPr>
        <p:spPr>
          <a:xfrm>
            <a:off x="311700" y="1098516"/>
            <a:ext cx="8520600" cy="19635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GB"/>
              <a:t>Project Plan</a:t>
            </a:r>
            <a:endParaRPr/>
          </a:p>
        </p:txBody>
      </p:sp>
      <p:sp>
        <p:nvSpPr>
          <p:cNvPr id="201" name="Google Shape;201;p35"/>
          <p:cNvSpPr txBox="1"/>
          <p:nvPr>
            <p:ph idx="1" type="body"/>
          </p:nvPr>
        </p:nvSpPr>
        <p:spPr>
          <a:xfrm>
            <a:off x="311700" y="3152225"/>
            <a:ext cx="8520600" cy="1583700"/>
          </a:xfrm>
          <a:prstGeom prst="rect">
            <a:avLst/>
          </a:prstGeom>
        </p:spPr>
        <p:txBody>
          <a:bodyPr anchorCtr="0" anchor="t" bIns="91425" lIns="91425" spcFirstLastPara="1" rIns="91425" wrap="square" tIns="91425">
            <a:normAutofit fontScale="70000"/>
          </a:bodyPr>
          <a:lstStyle/>
          <a:p>
            <a:pPr indent="0" lvl="0" marL="0" rtl="0" algn="l">
              <a:spcBef>
                <a:spcPts val="0"/>
              </a:spcBef>
              <a:spcAft>
                <a:spcPts val="0"/>
              </a:spcAft>
              <a:buNone/>
            </a:pPr>
            <a:r>
              <a:rPr lang="en-GB" u="sng">
                <a:solidFill>
                  <a:schemeClr val="hlink"/>
                </a:solidFill>
                <a:hlinkClick r:id="rId3"/>
              </a:rPr>
              <a:t>https://github.com/users/Shist1145/projects/5</a:t>
            </a:r>
            <a:endParaRPr sz="1700"/>
          </a:p>
          <a:p>
            <a:pPr indent="0" lvl="0" marL="0" rtl="0" algn="l">
              <a:spcBef>
                <a:spcPts val="1200"/>
              </a:spcBef>
              <a:spcAft>
                <a:spcPts val="0"/>
              </a:spcAft>
              <a:buNone/>
            </a:pPr>
            <a:r>
              <a:rPr lang="en-GB" sz="1700" u="sng">
                <a:solidFill>
                  <a:schemeClr val="hlink"/>
                </a:solidFill>
                <a:hlinkClick r:id="rId4"/>
              </a:rPr>
              <a:t>https://github.com/Shist1145/StevenShi-Year12-Project</a:t>
            </a:r>
            <a:br>
              <a:rPr lang="en-GB" sz="1700"/>
            </a:br>
            <a:r>
              <a:rPr lang="en-GB" sz="1700"/>
              <a:t>This GitHub Project board will be used to plan and track my development work across four sprints. I will use it to organise tasks, record progress, and manage testing and feedback. </a:t>
            </a:r>
            <a:endParaRPr sz="1700"/>
          </a:p>
          <a:p>
            <a:pPr indent="0" lvl="0" marL="0" rtl="0" algn="l">
              <a:spcBef>
                <a:spcPts val="1200"/>
              </a:spcBef>
              <a:spcAft>
                <a:spcPts val="1200"/>
              </a:spcAft>
              <a:buNone/>
            </a:pPr>
            <a:r>
              <a:rPr lang="en-GB" sz="1700" u="sng">
                <a:solidFill>
                  <a:schemeClr val="hlink"/>
                </a:solidFill>
                <a:hlinkClick r:id="rId5"/>
              </a:rPr>
              <a:t>https://gemini.google.com/app/ab29350c920b47e7</a:t>
            </a:r>
            <a:endParaRPr sz="17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36"/>
          <p:cNvSpPr txBox="1"/>
          <p:nvPr>
            <p:ph type="title"/>
          </p:nvPr>
        </p:nvSpPr>
        <p:spPr>
          <a:xfrm>
            <a:off x="265500" y="1078750"/>
            <a:ext cx="4045200" cy="17892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GB"/>
              <a:t>Project Summary</a:t>
            </a:r>
            <a:endParaRPr/>
          </a:p>
        </p:txBody>
      </p:sp>
      <p:sp>
        <p:nvSpPr>
          <p:cNvPr id="207" name="Google Shape;207;p36"/>
          <p:cNvSpPr txBox="1"/>
          <p:nvPr>
            <p:ph idx="1" type="subTitle"/>
          </p:nvPr>
        </p:nvSpPr>
        <p:spPr>
          <a:xfrm>
            <a:off x="265500" y="2921401"/>
            <a:ext cx="4045200" cy="13455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GB"/>
              <a:t>Recap from your Proposal</a:t>
            </a:r>
            <a:endParaRPr/>
          </a:p>
        </p:txBody>
      </p:sp>
      <p:sp>
        <p:nvSpPr>
          <p:cNvPr id="208" name="Google Shape;208;p36"/>
          <p:cNvSpPr txBox="1"/>
          <p:nvPr>
            <p:ph idx="2" type="body"/>
          </p:nvPr>
        </p:nvSpPr>
        <p:spPr>
          <a:xfrm>
            <a:off x="4939500" y="724200"/>
            <a:ext cx="3979500" cy="3695100"/>
          </a:xfrm>
          <a:prstGeom prst="rect">
            <a:avLst/>
          </a:prstGeom>
        </p:spPr>
        <p:txBody>
          <a:bodyPr anchorCtr="0" anchor="ctr" bIns="91425" lIns="91425" spcFirstLastPara="1" rIns="91425" wrap="square" tIns="91425">
            <a:normAutofit/>
          </a:bodyPr>
          <a:lstStyle/>
          <a:p>
            <a:pPr indent="-342900" lvl="0" marL="457200" rtl="0" algn="l">
              <a:spcBef>
                <a:spcPts val="0"/>
              </a:spcBef>
              <a:spcAft>
                <a:spcPts val="0"/>
              </a:spcAft>
              <a:buSzPts val="1800"/>
              <a:buChar char="●"/>
            </a:pPr>
            <a:r>
              <a:rPr b="1" lang="en-GB"/>
              <a:t>What </a:t>
            </a:r>
            <a:r>
              <a:rPr b="1" lang="en-GB"/>
              <a:t>you’re making</a:t>
            </a:r>
            <a:r>
              <a:rPr lang="en-GB"/>
              <a:t> </a:t>
            </a:r>
            <a:br>
              <a:rPr lang="en-GB"/>
            </a:br>
            <a:r>
              <a:rPr lang="en-GB"/>
              <a:t>A website-based school infrastructure reporting system.</a:t>
            </a:r>
            <a:endParaRPr sz="1400"/>
          </a:p>
          <a:p>
            <a:pPr indent="-342900" lvl="0" marL="457200" rtl="0" algn="l">
              <a:spcBef>
                <a:spcPts val="0"/>
              </a:spcBef>
              <a:spcAft>
                <a:spcPts val="0"/>
              </a:spcAft>
              <a:buSzPts val="1800"/>
              <a:buChar char="●"/>
            </a:pPr>
            <a:r>
              <a:rPr b="1" lang="en-GB"/>
              <a:t>Who you’re making it for</a:t>
            </a:r>
            <a:r>
              <a:rPr lang="en-GB"/>
              <a:t> </a:t>
            </a:r>
            <a:endParaRPr sz="1400"/>
          </a:p>
          <a:p>
            <a:pPr indent="0" lvl="0" marL="457200" rtl="0" algn="l">
              <a:spcBef>
                <a:spcPts val="1200"/>
              </a:spcBef>
              <a:spcAft>
                <a:spcPts val="0"/>
              </a:spcAft>
              <a:buNone/>
            </a:pPr>
            <a:r>
              <a:rPr lang="en-GB" sz="1400"/>
              <a:t>Students who need to report school infrastructure issues.</a:t>
            </a:r>
            <a:endParaRPr sz="1400"/>
          </a:p>
          <a:p>
            <a:pPr indent="-342900" lvl="0" marL="457200" rtl="0" algn="l">
              <a:spcBef>
                <a:spcPts val="1200"/>
              </a:spcBef>
              <a:spcAft>
                <a:spcPts val="0"/>
              </a:spcAft>
              <a:buSzPts val="1800"/>
              <a:buChar char="●"/>
            </a:pPr>
            <a:r>
              <a:rPr b="1" lang="en-GB"/>
              <a:t>Why you’re making it</a:t>
            </a:r>
            <a:r>
              <a:rPr lang="en-GB"/>
              <a:t> </a:t>
            </a:r>
            <a:endParaRPr/>
          </a:p>
          <a:p>
            <a:pPr indent="0" lvl="0" marL="457200" rtl="0" algn="l">
              <a:spcBef>
                <a:spcPts val="1200"/>
              </a:spcBef>
              <a:spcAft>
                <a:spcPts val="1200"/>
              </a:spcAft>
              <a:buNone/>
            </a:pPr>
            <a:r>
              <a:rPr lang="en-GB" sz="1400"/>
              <a:t>To make school issue reporting clearer, faster, and fairer.</a:t>
            </a:r>
            <a:endParaRPr sz="14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37"/>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My Digital Outcome is: A website-based reporting system</a:t>
            </a:r>
            <a:endParaRPr/>
          </a:p>
        </p:txBody>
      </p:sp>
      <p:sp>
        <p:nvSpPr>
          <p:cNvPr id="214" name="Google Shape;214;p37"/>
          <p:cNvSpPr txBox="1"/>
          <p:nvPr>
            <p:ph idx="1" type="body"/>
          </p:nvPr>
        </p:nvSpPr>
        <p:spPr>
          <a:xfrm>
            <a:off x="311700" y="1468825"/>
            <a:ext cx="3999900" cy="30999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GB"/>
              <a:t>The end users of my prototype are </a:t>
            </a:r>
            <a:r>
              <a:rPr b="1" lang="en-GB"/>
              <a:t>S</a:t>
            </a:r>
            <a:r>
              <a:rPr b="1" lang="en-GB"/>
              <a:t>tudent</a:t>
            </a:r>
            <a:r>
              <a:rPr lang="en-GB"/>
              <a:t> need to report school infrastructure issues. The secondary users are school staff and maintenance workers who need to review, manage, and respond to reports.</a:t>
            </a:r>
            <a:endParaRPr/>
          </a:p>
        </p:txBody>
      </p:sp>
      <p:sp>
        <p:nvSpPr>
          <p:cNvPr id="215" name="Google Shape;215;p37"/>
          <p:cNvSpPr txBox="1"/>
          <p:nvPr>
            <p:ph idx="2" type="body"/>
          </p:nvPr>
        </p:nvSpPr>
        <p:spPr>
          <a:xfrm>
            <a:off x="4832400" y="1468825"/>
            <a:ext cx="3999900" cy="30999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GB"/>
              <a:t>The purpose of my digital outcome is to make school issue </a:t>
            </a:r>
            <a:r>
              <a:rPr lang="en-GB"/>
              <a:t>reporting clearer, faster, and fairer. The system helps students provide clear information and helps staff manage reports more efficiently.</a:t>
            </a:r>
            <a:r>
              <a:rPr lang="en-GB"/>
              <a:t>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38"/>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fontScale="77500" lnSpcReduction="20000"/>
          </a:bodyPr>
          <a:lstStyle/>
          <a:p>
            <a:pPr indent="-317183" lvl="0" marL="457200" marR="0" rtl="0" algn="l">
              <a:lnSpc>
                <a:spcPct val="115000"/>
              </a:lnSpc>
              <a:spcBef>
                <a:spcPts val="0"/>
              </a:spcBef>
              <a:spcAft>
                <a:spcPts val="0"/>
              </a:spcAft>
              <a:buSzPct val="100000"/>
              <a:buChar char="●"/>
            </a:pPr>
            <a:r>
              <a:rPr lang="en-GB"/>
              <a:t>Social</a:t>
            </a:r>
            <a:endParaRPr/>
          </a:p>
          <a:p>
            <a:pPr indent="-317183" lvl="0" marL="457200" marR="0" rtl="0" algn="l">
              <a:lnSpc>
                <a:spcPct val="115000"/>
              </a:lnSpc>
              <a:spcBef>
                <a:spcPts val="400"/>
              </a:spcBef>
              <a:spcAft>
                <a:spcPts val="0"/>
              </a:spcAft>
              <a:buSzPct val="100000"/>
              <a:buChar char="●"/>
            </a:pPr>
            <a:r>
              <a:rPr lang="en-GB"/>
              <a:t>Cultural</a:t>
            </a:r>
            <a:endParaRPr/>
          </a:p>
          <a:p>
            <a:pPr indent="-317183" lvl="0" marL="457200" marR="0" rtl="0" algn="l">
              <a:lnSpc>
                <a:spcPct val="115000"/>
              </a:lnSpc>
              <a:spcBef>
                <a:spcPts val="400"/>
              </a:spcBef>
              <a:spcAft>
                <a:spcPts val="0"/>
              </a:spcAft>
              <a:buSzPct val="100000"/>
              <a:buChar char="●"/>
            </a:pPr>
            <a:r>
              <a:rPr lang="en-GB"/>
              <a:t>Legal</a:t>
            </a:r>
            <a:endParaRPr/>
          </a:p>
          <a:p>
            <a:pPr indent="-317183" lvl="0" marL="457200" marR="0" rtl="0" algn="l">
              <a:lnSpc>
                <a:spcPct val="115000"/>
              </a:lnSpc>
              <a:spcBef>
                <a:spcPts val="400"/>
              </a:spcBef>
              <a:spcAft>
                <a:spcPts val="0"/>
              </a:spcAft>
              <a:buSzPct val="100000"/>
              <a:buChar char="●"/>
            </a:pPr>
            <a:r>
              <a:rPr lang="en-GB"/>
              <a:t>Ethical</a:t>
            </a:r>
            <a:endParaRPr/>
          </a:p>
          <a:p>
            <a:pPr indent="-317183" lvl="0" marL="457200" marR="0" rtl="0" algn="l">
              <a:lnSpc>
                <a:spcPct val="115000"/>
              </a:lnSpc>
              <a:spcBef>
                <a:spcPts val="400"/>
              </a:spcBef>
              <a:spcAft>
                <a:spcPts val="0"/>
              </a:spcAft>
              <a:buSzPct val="100000"/>
              <a:buChar char="●"/>
            </a:pPr>
            <a:r>
              <a:rPr lang="en-GB"/>
              <a:t>Intellectual property</a:t>
            </a:r>
            <a:endParaRPr/>
          </a:p>
          <a:p>
            <a:pPr indent="-317183" lvl="0" marL="457200" marR="0" rtl="0" algn="l">
              <a:lnSpc>
                <a:spcPct val="115000"/>
              </a:lnSpc>
              <a:spcBef>
                <a:spcPts val="400"/>
              </a:spcBef>
              <a:spcAft>
                <a:spcPts val="0"/>
              </a:spcAft>
              <a:buSzPct val="100000"/>
              <a:buChar char="●"/>
            </a:pPr>
            <a:r>
              <a:rPr lang="en-GB"/>
              <a:t>Privacy</a:t>
            </a:r>
            <a:endParaRPr/>
          </a:p>
          <a:p>
            <a:pPr indent="-317183" lvl="0" marL="457200" marR="0" rtl="0" algn="l">
              <a:lnSpc>
                <a:spcPct val="115000"/>
              </a:lnSpc>
              <a:spcBef>
                <a:spcPts val="400"/>
              </a:spcBef>
              <a:spcAft>
                <a:spcPts val="0"/>
              </a:spcAft>
              <a:buSzPct val="100000"/>
              <a:buChar char="●"/>
            </a:pPr>
            <a:r>
              <a:rPr lang="en-GB"/>
              <a:t>Accessibility</a:t>
            </a:r>
            <a:endParaRPr/>
          </a:p>
          <a:p>
            <a:pPr indent="-317183" lvl="0" marL="457200" marR="0" rtl="0" algn="l">
              <a:lnSpc>
                <a:spcPct val="115000"/>
              </a:lnSpc>
              <a:spcBef>
                <a:spcPts val="400"/>
              </a:spcBef>
              <a:spcAft>
                <a:spcPts val="0"/>
              </a:spcAft>
              <a:buSzPct val="100000"/>
              <a:buChar char="●"/>
            </a:pPr>
            <a:r>
              <a:rPr lang="en-GB"/>
              <a:t>Usability</a:t>
            </a:r>
            <a:endParaRPr/>
          </a:p>
          <a:p>
            <a:pPr indent="-317183" lvl="0" marL="457200" marR="0" rtl="0" algn="l">
              <a:lnSpc>
                <a:spcPct val="115000"/>
              </a:lnSpc>
              <a:spcBef>
                <a:spcPts val="400"/>
              </a:spcBef>
              <a:spcAft>
                <a:spcPts val="0"/>
              </a:spcAft>
              <a:buSzPct val="100000"/>
              <a:buChar char="●"/>
            </a:pPr>
            <a:r>
              <a:rPr lang="en-GB"/>
              <a:t>Functionality</a:t>
            </a:r>
            <a:endParaRPr/>
          </a:p>
          <a:p>
            <a:pPr indent="-317183" lvl="0" marL="457200" marR="0" rtl="0" algn="l">
              <a:lnSpc>
                <a:spcPct val="115000"/>
              </a:lnSpc>
              <a:spcBef>
                <a:spcPts val="400"/>
              </a:spcBef>
              <a:spcAft>
                <a:spcPts val="0"/>
              </a:spcAft>
              <a:buSzPct val="100000"/>
              <a:buChar char="●"/>
            </a:pPr>
            <a:r>
              <a:rPr lang="en-GB"/>
              <a:t>Aesthetics</a:t>
            </a:r>
            <a:endParaRPr/>
          </a:p>
          <a:p>
            <a:pPr indent="-317183" lvl="0" marL="457200" marR="0" rtl="0" algn="l">
              <a:lnSpc>
                <a:spcPct val="115000"/>
              </a:lnSpc>
              <a:spcBef>
                <a:spcPts val="400"/>
              </a:spcBef>
              <a:spcAft>
                <a:spcPts val="0"/>
              </a:spcAft>
              <a:buSzPct val="100000"/>
              <a:buChar char="●"/>
            </a:pPr>
            <a:r>
              <a:rPr lang="en-GB"/>
              <a:t>Sustainability and future proofing</a:t>
            </a:r>
            <a:endParaRPr/>
          </a:p>
          <a:p>
            <a:pPr indent="-317183" lvl="0" marL="457200" marR="0" rtl="0" algn="l">
              <a:lnSpc>
                <a:spcPct val="115000"/>
              </a:lnSpc>
              <a:spcBef>
                <a:spcPts val="400"/>
              </a:spcBef>
              <a:spcAft>
                <a:spcPts val="0"/>
              </a:spcAft>
              <a:buSzPct val="100000"/>
              <a:buChar char="●"/>
            </a:pPr>
            <a:r>
              <a:rPr lang="en-GB"/>
              <a:t>End-user considerations</a:t>
            </a:r>
            <a:endParaRPr/>
          </a:p>
          <a:p>
            <a:pPr indent="-317183" lvl="0" marL="457200" marR="0" rtl="0" algn="l">
              <a:lnSpc>
                <a:spcPct val="115000"/>
              </a:lnSpc>
              <a:spcBef>
                <a:spcPts val="400"/>
              </a:spcBef>
              <a:spcAft>
                <a:spcPts val="400"/>
              </a:spcAft>
              <a:buSzPct val="100000"/>
              <a:buChar char="●"/>
            </a:pPr>
            <a:r>
              <a:rPr lang="en-GB"/>
              <a:t>Health and safety</a:t>
            </a:r>
            <a:endParaRPr/>
          </a:p>
        </p:txBody>
      </p:sp>
      <p:sp>
        <p:nvSpPr>
          <p:cNvPr id="221" name="Google Shape;221;p38"/>
          <p:cNvSpPr txBox="1"/>
          <p:nvPr>
            <p:ph type="title"/>
          </p:nvPr>
        </p:nvSpPr>
        <p:spPr>
          <a:xfrm>
            <a:off x="265500" y="1078750"/>
            <a:ext cx="4045200" cy="17892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GB"/>
              <a:t>Project Implications</a:t>
            </a:r>
            <a:endParaRPr/>
          </a:p>
        </p:txBody>
      </p:sp>
      <p:sp>
        <p:nvSpPr>
          <p:cNvPr id="222" name="Google Shape;222;p38"/>
          <p:cNvSpPr txBox="1"/>
          <p:nvPr>
            <p:ph idx="1" type="subTitle"/>
          </p:nvPr>
        </p:nvSpPr>
        <p:spPr>
          <a:xfrm>
            <a:off x="265500" y="2921400"/>
            <a:ext cx="4045200" cy="1789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Identify the </a:t>
            </a:r>
            <a:r>
              <a:rPr lang="en-GB" u="sng">
                <a:solidFill>
                  <a:schemeClr val="accent6"/>
                </a:solidFill>
                <a:hlinkClick r:id="rId3">
                  <a:extLst>
                    <a:ext uri="{A12FA001-AC4F-418D-AE19-62706E023703}">
                      <ahyp:hlinkClr val="tx"/>
                    </a:ext>
                  </a:extLst>
                </a:hlinkClick>
              </a:rPr>
              <a:t>implications</a:t>
            </a:r>
            <a:r>
              <a:rPr lang="en-GB">
                <a:solidFill>
                  <a:schemeClr val="accent6"/>
                </a:solidFill>
              </a:rPr>
              <a:t> </a:t>
            </a:r>
            <a:r>
              <a:rPr lang="en-GB"/>
              <a:t>on how your outcome:</a:t>
            </a:r>
            <a:endParaRPr/>
          </a:p>
          <a:p>
            <a:pPr indent="-349250" lvl="0" marL="457200" rtl="0" algn="l">
              <a:spcBef>
                <a:spcPts val="0"/>
              </a:spcBef>
              <a:spcAft>
                <a:spcPts val="0"/>
              </a:spcAft>
              <a:buSzPts val="1900"/>
              <a:buChar char="●"/>
            </a:pPr>
            <a:r>
              <a:rPr lang="en-GB"/>
              <a:t>Would be used and </a:t>
            </a:r>
            <a:endParaRPr/>
          </a:p>
          <a:p>
            <a:pPr indent="-349250" lvl="0" marL="457200" rtl="0" algn="l">
              <a:spcBef>
                <a:spcPts val="0"/>
              </a:spcBef>
              <a:spcAft>
                <a:spcPts val="0"/>
              </a:spcAft>
              <a:buSzPts val="1900"/>
              <a:buChar char="●"/>
            </a:pPr>
            <a:r>
              <a:rPr lang="en-GB"/>
              <a:t>Influences it could have by using it</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39"/>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Implication 1: </a:t>
            </a:r>
            <a:r>
              <a:rPr lang="en-GB"/>
              <a:t>Usability</a:t>
            </a:r>
            <a:endParaRPr/>
          </a:p>
        </p:txBody>
      </p:sp>
      <p:sp>
        <p:nvSpPr>
          <p:cNvPr id="228" name="Google Shape;228;p39"/>
          <p:cNvSpPr txBox="1"/>
          <p:nvPr>
            <p:ph idx="1" type="body"/>
          </p:nvPr>
        </p:nvSpPr>
        <p:spPr>
          <a:xfrm>
            <a:off x="311700" y="1468825"/>
            <a:ext cx="8520600" cy="3099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This implication is about making the system that is easy to understand.</a:t>
            </a:r>
            <a:endParaRPr/>
          </a:p>
          <a:p>
            <a:pPr indent="0" lvl="0" marL="0" rtl="0" algn="l">
              <a:spcBef>
                <a:spcPts val="1200"/>
              </a:spcBef>
              <a:spcAft>
                <a:spcPts val="0"/>
              </a:spcAft>
              <a:buNone/>
            </a:pPr>
            <a:r>
              <a:rPr lang="en-GB"/>
              <a:t>It’s important for my outcome because students need to report issues quickly. If the system is confusing, students may not complete the report correctly.</a:t>
            </a:r>
            <a:endParaRPr/>
          </a:p>
          <a:p>
            <a:pPr indent="0" lvl="0" marL="0" rtl="0" algn="l">
              <a:spcBef>
                <a:spcPts val="1200"/>
              </a:spcBef>
              <a:spcAft>
                <a:spcPts val="1200"/>
              </a:spcAft>
              <a:buNone/>
            </a:pPr>
            <a:r>
              <a:rPr lang="en-GB"/>
              <a:t>I will address this implication during development by using clear labels, simple navigation, helpful error messages, and status labels. I will also test the form and dashboard with users and improve the layout based on feedback.</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40"/>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Implication 2: </a:t>
            </a:r>
            <a:r>
              <a:rPr lang="en-GB"/>
              <a:t>Aesthetic </a:t>
            </a:r>
            <a:endParaRPr/>
          </a:p>
        </p:txBody>
      </p:sp>
      <p:sp>
        <p:nvSpPr>
          <p:cNvPr id="234" name="Google Shape;234;p40"/>
          <p:cNvSpPr txBox="1"/>
          <p:nvPr>
            <p:ph idx="1" type="body"/>
          </p:nvPr>
        </p:nvSpPr>
        <p:spPr>
          <a:xfrm>
            <a:off x="311700" y="1468825"/>
            <a:ext cx="8520600" cy="3099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This implication is about protecting student information and any evidence submitted through the system.</a:t>
            </a:r>
            <a:endParaRPr/>
          </a:p>
          <a:p>
            <a:pPr indent="0" lvl="0" marL="0" rtl="0" algn="l">
              <a:spcBef>
                <a:spcPts val="1200"/>
              </a:spcBef>
              <a:spcAft>
                <a:spcPts val="0"/>
              </a:spcAft>
              <a:buNone/>
            </a:pPr>
            <a:r>
              <a:rPr lang="en-GB"/>
              <a:t>It’s important for my outcome because reports may include names, locations, descriptions, or photos. These could include personal information or other students in the background.</a:t>
            </a:r>
            <a:endParaRPr/>
          </a:p>
          <a:p>
            <a:pPr indent="0" lvl="0" marL="0" rtl="0" algn="l">
              <a:spcBef>
                <a:spcPts val="1200"/>
              </a:spcBef>
              <a:spcAft>
                <a:spcPts val="0"/>
              </a:spcAft>
              <a:buNone/>
            </a:pPr>
            <a:r>
              <a:rPr lang="en-GB"/>
              <a:t>I will address this implication during development by only collecting necessary information. I will avoid displaying personal details publicly. If photo upload is added later, users will be reminded to focus only on the damaged area.</a:t>
            </a:r>
            <a:endParaRPr/>
          </a:p>
          <a:p>
            <a:pPr indent="0" lvl="0" marL="0" rtl="0" algn="l">
              <a:spcBef>
                <a:spcPts val="1200"/>
              </a:spcBef>
              <a:spcAft>
                <a:spcPts val="120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41"/>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Implication 3: </a:t>
            </a:r>
            <a:r>
              <a:rPr lang="en-GB"/>
              <a:t>Usability</a:t>
            </a:r>
            <a:endParaRPr/>
          </a:p>
        </p:txBody>
      </p:sp>
      <p:sp>
        <p:nvSpPr>
          <p:cNvPr id="240" name="Google Shape;240;p41"/>
          <p:cNvSpPr txBox="1"/>
          <p:nvPr>
            <p:ph idx="1" type="body"/>
          </p:nvPr>
        </p:nvSpPr>
        <p:spPr>
          <a:xfrm>
            <a:off x="311700" y="1468825"/>
            <a:ext cx="8520600" cy="3099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This implication is about making sure the system works as intended.</a:t>
            </a:r>
            <a:endParaRPr/>
          </a:p>
          <a:p>
            <a:pPr indent="0" lvl="0" marL="0" rtl="0" algn="l">
              <a:spcBef>
                <a:spcPts val="1200"/>
              </a:spcBef>
              <a:spcAft>
                <a:spcPts val="0"/>
              </a:spcAft>
              <a:buNone/>
            </a:pPr>
            <a:r>
              <a:rPr lang="en-GB"/>
              <a:t>It’s important for my outcome because users must be able to submit reports, view reports, and track report status. If these features do not work, the system will not solve the problem.</a:t>
            </a:r>
            <a:endParaRPr/>
          </a:p>
          <a:p>
            <a:pPr indent="0" lvl="0" marL="0" rtl="0" algn="l">
              <a:spcBef>
                <a:spcPts val="1200"/>
              </a:spcBef>
              <a:spcAft>
                <a:spcPts val="0"/>
              </a:spcAft>
              <a:buNone/>
            </a:pPr>
            <a:r>
              <a:rPr lang="en-GB"/>
              <a:t>I will address this implication during development by testing each component separately. I will test the report form, validation, dashboard, detail view, and status update feature before combining them into the final prototype.</a:t>
            </a:r>
            <a:endParaRPr/>
          </a:p>
          <a:p>
            <a:pPr indent="0" lvl="0" marL="0" rtl="0" algn="l">
              <a:spcBef>
                <a:spcPts val="1200"/>
              </a:spcBef>
              <a:spcAft>
                <a:spcPts val="120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42"/>
          <p:cNvSpPr txBox="1"/>
          <p:nvPr>
            <p:ph type="title"/>
          </p:nvPr>
        </p:nvSpPr>
        <p:spPr>
          <a:xfrm>
            <a:off x="430800" y="1889700"/>
            <a:ext cx="8282400" cy="15165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GB"/>
              <a:t>Sprint 1</a:t>
            </a:r>
            <a:endParaRPr/>
          </a:p>
        </p:txBody>
      </p:sp>
      <p:sp>
        <p:nvSpPr>
          <p:cNvPr id="246" name="Google Shape;246;p42"/>
          <p:cNvSpPr txBox="1"/>
          <p:nvPr>
            <p:ph idx="4294967295" type="subTitle"/>
          </p:nvPr>
        </p:nvSpPr>
        <p:spPr>
          <a:xfrm>
            <a:off x="1577525" y="4214575"/>
            <a:ext cx="5949900" cy="802800"/>
          </a:xfrm>
          <a:prstGeom prst="rect">
            <a:avLst/>
          </a:prstGeom>
          <a:ln cap="flat" cmpd="sng" w="9525">
            <a:solidFill>
              <a:schemeClr val="dk2"/>
            </a:solidFill>
            <a:prstDash val="solid"/>
            <a:round/>
            <a:headEnd len="sm" w="sm" type="none"/>
            <a:tailEnd len="sm" w="sm" type="none"/>
          </a:ln>
        </p:spPr>
        <p:txBody>
          <a:bodyPr anchorCtr="0" anchor="ctr" bIns="91425" lIns="91425" spcFirstLastPara="1" rIns="91425" wrap="square" tIns="91425">
            <a:normAutofit/>
          </a:bodyPr>
          <a:lstStyle/>
          <a:p>
            <a:pPr indent="0" lvl="0" marL="0" rtl="0" algn="ctr">
              <a:spcBef>
                <a:spcPts val="0"/>
              </a:spcBef>
              <a:spcAft>
                <a:spcPts val="1200"/>
              </a:spcAft>
              <a:buNone/>
            </a:pPr>
            <a:r>
              <a:rPr lang="en-GB"/>
              <a:t>Starting from 25 May</a:t>
            </a:r>
            <a:endParaRPr sz="18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Rectangle 250"/>
          <p:cNvSpPr/>
          <p:nvPr/>
        </p:nvSpPr>
        <p:spPr>
          <a:xfrm>
            <a:off x="0" y="0"/>
            <a:ext cx="9144000" cy="5143500"/>
          </a:xfrm>
          <a:prstGeom prst="rect">
            <a:avLst/>
          </a:prstGeom>
          <a:solidFill>
            <a:srgbClr val="F2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2" name="Rectangle 251"/>
          <p:cNvSpPr/>
          <p:nvPr/>
        </p:nvSpPr>
        <p:spPr>
          <a:xfrm>
            <a:off x="0" y="0"/>
            <a:ext cx="146304" cy="5143500"/>
          </a:xfrm>
          <a:prstGeom prst="rect">
            <a:avLst/>
          </a:prstGeom>
          <a:solidFill>
            <a:srgbClr val="1F4F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3" name="TextBox 252"/>
          <p:cNvSpPr txBox="1"/>
          <p:nvPr/>
        </p:nvSpPr>
        <p:spPr>
          <a:xfrm>
            <a:off x="438912" y="256032"/>
            <a:ext cx="8138160" cy="411480"/>
          </a:xfrm>
          <a:prstGeom prst="rect">
            <a:avLst/>
          </a:prstGeom>
          <a:noFill/>
        </p:spPr>
        <p:txBody>
          <a:bodyPr wrap="square">
            <a:normAutofit/>
          </a:bodyPr>
          <a:lstStyle/>
          <a:p>
            <a:pPr algn="l">
              <a:spcAft>
                <a:spcPts val="0"/>
              </a:spcAft>
              <a:defRPr sz="2500" b="1">
                <a:solidFill>
                  <a:srgbClr val="172033"/>
                </a:solidFill>
                <a:latin typeface="Arial"/>
              </a:defRPr>
            </a:pPr>
            <a:r>
              <a:t>Sprint 1 Plan</a:t>
            </a:r>
          </a:p>
        </p:txBody>
      </p:sp>
      <p:sp>
        <p:nvSpPr>
          <p:cNvPr id="254" name="TextBox 253"/>
          <p:cNvSpPr txBox="1"/>
          <p:nvPr/>
        </p:nvSpPr>
        <p:spPr>
          <a:xfrm>
            <a:off x="457200" y="676656"/>
            <a:ext cx="7955279" cy="292608"/>
          </a:xfrm>
          <a:prstGeom prst="rect">
            <a:avLst/>
          </a:prstGeom>
          <a:noFill/>
        </p:spPr>
        <p:txBody>
          <a:bodyPr wrap="square">
            <a:normAutofit/>
          </a:bodyPr>
          <a:lstStyle/>
          <a:p>
            <a:pPr algn="l">
              <a:spcAft>
                <a:spcPts val="0"/>
              </a:spcAft>
              <a:defRPr sz="1200" b="0">
                <a:solidFill>
                  <a:srgbClr val="5B6472"/>
                </a:solidFill>
                <a:latin typeface="Arial"/>
              </a:defRPr>
            </a:pPr>
            <a:r>
              <a:t>Goal: test the smallest useful student reporting workflow.</a:t>
            </a:r>
          </a:p>
        </p:txBody>
      </p:sp>
      <p:sp>
        <p:nvSpPr>
          <p:cNvPr id="255" name="Rectangle 254"/>
          <p:cNvSpPr/>
          <p:nvPr/>
        </p:nvSpPr>
        <p:spPr>
          <a:xfrm>
            <a:off x="457200" y="960120"/>
            <a:ext cx="1005840" cy="36576"/>
          </a:xfrm>
          <a:prstGeom prst="rect">
            <a:avLst/>
          </a:prstGeom>
          <a:solidFill>
            <a:srgbClr val="1F4F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6" name="Rounded Rectangle 255"/>
          <p:cNvSpPr/>
          <p:nvPr/>
        </p:nvSpPr>
        <p:spPr>
          <a:xfrm>
            <a:off x="502920" y="1234440"/>
            <a:ext cx="1936241" cy="1417320"/>
          </a:xfrm>
          <a:prstGeom prst="roundRect">
            <a:avLst/>
          </a:prstGeom>
          <a:solidFill>
            <a:srgbClr val="DBEAFE"/>
          </a:solidFill>
          <a:ln w="12700">
            <a:solidFill>
              <a:srgbClr val="1F4F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7" name="Oval 256"/>
          <p:cNvSpPr/>
          <p:nvPr/>
        </p:nvSpPr>
        <p:spPr>
          <a:xfrm>
            <a:off x="612648" y="1371600"/>
            <a:ext cx="320040" cy="320040"/>
          </a:xfrm>
          <a:prstGeom prst="ellipse">
            <a:avLst/>
          </a:prstGeom>
          <a:solidFill>
            <a:srgbClr val="1F4F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8" name="TextBox 257"/>
          <p:cNvSpPr txBox="1"/>
          <p:nvPr/>
        </p:nvSpPr>
        <p:spPr>
          <a:xfrm>
            <a:off x="612648" y="1421892"/>
            <a:ext cx="320040" cy="164592"/>
          </a:xfrm>
          <a:prstGeom prst="rect">
            <a:avLst/>
          </a:prstGeom>
          <a:noFill/>
        </p:spPr>
        <p:txBody>
          <a:bodyPr wrap="square">
            <a:normAutofit/>
          </a:bodyPr>
          <a:lstStyle/>
          <a:p>
            <a:pPr algn="ctr">
              <a:spcAft>
                <a:spcPts val="0"/>
              </a:spcAft>
              <a:defRPr sz="1000" b="1">
                <a:solidFill>
                  <a:srgbClr val="FFFFFF"/>
                </a:solidFill>
                <a:latin typeface="Arial"/>
              </a:defRPr>
            </a:pPr>
            <a:r>
              <a:t>1</a:t>
            </a:r>
          </a:p>
        </p:txBody>
      </p:sp>
      <p:sp>
        <p:nvSpPr>
          <p:cNvPr id="259" name="TextBox 258"/>
          <p:cNvSpPr txBox="1"/>
          <p:nvPr/>
        </p:nvSpPr>
        <p:spPr>
          <a:xfrm>
            <a:off x="1005840" y="1380744"/>
            <a:ext cx="1314449" cy="228600"/>
          </a:xfrm>
          <a:prstGeom prst="rect">
            <a:avLst/>
          </a:prstGeom>
          <a:noFill/>
        </p:spPr>
        <p:txBody>
          <a:bodyPr wrap="square">
            <a:normAutofit/>
          </a:bodyPr>
          <a:lstStyle/>
          <a:p>
            <a:pPr algn="l">
              <a:spcAft>
                <a:spcPts val="0"/>
              </a:spcAft>
              <a:defRPr sz="1200" b="1">
                <a:solidFill>
                  <a:srgbClr val="172033"/>
                </a:solidFill>
                <a:latin typeface="Arial"/>
              </a:defRPr>
            </a:pPr>
            <a:r>
              <a:t>Form</a:t>
            </a:r>
          </a:p>
        </p:txBody>
      </p:sp>
      <p:sp>
        <p:nvSpPr>
          <p:cNvPr id="260" name="TextBox 259"/>
          <p:cNvSpPr txBox="1"/>
          <p:nvPr/>
        </p:nvSpPr>
        <p:spPr>
          <a:xfrm>
            <a:off x="667512" y="1837944"/>
            <a:ext cx="1634489" cy="685800"/>
          </a:xfrm>
          <a:prstGeom prst="rect">
            <a:avLst/>
          </a:prstGeom>
          <a:noFill/>
        </p:spPr>
        <p:txBody>
          <a:bodyPr wrap="square">
            <a:normAutofit/>
          </a:bodyPr>
          <a:lstStyle/>
          <a:p>
            <a:pPr algn="l">
              <a:spcAft>
                <a:spcPts val="0"/>
              </a:spcAft>
              <a:defRPr sz="1000" b="0">
                <a:solidFill>
                  <a:srgbClr val="5B6472"/>
                </a:solidFill>
                <a:latin typeface="Arial"/>
              </a:defRPr>
            </a:pPr>
            <a:r>
              <a:t>Student enters name, location, issue type, priority, and description.</a:t>
            </a:r>
          </a:p>
        </p:txBody>
      </p:sp>
      <p:sp>
        <p:nvSpPr>
          <p:cNvPr id="261" name="Right Arrow 260"/>
          <p:cNvSpPr/>
          <p:nvPr/>
        </p:nvSpPr>
        <p:spPr>
          <a:xfrm>
            <a:off x="2366009" y="1764792"/>
            <a:ext cx="256032" cy="274320"/>
          </a:xfrm>
          <a:prstGeom prst="rightArrow">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2" name="Rounded Rectangle 261"/>
          <p:cNvSpPr/>
          <p:nvPr/>
        </p:nvSpPr>
        <p:spPr>
          <a:xfrm>
            <a:off x="2548889" y="1234440"/>
            <a:ext cx="1936241" cy="1417320"/>
          </a:xfrm>
          <a:prstGeom prst="roundRect">
            <a:avLst/>
          </a:prstGeom>
          <a:solidFill>
            <a:srgbClr val="FEF3C7"/>
          </a:solidFill>
          <a:ln w="12700">
            <a:solidFill>
              <a:srgbClr val="92400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3" name="Oval 262"/>
          <p:cNvSpPr/>
          <p:nvPr/>
        </p:nvSpPr>
        <p:spPr>
          <a:xfrm>
            <a:off x="2658617" y="1371600"/>
            <a:ext cx="320040" cy="320040"/>
          </a:xfrm>
          <a:prstGeom prst="ellipse">
            <a:avLst/>
          </a:prstGeom>
          <a:solidFill>
            <a:srgbClr val="9240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4" name="TextBox 263"/>
          <p:cNvSpPr txBox="1"/>
          <p:nvPr/>
        </p:nvSpPr>
        <p:spPr>
          <a:xfrm>
            <a:off x="2658617" y="1421892"/>
            <a:ext cx="320040" cy="164592"/>
          </a:xfrm>
          <a:prstGeom prst="rect">
            <a:avLst/>
          </a:prstGeom>
          <a:noFill/>
        </p:spPr>
        <p:txBody>
          <a:bodyPr wrap="square">
            <a:normAutofit/>
          </a:bodyPr>
          <a:lstStyle/>
          <a:p>
            <a:pPr algn="ctr">
              <a:spcAft>
                <a:spcPts val="0"/>
              </a:spcAft>
              <a:defRPr sz="1000" b="1">
                <a:solidFill>
                  <a:srgbClr val="FFFFFF"/>
                </a:solidFill>
                <a:latin typeface="Arial"/>
              </a:defRPr>
            </a:pPr>
            <a:r>
              <a:t>2</a:t>
            </a:r>
          </a:p>
        </p:txBody>
      </p:sp>
      <p:sp>
        <p:nvSpPr>
          <p:cNvPr id="265" name="TextBox 264"/>
          <p:cNvSpPr txBox="1"/>
          <p:nvPr/>
        </p:nvSpPr>
        <p:spPr>
          <a:xfrm>
            <a:off x="3051809" y="1380744"/>
            <a:ext cx="1314449" cy="228600"/>
          </a:xfrm>
          <a:prstGeom prst="rect">
            <a:avLst/>
          </a:prstGeom>
          <a:noFill/>
        </p:spPr>
        <p:txBody>
          <a:bodyPr wrap="square">
            <a:normAutofit/>
          </a:bodyPr>
          <a:lstStyle/>
          <a:p>
            <a:pPr algn="l">
              <a:spcAft>
                <a:spcPts val="0"/>
              </a:spcAft>
              <a:defRPr sz="1200" b="1">
                <a:solidFill>
                  <a:srgbClr val="172033"/>
                </a:solidFill>
                <a:latin typeface="Arial"/>
              </a:defRPr>
            </a:pPr>
            <a:r>
              <a:t>Validation</a:t>
            </a:r>
          </a:p>
        </p:txBody>
      </p:sp>
      <p:sp>
        <p:nvSpPr>
          <p:cNvPr id="266" name="TextBox 265"/>
          <p:cNvSpPr txBox="1"/>
          <p:nvPr/>
        </p:nvSpPr>
        <p:spPr>
          <a:xfrm>
            <a:off x="2713481" y="1837944"/>
            <a:ext cx="1634489" cy="685800"/>
          </a:xfrm>
          <a:prstGeom prst="rect">
            <a:avLst/>
          </a:prstGeom>
          <a:noFill/>
        </p:spPr>
        <p:txBody>
          <a:bodyPr wrap="square">
            <a:normAutofit/>
          </a:bodyPr>
          <a:lstStyle/>
          <a:p>
            <a:pPr algn="l">
              <a:spcAft>
                <a:spcPts val="0"/>
              </a:spcAft>
              <a:defRPr sz="1000" b="0">
                <a:solidFill>
                  <a:srgbClr val="5B6472"/>
                </a:solidFill>
                <a:latin typeface="Arial"/>
              </a:defRPr>
            </a:pPr>
            <a:r>
              <a:t>The page blocks empty reports and shows a clear message.</a:t>
            </a:r>
          </a:p>
        </p:txBody>
      </p:sp>
      <p:sp>
        <p:nvSpPr>
          <p:cNvPr id="267" name="Right Arrow 266"/>
          <p:cNvSpPr/>
          <p:nvPr/>
        </p:nvSpPr>
        <p:spPr>
          <a:xfrm>
            <a:off x="4411978" y="1764792"/>
            <a:ext cx="256032" cy="274320"/>
          </a:xfrm>
          <a:prstGeom prst="rightArrow">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8" name="Rounded Rectangle 267"/>
          <p:cNvSpPr/>
          <p:nvPr/>
        </p:nvSpPr>
        <p:spPr>
          <a:xfrm>
            <a:off x="4594859" y="1234440"/>
            <a:ext cx="1936241" cy="1417320"/>
          </a:xfrm>
          <a:prstGeom prst="roundRect">
            <a:avLst/>
          </a:prstGeom>
          <a:solidFill>
            <a:srgbClr val="DCFCE7"/>
          </a:solidFill>
          <a:ln w="127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9" name="Oval 268"/>
          <p:cNvSpPr/>
          <p:nvPr/>
        </p:nvSpPr>
        <p:spPr>
          <a:xfrm>
            <a:off x="4704587" y="1371600"/>
            <a:ext cx="320040" cy="32004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0" name="TextBox 269"/>
          <p:cNvSpPr txBox="1"/>
          <p:nvPr/>
        </p:nvSpPr>
        <p:spPr>
          <a:xfrm>
            <a:off x="4704587" y="1421892"/>
            <a:ext cx="320040" cy="164592"/>
          </a:xfrm>
          <a:prstGeom prst="rect">
            <a:avLst/>
          </a:prstGeom>
          <a:noFill/>
        </p:spPr>
        <p:txBody>
          <a:bodyPr wrap="square">
            <a:normAutofit/>
          </a:bodyPr>
          <a:lstStyle/>
          <a:p>
            <a:pPr algn="ctr">
              <a:spcAft>
                <a:spcPts val="0"/>
              </a:spcAft>
              <a:defRPr sz="1000" b="1">
                <a:solidFill>
                  <a:srgbClr val="FFFFFF"/>
                </a:solidFill>
                <a:latin typeface="Arial"/>
              </a:defRPr>
            </a:pPr>
            <a:r>
              <a:t>3</a:t>
            </a:r>
          </a:p>
        </p:txBody>
      </p:sp>
      <p:sp>
        <p:nvSpPr>
          <p:cNvPr id="271" name="TextBox 270"/>
          <p:cNvSpPr txBox="1"/>
          <p:nvPr/>
        </p:nvSpPr>
        <p:spPr>
          <a:xfrm>
            <a:off x="5097779" y="1380744"/>
            <a:ext cx="1314449" cy="228600"/>
          </a:xfrm>
          <a:prstGeom prst="rect">
            <a:avLst/>
          </a:prstGeom>
          <a:noFill/>
        </p:spPr>
        <p:txBody>
          <a:bodyPr wrap="square">
            <a:normAutofit/>
          </a:bodyPr>
          <a:lstStyle/>
          <a:p>
            <a:pPr algn="l">
              <a:spcAft>
                <a:spcPts val="0"/>
              </a:spcAft>
              <a:defRPr sz="1200" b="1">
                <a:solidFill>
                  <a:srgbClr val="172033"/>
                </a:solidFill>
                <a:latin typeface="Arial"/>
              </a:defRPr>
            </a:pPr>
            <a:r>
              <a:t>Submit</a:t>
            </a:r>
          </a:p>
        </p:txBody>
      </p:sp>
      <p:sp>
        <p:nvSpPr>
          <p:cNvPr id="272" name="TextBox 271"/>
          <p:cNvSpPr txBox="1"/>
          <p:nvPr/>
        </p:nvSpPr>
        <p:spPr>
          <a:xfrm>
            <a:off x="4759451" y="1837944"/>
            <a:ext cx="1634489" cy="685800"/>
          </a:xfrm>
          <a:prstGeom prst="rect">
            <a:avLst/>
          </a:prstGeom>
          <a:noFill/>
        </p:spPr>
        <p:txBody>
          <a:bodyPr wrap="square">
            <a:normAutofit/>
          </a:bodyPr>
          <a:lstStyle/>
          <a:p>
            <a:pPr algn="l">
              <a:spcAft>
                <a:spcPts val="0"/>
              </a:spcAft>
              <a:defRPr sz="1000" b="0">
                <a:solidFill>
                  <a:srgbClr val="5B6472"/>
                </a:solidFill>
                <a:latin typeface="Arial"/>
              </a:defRPr>
            </a:pPr>
            <a:r>
              <a:t>The first version proves that the report workflow makes sense.</a:t>
            </a:r>
          </a:p>
        </p:txBody>
      </p:sp>
      <p:sp>
        <p:nvSpPr>
          <p:cNvPr id="273" name="Right Arrow 272"/>
          <p:cNvSpPr/>
          <p:nvPr/>
        </p:nvSpPr>
        <p:spPr>
          <a:xfrm>
            <a:off x="6457948" y="1764792"/>
            <a:ext cx="256032" cy="274320"/>
          </a:xfrm>
          <a:prstGeom prst="rightArrow">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4" name="Rounded Rectangle 273"/>
          <p:cNvSpPr/>
          <p:nvPr/>
        </p:nvSpPr>
        <p:spPr>
          <a:xfrm>
            <a:off x="6640829" y="1234440"/>
            <a:ext cx="1936241" cy="1417320"/>
          </a:xfrm>
          <a:prstGeom prst="roundRect">
            <a:avLst/>
          </a:prstGeom>
          <a:solidFill>
            <a:srgbClr val="FEE2E2"/>
          </a:solidFill>
          <a:ln w="12700">
            <a:solidFill>
              <a:srgbClr val="A61B1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5" name="Oval 274"/>
          <p:cNvSpPr/>
          <p:nvPr/>
        </p:nvSpPr>
        <p:spPr>
          <a:xfrm>
            <a:off x="6750557" y="1371600"/>
            <a:ext cx="320040" cy="320040"/>
          </a:xfrm>
          <a:prstGeom prst="ellipse">
            <a:avLst/>
          </a:prstGeom>
          <a:solidFill>
            <a:srgbClr val="A61B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6" name="TextBox 275"/>
          <p:cNvSpPr txBox="1"/>
          <p:nvPr/>
        </p:nvSpPr>
        <p:spPr>
          <a:xfrm>
            <a:off x="6750557" y="1421892"/>
            <a:ext cx="320040" cy="164592"/>
          </a:xfrm>
          <a:prstGeom prst="rect">
            <a:avLst/>
          </a:prstGeom>
          <a:noFill/>
        </p:spPr>
        <p:txBody>
          <a:bodyPr wrap="square">
            <a:normAutofit/>
          </a:bodyPr>
          <a:lstStyle/>
          <a:p>
            <a:pPr algn="ctr">
              <a:spcAft>
                <a:spcPts val="0"/>
              </a:spcAft>
              <a:defRPr sz="1000" b="1">
                <a:solidFill>
                  <a:srgbClr val="FFFFFF"/>
                </a:solidFill>
                <a:latin typeface="Arial"/>
              </a:defRPr>
            </a:pPr>
            <a:r>
              <a:t>4</a:t>
            </a:r>
          </a:p>
        </p:txBody>
      </p:sp>
      <p:sp>
        <p:nvSpPr>
          <p:cNvPr id="277" name="TextBox 276"/>
          <p:cNvSpPr txBox="1"/>
          <p:nvPr/>
        </p:nvSpPr>
        <p:spPr>
          <a:xfrm>
            <a:off x="7143749" y="1380744"/>
            <a:ext cx="1314449" cy="228600"/>
          </a:xfrm>
          <a:prstGeom prst="rect">
            <a:avLst/>
          </a:prstGeom>
          <a:noFill/>
        </p:spPr>
        <p:txBody>
          <a:bodyPr wrap="square">
            <a:normAutofit/>
          </a:bodyPr>
          <a:lstStyle/>
          <a:p>
            <a:pPr algn="l">
              <a:spcAft>
                <a:spcPts val="0"/>
              </a:spcAft>
              <a:defRPr sz="1200" b="1">
                <a:solidFill>
                  <a:srgbClr val="172033"/>
                </a:solidFill>
                <a:latin typeface="Arial"/>
              </a:defRPr>
            </a:pPr>
            <a:r>
              <a:t>Feedback</a:t>
            </a:r>
          </a:p>
        </p:txBody>
      </p:sp>
      <p:sp>
        <p:nvSpPr>
          <p:cNvPr id="278" name="TextBox 277"/>
          <p:cNvSpPr txBox="1"/>
          <p:nvPr/>
        </p:nvSpPr>
        <p:spPr>
          <a:xfrm>
            <a:off x="6805421" y="1837944"/>
            <a:ext cx="1634489" cy="685800"/>
          </a:xfrm>
          <a:prstGeom prst="rect">
            <a:avLst/>
          </a:prstGeom>
          <a:noFill/>
        </p:spPr>
        <p:txBody>
          <a:bodyPr wrap="square">
            <a:normAutofit/>
          </a:bodyPr>
          <a:lstStyle/>
          <a:p>
            <a:pPr algn="l">
              <a:spcAft>
                <a:spcPts val="0"/>
              </a:spcAft>
              <a:defRPr sz="1000" b="0">
                <a:solidFill>
                  <a:srgbClr val="5B6472"/>
                </a:solidFill>
                <a:latin typeface="Arial"/>
              </a:defRPr>
            </a:pPr>
            <a:r>
              <a:t>Classmate testing shows what must change in Sprint 2.</a:t>
            </a:r>
          </a:p>
        </p:txBody>
      </p:sp>
      <p:sp>
        <p:nvSpPr>
          <p:cNvPr id="279" name="Rounded Rectangle 278"/>
          <p:cNvSpPr/>
          <p:nvPr/>
        </p:nvSpPr>
        <p:spPr>
          <a:xfrm>
            <a:off x="502920" y="2907792"/>
            <a:ext cx="3822191" cy="1481328"/>
          </a:xfrm>
          <a:prstGeom prst="roundRect">
            <a:avLst/>
          </a:prstGeom>
          <a:solidFill>
            <a:srgbClr val="FFFFFF"/>
          </a:solidFill>
          <a:ln w="12700">
            <a:solidFill>
              <a:srgbClr val="C7D0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0" name="TextBox 279"/>
          <p:cNvSpPr txBox="1"/>
          <p:nvPr/>
        </p:nvSpPr>
        <p:spPr>
          <a:xfrm>
            <a:off x="731520" y="3127248"/>
            <a:ext cx="3291840" cy="256032"/>
          </a:xfrm>
          <a:prstGeom prst="rect">
            <a:avLst/>
          </a:prstGeom>
          <a:noFill/>
        </p:spPr>
        <p:txBody>
          <a:bodyPr wrap="square">
            <a:normAutofit/>
          </a:bodyPr>
          <a:lstStyle/>
          <a:p>
            <a:pPr algn="l">
              <a:spcAft>
                <a:spcPts val="0"/>
              </a:spcAft>
              <a:defRPr sz="1500" b="1">
                <a:solidFill>
                  <a:srgbClr val="172033"/>
                </a:solidFill>
                <a:latin typeface="Arial"/>
              </a:defRPr>
            </a:pPr>
            <a:r>
              <a:t>Sprint scope</a:t>
            </a:r>
          </a:p>
        </p:txBody>
      </p:sp>
      <p:sp>
        <p:nvSpPr>
          <p:cNvPr id="281" name="TextBox 280"/>
          <p:cNvSpPr txBox="1"/>
          <p:nvPr/>
        </p:nvSpPr>
        <p:spPr>
          <a:xfrm>
            <a:off x="731520" y="3529584"/>
            <a:ext cx="3291840" cy="182880"/>
          </a:xfrm>
          <a:prstGeom prst="rect">
            <a:avLst/>
          </a:prstGeom>
          <a:noFill/>
        </p:spPr>
        <p:txBody>
          <a:bodyPr wrap="square">
            <a:normAutofit/>
          </a:bodyPr>
          <a:lstStyle/>
          <a:p>
            <a:pPr algn="l">
              <a:spcAft>
                <a:spcPts val="0"/>
              </a:spcAft>
              <a:defRPr sz="1000" b="0">
                <a:solidFill>
                  <a:srgbClr val="172033"/>
                </a:solidFill>
                <a:latin typeface="Arial"/>
              </a:defRPr>
            </a:pPr>
            <a:r>
              <a:t>- One student page</a:t>
            </a:r>
          </a:p>
        </p:txBody>
      </p:sp>
      <p:sp>
        <p:nvSpPr>
          <p:cNvPr id="282" name="TextBox 281"/>
          <p:cNvSpPr txBox="1"/>
          <p:nvPr/>
        </p:nvSpPr>
        <p:spPr>
          <a:xfrm>
            <a:off x="731520" y="3739896"/>
            <a:ext cx="3291840" cy="182880"/>
          </a:xfrm>
          <a:prstGeom prst="rect">
            <a:avLst/>
          </a:prstGeom>
          <a:noFill/>
        </p:spPr>
        <p:txBody>
          <a:bodyPr wrap="square">
            <a:normAutofit/>
          </a:bodyPr>
          <a:lstStyle/>
          <a:p>
            <a:pPr algn="l">
              <a:spcAft>
                <a:spcPts val="0"/>
              </a:spcAft>
              <a:defRPr sz="1000" b="0">
                <a:solidFill>
                  <a:srgbClr val="172033"/>
                </a:solidFill>
                <a:latin typeface="Arial"/>
              </a:defRPr>
            </a:pPr>
            <a:r>
              <a:t>- Basic report fields</a:t>
            </a:r>
          </a:p>
        </p:txBody>
      </p:sp>
      <p:sp>
        <p:nvSpPr>
          <p:cNvPr id="283" name="TextBox 282"/>
          <p:cNvSpPr txBox="1"/>
          <p:nvPr/>
        </p:nvSpPr>
        <p:spPr>
          <a:xfrm>
            <a:off x="731520" y="3950208"/>
            <a:ext cx="3291840" cy="182880"/>
          </a:xfrm>
          <a:prstGeom prst="rect">
            <a:avLst/>
          </a:prstGeom>
          <a:noFill/>
        </p:spPr>
        <p:txBody>
          <a:bodyPr wrap="square">
            <a:normAutofit/>
          </a:bodyPr>
          <a:lstStyle/>
          <a:p>
            <a:pPr algn="l">
              <a:spcAft>
                <a:spcPts val="0"/>
              </a:spcAft>
              <a:defRPr sz="1000" b="0">
                <a:solidFill>
                  <a:srgbClr val="172033"/>
                </a:solidFill>
                <a:latin typeface="Arial"/>
              </a:defRPr>
            </a:pPr>
            <a:r>
              <a:t>- Required-field validation</a:t>
            </a:r>
          </a:p>
        </p:txBody>
      </p:sp>
      <p:sp>
        <p:nvSpPr>
          <p:cNvPr id="284" name="TextBox 283"/>
          <p:cNvSpPr txBox="1"/>
          <p:nvPr/>
        </p:nvSpPr>
        <p:spPr>
          <a:xfrm>
            <a:off x="731520" y="4160520"/>
            <a:ext cx="3291840" cy="182880"/>
          </a:xfrm>
          <a:prstGeom prst="rect">
            <a:avLst/>
          </a:prstGeom>
          <a:noFill/>
        </p:spPr>
        <p:txBody>
          <a:bodyPr wrap="square">
            <a:normAutofit/>
          </a:bodyPr>
          <a:lstStyle/>
          <a:p>
            <a:pPr algn="l">
              <a:spcAft>
                <a:spcPts val="0"/>
              </a:spcAft>
              <a:defRPr sz="1000" b="0">
                <a:solidFill>
                  <a:srgbClr val="172033"/>
                </a:solidFill>
                <a:latin typeface="Arial"/>
              </a:defRPr>
            </a:pPr>
            <a:r>
              <a:t>- Simple feedback message</a:t>
            </a:r>
          </a:p>
        </p:txBody>
      </p:sp>
      <p:sp>
        <p:nvSpPr>
          <p:cNvPr id="285" name="Rounded Rectangle 284"/>
          <p:cNvSpPr/>
          <p:nvPr/>
        </p:nvSpPr>
        <p:spPr>
          <a:xfrm>
            <a:off x="4617720" y="2907792"/>
            <a:ext cx="3822191" cy="1481328"/>
          </a:xfrm>
          <a:prstGeom prst="roundRect">
            <a:avLst/>
          </a:prstGeom>
          <a:solidFill>
            <a:srgbClr val="FEE2E2"/>
          </a:solidFill>
          <a:ln w="12700">
            <a:solidFill>
              <a:srgbClr val="A61B1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6" name="TextBox 285"/>
          <p:cNvSpPr txBox="1"/>
          <p:nvPr/>
        </p:nvSpPr>
        <p:spPr>
          <a:xfrm>
            <a:off x="4846320" y="3127248"/>
            <a:ext cx="3291840" cy="256032"/>
          </a:xfrm>
          <a:prstGeom prst="rect">
            <a:avLst/>
          </a:prstGeom>
          <a:noFill/>
        </p:spPr>
        <p:txBody>
          <a:bodyPr wrap="square">
            <a:normAutofit/>
          </a:bodyPr>
          <a:lstStyle/>
          <a:p>
            <a:pPr algn="l">
              <a:spcAft>
                <a:spcPts val="0"/>
              </a:spcAft>
              <a:defRPr sz="1500" b="1">
                <a:solidFill>
                  <a:srgbClr val="A61B1B"/>
                </a:solidFill>
                <a:latin typeface="Arial"/>
              </a:defRPr>
            </a:pPr>
            <a:r>
              <a:t>Not in Sprint 1</a:t>
            </a:r>
          </a:p>
        </p:txBody>
      </p:sp>
      <p:sp>
        <p:nvSpPr>
          <p:cNvPr id="287" name="TextBox 286"/>
          <p:cNvSpPr txBox="1"/>
          <p:nvPr/>
        </p:nvSpPr>
        <p:spPr>
          <a:xfrm>
            <a:off x="4846320" y="3529584"/>
            <a:ext cx="3291840" cy="182880"/>
          </a:xfrm>
          <a:prstGeom prst="rect">
            <a:avLst/>
          </a:prstGeom>
          <a:noFill/>
        </p:spPr>
        <p:txBody>
          <a:bodyPr wrap="square">
            <a:normAutofit/>
          </a:bodyPr>
          <a:lstStyle/>
          <a:p>
            <a:pPr algn="l">
              <a:spcAft>
                <a:spcPts val="0"/>
              </a:spcAft>
              <a:defRPr sz="1000" b="0">
                <a:solidFill>
                  <a:srgbClr val="172033"/>
                </a:solidFill>
                <a:latin typeface="Arial"/>
              </a:defRPr>
            </a:pPr>
            <a:r>
              <a:t>- No database yet</a:t>
            </a:r>
          </a:p>
        </p:txBody>
      </p:sp>
      <p:sp>
        <p:nvSpPr>
          <p:cNvPr id="288" name="TextBox 287"/>
          <p:cNvSpPr txBox="1"/>
          <p:nvPr/>
        </p:nvSpPr>
        <p:spPr>
          <a:xfrm>
            <a:off x="4846320" y="3739896"/>
            <a:ext cx="3291840" cy="182880"/>
          </a:xfrm>
          <a:prstGeom prst="rect">
            <a:avLst/>
          </a:prstGeom>
          <a:noFill/>
        </p:spPr>
        <p:txBody>
          <a:bodyPr wrap="square">
            <a:normAutofit/>
          </a:bodyPr>
          <a:lstStyle/>
          <a:p>
            <a:pPr algn="l">
              <a:spcAft>
                <a:spcPts val="0"/>
              </a:spcAft>
              <a:defRPr sz="1000" b="0">
                <a:solidFill>
                  <a:srgbClr val="172033"/>
                </a:solidFill>
                <a:latin typeface="Arial"/>
              </a:defRPr>
            </a:pPr>
            <a:r>
              <a:t>- No teacher dashboard yet</a:t>
            </a:r>
          </a:p>
        </p:txBody>
      </p:sp>
      <p:sp>
        <p:nvSpPr>
          <p:cNvPr id="289" name="TextBox 288"/>
          <p:cNvSpPr txBox="1"/>
          <p:nvPr/>
        </p:nvSpPr>
        <p:spPr>
          <a:xfrm>
            <a:off x="4846320" y="3950208"/>
            <a:ext cx="3291840" cy="182880"/>
          </a:xfrm>
          <a:prstGeom prst="rect">
            <a:avLst/>
          </a:prstGeom>
          <a:noFill/>
        </p:spPr>
        <p:txBody>
          <a:bodyPr wrap="square">
            <a:normAutofit/>
          </a:bodyPr>
          <a:lstStyle/>
          <a:p>
            <a:pPr algn="l">
              <a:spcAft>
                <a:spcPts val="0"/>
              </a:spcAft>
              <a:defRPr sz="1000" b="0">
                <a:solidFill>
                  <a:srgbClr val="172033"/>
                </a:solidFill>
                <a:latin typeface="Arial"/>
              </a:defRPr>
            </a:pPr>
            <a:r>
              <a:t>- No login system yet</a:t>
            </a:r>
          </a:p>
        </p:txBody>
      </p:sp>
      <p:sp>
        <p:nvSpPr>
          <p:cNvPr id="290" name="TextBox 289"/>
          <p:cNvSpPr txBox="1"/>
          <p:nvPr/>
        </p:nvSpPr>
        <p:spPr>
          <a:xfrm>
            <a:off x="4846320" y="4160520"/>
            <a:ext cx="3291840" cy="182880"/>
          </a:xfrm>
          <a:prstGeom prst="rect">
            <a:avLst/>
          </a:prstGeom>
          <a:noFill/>
        </p:spPr>
        <p:txBody>
          <a:bodyPr wrap="square">
            <a:normAutofit/>
          </a:bodyPr>
          <a:lstStyle/>
          <a:p>
            <a:pPr algn="l">
              <a:spcAft>
                <a:spcPts val="0"/>
              </a:spcAft>
              <a:defRPr sz="1000" b="0">
                <a:solidFill>
                  <a:srgbClr val="172033"/>
                </a:solidFill>
                <a:latin typeface="Arial"/>
              </a:defRPr>
            </a:pPr>
            <a:r>
              <a:t>- No extra features without testing</a:t>
            </a:r>
          </a:p>
        </p:txBody>
      </p:sp>
      <p:sp>
        <p:nvSpPr>
          <p:cNvPr id="291" name="WrittenEvidence card 13"/>
          <p:cNvSpPr/>
          <p:nvPr/>
        </p:nvSpPr>
        <p:spPr>
          <a:xfrm>
            <a:off x="502920" y="4407408"/>
            <a:ext cx="8183879" cy="502920"/>
          </a:xfrm>
          <a:prstGeom prst="roundRect">
            <a:avLst/>
          </a:prstGeom>
          <a:solidFill>
            <a:srgbClr val="DBEAFE"/>
          </a:solidFill>
          <a:ln w="12700">
            <a:solidFill>
              <a:srgbClr val="1F4F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2" name="WrittenEvidence title 13"/>
          <p:cNvSpPr txBox="1"/>
          <p:nvPr/>
        </p:nvSpPr>
        <p:spPr>
          <a:xfrm>
            <a:off x="667512" y="4526280"/>
            <a:ext cx="1115568" cy="338328"/>
          </a:xfrm>
          <a:prstGeom prst="rect">
            <a:avLst/>
          </a:prstGeom>
          <a:noFill/>
        </p:spPr>
        <p:txBody>
          <a:bodyPr wrap="square">
            <a:normAutofit/>
          </a:bodyPr>
          <a:lstStyle/>
          <a:p>
            <a:pPr algn="l">
              <a:spcAft>
                <a:spcPts val="0"/>
              </a:spcAft>
              <a:defRPr sz="950" b="1">
                <a:solidFill>
                  <a:srgbClr val="1F4F8F"/>
                </a:solidFill>
                <a:latin typeface="Arial"/>
              </a:defRPr>
            </a:pPr>
            <a:r>
              <a:t>Evidence</a:t>
            </a:r>
          </a:p>
        </p:txBody>
      </p:sp>
      <p:sp>
        <p:nvSpPr>
          <p:cNvPr id="293" name="WrittenEvidence body 13"/>
          <p:cNvSpPr txBox="1"/>
          <p:nvPr/>
        </p:nvSpPr>
        <p:spPr>
          <a:xfrm>
            <a:off x="1737360" y="4517136"/>
            <a:ext cx="6766559" cy="338328"/>
          </a:xfrm>
          <a:prstGeom prst="rect">
            <a:avLst/>
          </a:prstGeom>
          <a:noFill/>
        </p:spPr>
        <p:txBody>
          <a:bodyPr wrap="square">
            <a:normAutofit/>
          </a:bodyPr>
          <a:lstStyle/>
          <a:p>
            <a:pPr algn="l">
              <a:spcAft>
                <a:spcPts val="0"/>
              </a:spcAft>
              <a:defRPr sz="950" b="0">
                <a:solidFill>
                  <a:srgbClr val="172033"/>
                </a:solidFill>
                <a:latin typeface="Arial"/>
              </a:defRPr>
            </a:pPr>
            <a:r>
              <a:t>Sprint 1 was kept small so testing could focus on the basic report workflow before adding a database or teacher features.</a:t>
            </a: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Rectangle 257"/>
          <p:cNvSpPr/>
          <p:nvPr/>
        </p:nvSpPr>
        <p:spPr>
          <a:xfrm>
            <a:off x="0" y="0"/>
            <a:ext cx="9144000" cy="5143500"/>
          </a:xfrm>
          <a:prstGeom prst="rect">
            <a:avLst/>
          </a:prstGeom>
          <a:solidFill>
            <a:srgbClr val="F2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9" name="Rectangle 258"/>
          <p:cNvSpPr/>
          <p:nvPr/>
        </p:nvSpPr>
        <p:spPr>
          <a:xfrm>
            <a:off x="0" y="0"/>
            <a:ext cx="146304" cy="5143500"/>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0" name="TextBox 259"/>
          <p:cNvSpPr txBox="1"/>
          <p:nvPr/>
        </p:nvSpPr>
        <p:spPr>
          <a:xfrm>
            <a:off x="438912" y="256032"/>
            <a:ext cx="8138160" cy="411480"/>
          </a:xfrm>
          <a:prstGeom prst="rect">
            <a:avLst/>
          </a:prstGeom>
          <a:noFill/>
        </p:spPr>
        <p:txBody>
          <a:bodyPr wrap="square">
            <a:normAutofit/>
          </a:bodyPr>
          <a:lstStyle/>
          <a:p>
            <a:pPr algn="l">
              <a:spcAft>
                <a:spcPts val="0"/>
              </a:spcAft>
              <a:defRPr sz="2500" b="1">
                <a:solidFill>
                  <a:srgbClr val="172033"/>
                </a:solidFill>
                <a:latin typeface="Arial"/>
              </a:defRPr>
            </a:pPr>
            <a:r>
              <a:t>Sprint 1 Backlog</a:t>
            </a:r>
          </a:p>
        </p:txBody>
      </p:sp>
      <p:sp>
        <p:nvSpPr>
          <p:cNvPr id="261" name="TextBox 260"/>
          <p:cNvSpPr txBox="1"/>
          <p:nvPr/>
        </p:nvSpPr>
        <p:spPr>
          <a:xfrm>
            <a:off x="457200" y="676656"/>
            <a:ext cx="7955279" cy="292608"/>
          </a:xfrm>
          <a:prstGeom prst="rect">
            <a:avLst/>
          </a:prstGeom>
          <a:noFill/>
        </p:spPr>
        <p:txBody>
          <a:bodyPr wrap="square">
            <a:normAutofit/>
          </a:bodyPr>
          <a:lstStyle/>
          <a:p>
            <a:pPr algn="l">
              <a:spcAft>
                <a:spcPts val="0"/>
              </a:spcAft>
              <a:defRPr sz="1200" b="0">
                <a:solidFill>
                  <a:srgbClr val="5B6472"/>
                </a:solidFill>
                <a:latin typeface="Arial"/>
              </a:defRPr>
            </a:pPr>
            <a:r>
              <a:t>Work is split into build, test, and record tasks.</a:t>
            </a:r>
          </a:p>
        </p:txBody>
      </p:sp>
      <p:sp>
        <p:nvSpPr>
          <p:cNvPr id="262" name="Rectangle 261"/>
          <p:cNvSpPr/>
          <p:nvPr/>
        </p:nvSpPr>
        <p:spPr>
          <a:xfrm>
            <a:off x="457200" y="960120"/>
            <a:ext cx="1005840" cy="36576"/>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3" name="Rounded Rectangle 262"/>
          <p:cNvSpPr/>
          <p:nvPr/>
        </p:nvSpPr>
        <p:spPr>
          <a:xfrm>
            <a:off x="594360" y="1143000"/>
            <a:ext cx="2487168" cy="3520440"/>
          </a:xfrm>
          <a:prstGeom prst="roundRect">
            <a:avLst/>
          </a:prstGeom>
          <a:solidFill>
            <a:srgbClr val="DBEAFE"/>
          </a:solidFill>
          <a:ln w="12700">
            <a:solidFill>
              <a:srgbClr val="1F4F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4" name="TextBox 263"/>
          <p:cNvSpPr txBox="1"/>
          <p:nvPr/>
        </p:nvSpPr>
        <p:spPr>
          <a:xfrm>
            <a:off x="777240" y="1353312"/>
            <a:ext cx="2103120" cy="320040"/>
          </a:xfrm>
          <a:prstGeom prst="rect">
            <a:avLst/>
          </a:prstGeom>
          <a:noFill/>
        </p:spPr>
        <p:txBody>
          <a:bodyPr wrap="square">
            <a:normAutofit/>
          </a:bodyPr>
          <a:lstStyle/>
          <a:p>
            <a:pPr algn="l">
              <a:spcAft>
                <a:spcPts val="0"/>
              </a:spcAft>
              <a:defRPr sz="1800" b="1">
                <a:solidFill>
                  <a:srgbClr val="1F4F8F"/>
                </a:solidFill>
                <a:latin typeface="Arial"/>
              </a:defRPr>
            </a:pPr>
            <a:r>
              <a:t>Build</a:t>
            </a:r>
          </a:p>
        </p:txBody>
      </p:sp>
      <p:sp>
        <p:nvSpPr>
          <p:cNvPr id="265" name="Rounded Rectangle 264"/>
          <p:cNvSpPr/>
          <p:nvPr/>
        </p:nvSpPr>
        <p:spPr>
          <a:xfrm>
            <a:off x="777240" y="1828800"/>
            <a:ext cx="2121408" cy="384048"/>
          </a:xfrm>
          <a:prstGeom prst="roundRect">
            <a:avLst/>
          </a:prstGeom>
          <a:solidFill>
            <a:srgbClr val="FFFFFF"/>
          </a:solidFill>
          <a:ln w="12700">
            <a:solidFill>
              <a:srgbClr val="C7D0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6" name="TextBox 265"/>
          <p:cNvSpPr txBox="1"/>
          <p:nvPr/>
        </p:nvSpPr>
        <p:spPr>
          <a:xfrm>
            <a:off x="923544" y="1938528"/>
            <a:ext cx="1828800" cy="164592"/>
          </a:xfrm>
          <a:prstGeom prst="rect">
            <a:avLst/>
          </a:prstGeom>
          <a:noFill/>
        </p:spPr>
        <p:txBody>
          <a:bodyPr wrap="square">
            <a:normAutofit/>
          </a:bodyPr>
          <a:lstStyle/>
          <a:p>
            <a:pPr algn="l">
              <a:spcAft>
                <a:spcPts val="0"/>
              </a:spcAft>
              <a:defRPr sz="1000" b="0">
                <a:solidFill>
                  <a:srgbClr val="172033"/>
                </a:solidFill>
                <a:latin typeface="Arial"/>
              </a:defRPr>
            </a:pPr>
            <a:r>
              <a:t>HTML page</a:t>
            </a:r>
          </a:p>
        </p:txBody>
      </p:sp>
      <p:sp>
        <p:nvSpPr>
          <p:cNvPr id="267" name="Rounded Rectangle 266"/>
          <p:cNvSpPr/>
          <p:nvPr/>
        </p:nvSpPr>
        <p:spPr>
          <a:xfrm>
            <a:off x="777240" y="2395728"/>
            <a:ext cx="2121408" cy="384048"/>
          </a:xfrm>
          <a:prstGeom prst="roundRect">
            <a:avLst/>
          </a:prstGeom>
          <a:solidFill>
            <a:srgbClr val="FFFFFF"/>
          </a:solidFill>
          <a:ln w="12700">
            <a:solidFill>
              <a:srgbClr val="C7D0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8" name="TextBox 267"/>
          <p:cNvSpPr txBox="1"/>
          <p:nvPr/>
        </p:nvSpPr>
        <p:spPr>
          <a:xfrm>
            <a:off x="923544" y="2505456"/>
            <a:ext cx="1828800" cy="164592"/>
          </a:xfrm>
          <a:prstGeom prst="rect">
            <a:avLst/>
          </a:prstGeom>
          <a:noFill/>
        </p:spPr>
        <p:txBody>
          <a:bodyPr wrap="square">
            <a:normAutofit/>
          </a:bodyPr>
          <a:lstStyle/>
          <a:p>
            <a:pPr algn="l">
              <a:spcAft>
                <a:spcPts val="0"/>
              </a:spcAft>
              <a:defRPr sz="1000" b="0">
                <a:solidFill>
                  <a:srgbClr val="172033"/>
                </a:solidFill>
                <a:latin typeface="Arial"/>
              </a:defRPr>
            </a:pPr>
            <a:r>
              <a:t>Form fields</a:t>
            </a:r>
          </a:p>
        </p:txBody>
      </p:sp>
      <p:sp>
        <p:nvSpPr>
          <p:cNvPr id="269" name="Rounded Rectangle 268"/>
          <p:cNvSpPr/>
          <p:nvPr/>
        </p:nvSpPr>
        <p:spPr>
          <a:xfrm>
            <a:off x="777240" y="2962656"/>
            <a:ext cx="2121408" cy="384048"/>
          </a:xfrm>
          <a:prstGeom prst="roundRect">
            <a:avLst/>
          </a:prstGeom>
          <a:solidFill>
            <a:srgbClr val="FFFFFF"/>
          </a:solidFill>
          <a:ln w="12700">
            <a:solidFill>
              <a:srgbClr val="C7D0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0" name="TextBox 269"/>
          <p:cNvSpPr txBox="1"/>
          <p:nvPr/>
        </p:nvSpPr>
        <p:spPr>
          <a:xfrm>
            <a:off x="923544" y="3072384"/>
            <a:ext cx="1828800" cy="164592"/>
          </a:xfrm>
          <a:prstGeom prst="rect">
            <a:avLst/>
          </a:prstGeom>
          <a:noFill/>
        </p:spPr>
        <p:txBody>
          <a:bodyPr wrap="square">
            <a:normAutofit/>
          </a:bodyPr>
          <a:lstStyle/>
          <a:p>
            <a:pPr algn="l">
              <a:spcAft>
                <a:spcPts val="0"/>
              </a:spcAft>
              <a:defRPr sz="1000" b="0">
                <a:solidFill>
                  <a:srgbClr val="172033"/>
                </a:solidFill>
                <a:latin typeface="Arial"/>
              </a:defRPr>
            </a:pPr>
            <a:r>
              <a:t>Submit button</a:t>
            </a:r>
          </a:p>
        </p:txBody>
      </p:sp>
      <p:sp>
        <p:nvSpPr>
          <p:cNvPr id="271" name="Rounded Rectangle 270"/>
          <p:cNvSpPr/>
          <p:nvPr/>
        </p:nvSpPr>
        <p:spPr>
          <a:xfrm>
            <a:off x="777240" y="3529584"/>
            <a:ext cx="2121408" cy="384048"/>
          </a:xfrm>
          <a:prstGeom prst="roundRect">
            <a:avLst/>
          </a:prstGeom>
          <a:solidFill>
            <a:srgbClr val="FFFFFF"/>
          </a:solidFill>
          <a:ln w="12700">
            <a:solidFill>
              <a:srgbClr val="C7D0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2" name="TextBox 271"/>
          <p:cNvSpPr txBox="1"/>
          <p:nvPr/>
        </p:nvSpPr>
        <p:spPr>
          <a:xfrm>
            <a:off x="923544" y="3639312"/>
            <a:ext cx="1828800" cy="164592"/>
          </a:xfrm>
          <a:prstGeom prst="rect">
            <a:avLst/>
          </a:prstGeom>
          <a:noFill/>
        </p:spPr>
        <p:txBody>
          <a:bodyPr wrap="square">
            <a:normAutofit/>
          </a:bodyPr>
          <a:lstStyle/>
          <a:p>
            <a:pPr algn="l">
              <a:spcAft>
                <a:spcPts val="0"/>
              </a:spcAft>
              <a:defRPr sz="1000" b="0">
                <a:solidFill>
                  <a:srgbClr val="172033"/>
                </a:solidFill>
                <a:latin typeface="Arial"/>
              </a:defRPr>
            </a:pPr>
            <a:r>
              <a:t>Success/error message</a:t>
            </a:r>
          </a:p>
        </p:txBody>
      </p:sp>
      <p:sp>
        <p:nvSpPr>
          <p:cNvPr id="273" name="Rounded Rectangle 272"/>
          <p:cNvSpPr/>
          <p:nvPr/>
        </p:nvSpPr>
        <p:spPr>
          <a:xfrm>
            <a:off x="3410712" y="1143000"/>
            <a:ext cx="2487168" cy="3520440"/>
          </a:xfrm>
          <a:prstGeom prst="roundRect">
            <a:avLst/>
          </a:prstGeom>
          <a:solidFill>
            <a:srgbClr val="FEF3C7"/>
          </a:solidFill>
          <a:ln w="12700">
            <a:solidFill>
              <a:srgbClr val="92400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4" name="TextBox 273"/>
          <p:cNvSpPr txBox="1"/>
          <p:nvPr/>
        </p:nvSpPr>
        <p:spPr>
          <a:xfrm>
            <a:off x="3593592" y="1353312"/>
            <a:ext cx="2103120" cy="320040"/>
          </a:xfrm>
          <a:prstGeom prst="rect">
            <a:avLst/>
          </a:prstGeom>
          <a:noFill/>
        </p:spPr>
        <p:txBody>
          <a:bodyPr wrap="square">
            <a:normAutofit/>
          </a:bodyPr>
          <a:lstStyle/>
          <a:p>
            <a:pPr algn="l">
              <a:spcAft>
                <a:spcPts val="0"/>
              </a:spcAft>
              <a:defRPr sz="1800" b="1">
                <a:solidFill>
                  <a:srgbClr val="92400E"/>
                </a:solidFill>
                <a:latin typeface="Arial"/>
              </a:defRPr>
            </a:pPr>
            <a:r>
              <a:t>Test</a:t>
            </a:r>
          </a:p>
        </p:txBody>
      </p:sp>
      <p:sp>
        <p:nvSpPr>
          <p:cNvPr id="275" name="Rounded Rectangle 274"/>
          <p:cNvSpPr/>
          <p:nvPr/>
        </p:nvSpPr>
        <p:spPr>
          <a:xfrm>
            <a:off x="3593592" y="1828800"/>
            <a:ext cx="2121408" cy="384048"/>
          </a:xfrm>
          <a:prstGeom prst="roundRect">
            <a:avLst/>
          </a:prstGeom>
          <a:solidFill>
            <a:srgbClr val="FFFFFF"/>
          </a:solidFill>
          <a:ln w="12700">
            <a:solidFill>
              <a:srgbClr val="C7D0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6" name="TextBox 275"/>
          <p:cNvSpPr txBox="1"/>
          <p:nvPr/>
        </p:nvSpPr>
        <p:spPr>
          <a:xfrm>
            <a:off x="3739896" y="1938528"/>
            <a:ext cx="1828800" cy="164592"/>
          </a:xfrm>
          <a:prstGeom prst="rect">
            <a:avLst/>
          </a:prstGeom>
          <a:noFill/>
        </p:spPr>
        <p:txBody>
          <a:bodyPr wrap="square">
            <a:normAutofit/>
          </a:bodyPr>
          <a:lstStyle/>
          <a:p>
            <a:pPr algn="l">
              <a:spcAft>
                <a:spcPts val="0"/>
              </a:spcAft>
              <a:defRPr sz="1000" b="0">
                <a:solidFill>
                  <a:srgbClr val="172033"/>
                </a:solidFill>
                <a:latin typeface="Arial"/>
              </a:defRPr>
            </a:pPr>
            <a:r>
              <a:t>Complete report</a:t>
            </a:r>
          </a:p>
        </p:txBody>
      </p:sp>
      <p:sp>
        <p:nvSpPr>
          <p:cNvPr id="277" name="Rounded Rectangle 276"/>
          <p:cNvSpPr/>
          <p:nvPr/>
        </p:nvSpPr>
        <p:spPr>
          <a:xfrm>
            <a:off x="3593592" y="2395728"/>
            <a:ext cx="2121408" cy="384048"/>
          </a:xfrm>
          <a:prstGeom prst="roundRect">
            <a:avLst/>
          </a:prstGeom>
          <a:solidFill>
            <a:srgbClr val="FFFFFF"/>
          </a:solidFill>
          <a:ln w="12700">
            <a:solidFill>
              <a:srgbClr val="C7D0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8" name="TextBox 277"/>
          <p:cNvSpPr txBox="1"/>
          <p:nvPr/>
        </p:nvSpPr>
        <p:spPr>
          <a:xfrm>
            <a:off x="3739896" y="2505456"/>
            <a:ext cx="1828800" cy="164592"/>
          </a:xfrm>
          <a:prstGeom prst="rect">
            <a:avLst/>
          </a:prstGeom>
          <a:noFill/>
        </p:spPr>
        <p:txBody>
          <a:bodyPr wrap="square">
            <a:normAutofit/>
          </a:bodyPr>
          <a:lstStyle/>
          <a:p>
            <a:pPr algn="l">
              <a:spcAft>
                <a:spcPts val="0"/>
              </a:spcAft>
              <a:defRPr sz="1000" b="0">
                <a:solidFill>
                  <a:srgbClr val="172033"/>
                </a:solidFill>
                <a:latin typeface="Arial"/>
              </a:defRPr>
            </a:pPr>
            <a:r>
              <a:t>Missing name</a:t>
            </a:r>
          </a:p>
        </p:txBody>
      </p:sp>
      <p:sp>
        <p:nvSpPr>
          <p:cNvPr id="279" name="Rounded Rectangle 278"/>
          <p:cNvSpPr/>
          <p:nvPr/>
        </p:nvSpPr>
        <p:spPr>
          <a:xfrm>
            <a:off x="3593592" y="2962656"/>
            <a:ext cx="2121408" cy="384048"/>
          </a:xfrm>
          <a:prstGeom prst="roundRect">
            <a:avLst/>
          </a:prstGeom>
          <a:solidFill>
            <a:srgbClr val="FFFFFF"/>
          </a:solidFill>
          <a:ln w="12700">
            <a:solidFill>
              <a:srgbClr val="C7D0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0" name="TextBox 279"/>
          <p:cNvSpPr txBox="1"/>
          <p:nvPr/>
        </p:nvSpPr>
        <p:spPr>
          <a:xfrm>
            <a:off x="3739896" y="3072384"/>
            <a:ext cx="1828800" cy="164592"/>
          </a:xfrm>
          <a:prstGeom prst="rect">
            <a:avLst/>
          </a:prstGeom>
          <a:noFill/>
        </p:spPr>
        <p:txBody>
          <a:bodyPr wrap="square">
            <a:normAutofit/>
          </a:bodyPr>
          <a:lstStyle/>
          <a:p>
            <a:pPr algn="l">
              <a:spcAft>
                <a:spcPts val="0"/>
              </a:spcAft>
              <a:defRPr sz="1000" b="0">
                <a:solidFill>
                  <a:srgbClr val="172033"/>
                </a:solidFill>
                <a:latin typeface="Arial"/>
              </a:defRPr>
            </a:pPr>
            <a:r>
              <a:t>Missing description</a:t>
            </a:r>
          </a:p>
        </p:txBody>
      </p:sp>
      <p:sp>
        <p:nvSpPr>
          <p:cNvPr id="281" name="Rounded Rectangle 280"/>
          <p:cNvSpPr/>
          <p:nvPr/>
        </p:nvSpPr>
        <p:spPr>
          <a:xfrm>
            <a:off x="3593592" y="3529584"/>
            <a:ext cx="2121408" cy="384048"/>
          </a:xfrm>
          <a:prstGeom prst="roundRect">
            <a:avLst/>
          </a:prstGeom>
          <a:solidFill>
            <a:srgbClr val="FFFFFF"/>
          </a:solidFill>
          <a:ln w="12700">
            <a:solidFill>
              <a:srgbClr val="C7D0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2" name="TextBox 281"/>
          <p:cNvSpPr txBox="1"/>
          <p:nvPr/>
        </p:nvSpPr>
        <p:spPr>
          <a:xfrm>
            <a:off x="3739896" y="3639312"/>
            <a:ext cx="1828800" cy="164592"/>
          </a:xfrm>
          <a:prstGeom prst="rect">
            <a:avLst/>
          </a:prstGeom>
          <a:noFill/>
        </p:spPr>
        <p:txBody>
          <a:bodyPr wrap="square">
            <a:normAutofit/>
          </a:bodyPr>
          <a:lstStyle/>
          <a:p>
            <a:pPr algn="l">
              <a:spcAft>
                <a:spcPts val="0"/>
              </a:spcAft>
              <a:defRPr sz="1000" b="0">
                <a:solidFill>
                  <a:srgbClr val="172033"/>
                </a:solidFill>
                <a:latin typeface="Arial"/>
              </a:defRPr>
            </a:pPr>
            <a:r>
              <a:t>Form reset</a:t>
            </a:r>
          </a:p>
        </p:txBody>
      </p:sp>
      <p:sp>
        <p:nvSpPr>
          <p:cNvPr id="283" name="Rounded Rectangle 282"/>
          <p:cNvSpPr/>
          <p:nvPr/>
        </p:nvSpPr>
        <p:spPr>
          <a:xfrm>
            <a:off x="6227064" y="1143000"/>
            <a:ext cx="2487168" cy="3520440"/>
          </a:xfrm>
          <a:prstGeom prst="roundRect">
            <a:avLst/>
          </a:prstGeom>
          <a:solidFill>
            <a:srgbClr val="DCFCE7"/>
          </a:solidFill>
          <a:ln w="127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4" name="TextBox 283"/>
          <p:cNvSpPr txBox="1"/>
          <p:nvPr/>
        </p:nvSpPr>
        <p:spPr>
          <a:xfrm>
            <a:off x="6409944" y="1353312"/>
            <a:ext cx="2103120" cy="320040"/>
          </a:xfrm>
          <a:prstGeom prst="rect">
            <a:avLst/>
          </a:prstGeom>
          <a:noFill/>
        </p:spPr>
        <p:txBody>
          <a:bodyPr wrap="square">
            <a:normAutofit/>
          </a:bodyPr>
          <a:lstStyle/>
          <a:p>
            <a:pPr algn="l">
              <a:spcAft>
                <a:spcPts val="0"/>
              </a:spcAft>
              <a:defRPr sz="1800" b="1">
                <a:solidFill>
                  <a:srgbClr val="166534"/>
                </a:solidFill>
                <a:latin typeface="Arial"/>
              </a:defRPr>
            </a:pPr>
            <a:r>
              <a:t>Record</a:t>
            </a:r>
          </a:p>
        </p:txBody>
      </p:sp>
      <p:sp>
        <p:nvSpPr>
          <p:cNvPr id="285" name="Rounded Rectangle 284"/>
          <p:cNvSpPr/>
          <p:nvPr/>
        </p:nvSpPr>
        <p:spPr>
          <a:xfrm>
            <a:off x="6409944" y="1828800"/>
            <a:ext cx="2121408" cy="384048"/>
          </a:xfrm>
          <a:prstGeom prst="roundRect">
            <a:avLst/>
          </a:prstGeom>
          <a:solidFill>
            <a:srgbClr val="FFFFFF"/>
          </a:solidFill>
          <a:ln w="12700">
            <a:solidFill>
              <a:srgbClr val="C7D0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6" name="TextBox 285"/>
          <p:cNvSpPr txBox="1"/>
          <p:nvPr/>
        </p:nvSpPr>
        <p:spPr>
          <a:xfrm>
            <a:off x="6556248" y="1938528"/>
            <a:ext cx="1828800" cy="164592"/>
          </a:xfrm>
          <a:prstGeom prst="rect">
            <a:avLst/>
          </a:prstGeom>
          <a:noFill/>
        </p:spPr>
        <p:txBody>
          <a:bodyPr wrap="square">
            <a:normAutofit/>
          </a:bodyPr>
          <a:lstStyle/>
          <a:p>
            <a:pPr algn="l">
              <a:spcAft>
                <a:spcPts val="0"/>
              </a:spcAft>
              <a:defRPr sz="1000" b="0">
                <a:solidFill>
                  <a:srgbClr val="172033"/>
                </a:solidFill>
                <a:latin typeface="Arial"/>
              </a:defRPr>
            </a:pPr>
            <a:r>
              <a:t>GitHub upload</a:t>
            </a:r>
          </a:p>
        </p:txBody>
      </p:sp>
      <p:sp>
        <p:nvSpPr>
          <p:cNvPr id="287" name="Rounded Rectangle 286"/>
          <p:cNvSpPr/>
          <p:nvPr/>
        </p:nvSpPr>
        <p:spPr>
          <a:xfrm>
            <a:off x="6409944" y="2395728"/>
            <a:ext cx="2121408" cy="384048"/>
          </a:xfrm>
          <a:prstGeom prst="roundRect">
            <a:avLst/>
          </a:prstGeom>
          <a:solidFill>
            <a:srgbClr val="FFFFFF"/>
          </a:solidFill>
          <a:ln w="12700">
            <a:solidFill>
              <a:srgbClr val="C7D0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8" name="TextBox 287"/>
          <p:cNvSpPr txBox="1"/>
          <p:nvPr/>
        </p:nvSpPr>
        <p:spPr>
          <a:xfrm>
            <a:off x="6556248" y="2505456"/>
            <a:ext cx="1828800" cy="164592"/>
          </a:xfrm>
          <a:prstGeom prst="rect">
            <a:avLst/>
          </a:prstGeom>
          <a:noFill/>
        </p:spPr>
        <p:txBody>
          <a:bodyPr wrap="square">
            <a:normAutofit/>
          </a:bodyPr>
          <a:lstStyle/>
          <a:p>
            <a:pPr algn="l">
              <a:spcAft>
                <a:spcPts val="0"/>
              </a:spcAft>
              <a:defRPr sz="1000" b="0">
                <a:solidFill>
                  <a:srgbClr val="172033"/>
                </a:solidFill>
                <a:latin typeface="Arial"/>
              </a:defRPr>
            </a:pPr>
            <a:r>
              <a:t>Feedback notes</a:t>
            </a:r>
          </a:p>
        </p:txBody>
      </p:sp>
      <p:sp>
        <p:nvSpPr>
          <p:cNvPr id="289" name="Rounded Rectangle 288"/>
          <p:cNvSpPr/>
          <p:nvPr/>
        </p:nvSpPr>
        <p:spPr>
          <a:xfrm>
            <a:off x="6409944" y="2962656"/>
            <a:ext cx="2121408" cy="384048"/>
          </a:xfrm>
          <a:prstGeom prst="roundRect">
            <a:avLst/>
          </a:prstGeom>
          <a:solidFill>
            <a:srgbClr val="FFFFFF"/>
          </a:solidFill>
          <a:ln w="12700">
            <a:solidFill>
              <a:srgbClr val="C7D0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0" name="TextBox 289"/>
          <p:cNvSpPr txBox="1"/>
          <p:nvPr/>
        </p:nvSpPr>
        <p:spPr>
          <a:xfrm>
            <a:off x="6556248" y="3072384"/>
            <a:ext cx="1828800" cy="164592"/>
          </a:xfrm>
          <a:prstGeom prst="rect">
            <a:avLst/>
          </a:prstGeom>
          <a:noFill/>
        </p:spPr>
        <p:txBody>
          <a:bodyPr wrap="square">
            <a:normAutofit/>
          </a:bodyPr>
          <a:lstStyle/>
          <a:p>
            <a:pPr algn="l">
              <a:spcAft>
                <a:spcPts val="0"/>
              </a:spcAft>
              <a:defRPr sz="1000" b="0">
                <a:solidFill>
                  <a:srgbClr val="172033"/>
                </a:solidFill>
                <a:latin typeface="Arial"/>
              </a:defRPr>
            </a:pPr>
            <a:r>
              <a:t>Sprint review</a:t>
            </a:r>
          </a:p>
        </p:txBody>
      </p:sp>
      <p:sp>
        <p:nvSpPr>
          <p:cNvPr id="291" name="Rounded Rectangle 290"/>
          <p:cNvSpPr/>
          <p:nvPr/>
        </p:nvSpPr>
        <p:spPr>
          <a:xfrm>
            <a:off x="6409944" y="3529584"/>
            <a:ext cx="2121408" cy="384048"/>
          </a:xfrm>
          <a:prstGeom prst="roundRect">
            <a:avLst/>
          </a:prstGeom>
          <a:solidFill>
            <a:srgbClr val="FFFFFF"/>
          </a:solidFill>
          <a:ln w="12700">
            <a:solidFill>
              <a:srgbClr val="C7D0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2" name="TextBox 291"/>
          <p:cNvSpPr txBox="1"/>
          <p:nvPr/>
        </p:nvSpPr>
        <p:spPr>
          <a:xfrm>
            <a:off x="6556248" y="3639312"/>
            <a:ext cx="1828800" cy="164592"/>
          </a:xfrm>
          <a:prstGeom prst="rect">
            <a:avLst/>
          </a:prstGeom>
          <a:noFill/>
        </p:spPr>
        <p:txBody>
          <a:bodyPr wrap="square">
            <a:normAutofit/>
          </a:bodyPr>
          <a:lstStyle/>
          <a:p>
            <a:pPr algn="l">
              <a:spcAft>
                <a:spcPts val="0"/>
              </a:spcAft>
              <a:defRPr sz="1000" b="0">
                <a:solidFill>
                  <a:srgbClr val="172033"/>
                </a:solidFill>
                <a:latin typeface="Arial"/>
              </a:defRPr>
            </a:pPr>
            <a:r>
              <a:t>Next sprint decision</a:t>
            </a:r>
          </a:p>
        </p:txBody>
      </p:sp>
      <p:sp>
        <p:nvSpPr>
          <p:cNvPr id="293" name="WrittenEvidence card 14"/>
          <p:cNvSpPr/>
          <p:nvPr/>
        </p:nvSpPr>
        <p:spPr>
          <a:xfrm>
            <a:off x="530352" y="4498848"/>
            <a:ext cx="8046720" cy="438912"/>
          </a:xfrm>
          <a:prstGeom prst="roundRect">
            <a:avLst/>
          </a:prstGeom>
          <a:solidFill>
            <a:srgbClr val="DCFCE7"/>
          </a:solidFill>
          <a:ln w="127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4" name="WrittenEvidence title 14"/>
          <p:cNvSpPr txBox="1"/>
          <p:nvPr/>
        </p:nvSpPr>
        <p:spPr>
          <a:xfrm>
            <a:off x="694944" y="4617720"/>
            <a:ext cx="1115568" cy="274320"/>
          </a:xfrm>
          <a:prstGeom prst="rect">
            <a:avLst/>
          </a:prstGeom>
          <a:noFill/>
        </p:spPr>
        <p:txBody>
          <a:bodyPr wrap="square">
            <a:normAutofit/>
          </a:bodyPr>
          <a:lstStyle/>
          <a:p>
            <a:pPr algn="l">
              <a:spcAft>
                <a:spcPts val="0"/>
              </a:spcAft>
              <a:defRPr sz="950" b="1">
                <a:solidFill>
                  <a:srgbClr val="166534"/>
                </a:solidFill>
                <a:latin typeface="Arial"/>
              </a:defRPr>
            </a:pPr>
            <a:r>
              <a:t>Process link</a:t>
            </a:r>
          </a:p>
        </p:txBody>
      </p:sp>
      <p:sp>
        <p:nvSpPr>
          <p:cNvPr id="295" name="WrittenEvidence body 14"/>
          <p:cNvSpPr txBox="1"/>
          <p:nvPr/>
        </p:nvSpPr>
        <p:spPr>
          <a:xfrm>
            <a:off x="1764792" y="4608576"/>
            <a:ext cx="6629400" cy="274320"/>
          </a:xfrm>
          <a:prstGeom prst="rect">
            <a:avLst/>
          </a:prstGeom>
          <a:noFill/>
        </p:spPr>
        <p:txBody>
          <a:bodyPr wrap="square">
            <a:normAutofit/>
          </a:bodyPr>
          <a:lstStyle/>
          <a:p>
            <a:pPr algn="l">
              <a:spcAft>
                <a:spcPts val="0"/>
              </a:spcAft>
              <a:defRPr sz="950" b="0">
                <a:solidFill>
                  <a:srgbClr val="172033"/>
                </a:solidFill>
                <a:latin typeface="Arial"/>
              </a:defRPr>
            </a:pPr>
            <a:r>
              <a:t>The backlog breaks the outcome into build, test, and record tasks. This gives clear planning evidence for AS91897.</a:t>
            </a: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Rectangle 264"/>
          <p:cNvSpPr/>
          <p:nvPr/>
        </p:nvSpPr>
        <p:spPr>
          <a:xfrm>
            <a:off x="0" y="0"/>
            <a:ext cx="9144000" cy="5143500"/>
          </a:xfrm>
          <a:prstGeom prst="rect">
            <a:avLst/>
          </a:prstGeom>
          <a:solidFill>
            <a:srgbClr val="F2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6" name="Rectangle 265"/>
          <p:cNvSpPr/>
          <p:nvPr/>
        </p:nvSpPr>
        <p:spPr>
          <a:xfrm>
            <a:off x="0" y="0"/>
            <a:ext cx="146304" cy="5143500"/>
          </a:xfrm>
          <a:prstGeom prst="rect">
            <a:avLst/>
          </a:prstGeom>
          <a:solidFill>
            <a:srgbClr val="1F4F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7" name="TextBox 266"/>
          <p:cNvSpPr txBox="1"/>
          <p:nvPr/>
        </p:nvSpPr>
        <p:spPr>
          <a:xfrm>
            <a:off x="438912" y="256032"/>
            <a:ext cx="8138160" cy="411480"/>
          </a:xfrm>
          <a:prstGeom prst="rect">
            <a:avLst/>
          </a:prstGeom>
          <a:noFill/>
        </p:spPr>
        <p:txBody>
          <a:bodyPr wrap="square">
            <a:normAutofit/>
          </a:bodyPr>
          <a:lstStyle/>
          <a:p>
            <a:pPr algn="l">
              <a:spcAft>
                <a:spcPts val="0"/>
              </a:spcAft>
              <a:defRPr sz="2500" b="1">
                <a:solidFill>
                  <a:srgbClr val="172033"/>
                </a:solidFill>
                <a:latin typeface="Arial"/>
              </a:defRPr>
            </a:pPr>
            <a:r>
              <a:t>Task 1: Build Basic Student Report Form</a:t>
            </a:r>
          </a:p>
        </p:txBody>
      </p:sp>
      <p:sp>
        <p:nvSpPr>
          <p:cNvPr id="268" name="TextBox 267"/>
          <p:cNvSpPr txBox="1"/>
          <p:nvPr/>
        </p:nvSpPr>
        <p:spPr>
          <a:xfrm>
            <a:off x="457200" y="676656"/>
            <a:ext cx="7955279" cy="292608"/>
          </a:xfrm>
          <a:prstGeom prst="rect">
            <a:avLst/>
          </a:prstGeom>
          <a:noFill/>
        </p:spPr>
        <p:txBody>
          <a:bodyPr wrap="square">
            <a:normAutofit/>
          </a:bodyPr>
          <a:lstStyle/>
          <a:p>
            <a:pPr algn="l">
              <a:spcAft>
                <a:spcPts val="0"/>
              </a:spcAft>
              <a:defRPr sz="1200" b="0">
                <a:solidFill>
                  <a:srgbClr val="5B6472"/>
                </a:solidFill>
                <a:latin typeface="Arial"/>
              </a:defRPr>
            </a:pPr>
            <a:r>
              <a:t>Evidence: first working student report page.</a:t>
            </a:r>
          </a:p>
        </p:txBody>
      </p:sp>
      <p:sp>
        <p:nvSpPr>
          <p:cNvPr id="269" name="Rectangle 268"/>
          <p:cNvSpPr/>
          <p:nvPr/>
        </p:nvSpPr>
        <p:spPr>
          <a:xfrm>
            <a:off x="457200" y="960120"/>
            <a:ext cx="1005840" cy="36576"/>
          </a:xfrm>
          <a:prstGeom prst="rect">
            <a:avLst/>
          </a:prstGeom>
          <a:solidFill>
            <a:srgbClr val="1F4F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0" name="Picture 269" descr="student_form_mockup.png"/>
          <p:cNvPicPr>
            <a:picLocks noChangeAspect="1"/>
          </p:cNvPicPr>
          <p:nvPr/>
        </p:nvPicPr>
        <p:blipFill>
          <a:blip r:embed="rId7"/>
          <a:stretch>
            <a:fillRect/>
          </a:stretch>
        </p:blipFill>
        <p:spPr>
          <a:xfrm>
            <a:off x="4709160" y="1143000"/>
            <a:ext cx="3840480" cy="2414016"/>
          </a:xfrm>
          <a:prstGeom prst="rect">
            <a:avLst/>
          </a:prstGeom>
        </p:spPr>
      </p:pic>
      <p:sp>
        <p:nvSpPr>
          <p:cNvPr id="271" name="Rounded Rectangle 270"/>
          <p:cNvSpPr/>
          <p:nvPr/>
        </p:nvSpPr>
        <p:spPr>
          <a:xfrm>
            <a:off x="548640" y="1143000"/>
            <a:ext cx="3794760" cy="2331720"/>
          </a:xfrm>
          <a:prstGeom prst="roundRect">
            <a:avLst/>
          </a:prstGeom>
          <a:solidFill>
            <a:srgbClr val="FFFFFF"/>
          </a:solidFill>
          <a:ln w="12700">
            <a:solidFill>
              <a:srgbClr val="C7D0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2" name="TextBox 271"/>
          <p:cNvSpPr txBox="1"/>
          <p:nvPr/>
        </p:nvSpPr>
        <p:spPr>
          <a:xfrm>
            <a:off x="777240" y="1353312"/>
            <a:ext cx="3291840" cy="274320"/>
          </a:xfrm>
          <a:prstGeom prst="rect">
            <a:avLst/>
          </a:prstGeom>
          <a:noFill/>
        </p:spPr>
        <p:txBody>
          <a:bodyPr wrap="square">
            <a:normAutofit/>
          </a:bodyPr>
          <a:lstStyle/>
          <a:p>
            <a:pPr algn="l">
              <a:spcAft>
                <a:spcPts val="0"/>
              </a:spcAft>
              <a:defRPr sz="1700" b="1">
                <a:solidFill>
                  <a:srgbClr val="172033"/>
                </a:solidFill>
                <a:latin typeface="Arial"/>
              </a:defRPr>
            </a:pPr>
            <a:r>
              <a:t>What I built</a:t>
            </a:r>
          </a:p>
        </p:txBody>
      </p:sp>
      <p:sp>
        <p:nvSpPr>
          <p:cNvPr id="273" name="TextBox 272"/>
          <p:cNvSpPr txBox="1"/>
          <p:nvPr/>
        </p:nvSpPr>
        <p:spPr>
          <a:xfrm>
            <a:off x="777240" y="1783080"/>
            <a:ext cx="3246120" cy="219456"/>
          </a:xfrm>
          <a:prstGeom prst="rect">
            <a:avLst/>
          </a:prstGeom>
          <a:noFill/>
        </p:spPr>
        <p:txBody>
          <a:bodyPr wrap="square">
            <a:normAutofit/>
          </a:bodyPr>
          <a:lstStyle/>
          <a:p>
            <a:pPr algn="l">
              <a:spcAft>
                <a:spcPts val="0"/>
              </a:spcAft>
              <a:defRPr sz="1200" b="0">
                <a:solidFill>
                  <a:srgbClr val="172033"/>
                </a:solidFill>
                <a:latin typeface="Arial"/>
              </a:defRPr>
            </a:pPr>
            <a:r>
              <a:t>- Student name, location, issue type, priority, description</a:t>
            </a:r>
          </a:p>
        </p:txBody>
      </p:sp>
      <p:sp>
        <p:nvSpPr>
          <p:cNvPr id="274" name="TextBox 273"/>
          <p:cNvSpPr txBox="1"/>
          <p:nvPr/>
        </p:nvSpPr>
        <p:spPr>
          <a:xfrm>
            <a:off x="777240" y="2084832"/>
            <a:ext cx="3246120" cy="219456"/>
          </a:xfrm>
          <a:prstGeom prst="rect">
            <a:avLst/>
          </a:prstGeom>
          <a:noFill/>
        </p:spPr>
        <p:txBody>
          <a:bodyPr wrap="square">
            <a:normAutofit/>
          </a:bodyPr>
          <a:lstStyle/>
          <a:p>
            <a:pPr algn="l">
              <a:spcAft>
                <a:spcPts val="0"/>
              </a:spcAft>
              <a:defRPr sz="1200" b="0">
                <a:solidFill>
                  <a:srgbClr val="172033"/>
                </a:solidFill>
                <a:latin typeface="Arial"/>
              </a:defRPr>
            </a:pPr>
            <a:r>
              <a:t>- Required fields before submit</a:t>
            </a:r>
          </a:p>
        </p:txBody>
      </p:sp>
      <p:sp>
        <p:nvSpPr>
          <p:cNvPr id="275" name="TextBox 274"/>
          <p:cNvSpPr txBox="1"/>
          <p:nvPr/>
        </p:nvSpPr>
        <p:spPr>
          <a:xfrm>
            <a:off x="777240" y="2386584"/>
            <a:ext cx="3246120" cy="219456"/>
          </a:xfrm>
          <a:prstGeom prst="rect">
            <a:avLst/>
          </a:prstGeom>
          <a:noFill/>
        </p:spPr>
        <p:txBody>
          <a:bodyPr wrap="square">
            <a:normAutofit/>
          </a:bodyPr>
          <a:lstStyle/>
          <a:p>
            <a:pPr algn="l">
              <a:spcAft>
                <a:spcPts val="0"/>
              </a:spcAft>
              <a:defRPr sz="1200" b="0">
                <a:solidFill>
                  <a:srgbClr val="172033"/>
                </a:solidFill>
                <a:latin typeface="Arial"/>
              </a:defRPr>
            </a:pPr>
            <a:r>
              <a:t>- Error and success messages</a:t>
            </a:r>
          </a:p>
        </p:txBody>
      </p:sp>
      <p:sp>
        <p:nvSpPr>
          <p:cNvPr id="276" name="TextBox 275"/>
          <p:cNvSpPr txBox="1"/>
          <p:nvPr/>
        </p:nvSpPr>
        <p:spPr>
          <a:xfrm>
            <a:off x="777240" y="2688336"/>
            <a:ext cx="3246120" cy="219456"/>
          </a:xfrm>
          <a:prstGeom prst="rect">
            <a:avLst/>
          </a:prstGeom>
          <a:noFill/>
        </p:spPr>
        <p:txBody>
          <a:bodyPr wrap="square">
            <a:normAutofit/>
          </a:bodyPr>
          <a:lstStyle/>
          <a:p>
            <a:pPr algn="l">
              <a:spcAft>
                <a:spcPts val="0"/>
              </a:spcAft>
              <a:defRPr sz="1200" b="0">
                <a:solidFill>
                  <a:srgbClr val="172033"/>
                </a:solidFill>
                <a:latin typeface="Arial"/>
              </a:defRPr>
            </a:pPr>
            <a:r>
              <a:t>- Simple layout for first user testing</a:t>
            </a:r>
          </a:p>
        </p:txBody>
      </p:sp>
      <p:sp>
        <p:nvSpPr>
          <p:cNvPr id="277" name="Rounded Rectangle 276"/>
          <p:cNvSpPr/>
          <p:nvPr/>
        </p:nvSpPr>
        <p:spPr>
          <a:xfrm>
            <a:off x="777240" y="3127248"/>
            <a:ext cx="804672" cy="228600"/>
          </a:xfrm>
          <a:prstGeom prst="roundRect">
            <a:avLst/>
          </a:prstGeom>
          <a:solidFill>
            <a:srgbClr val="DBEAFE"/>
          </a:solidFill>
          <a:ln w="12700">
            <a:solidFill>
              <a:srgbClr val="1F4F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8" name="TextBox 277"/>
          <p:cNvSpPr txBox="1"/>
          <p:nvPr/>
        </p:nvSpPr>
        <p:spPr>
          <a:xfrm>
            <a:off x="841248" y="3168396"/>
            <a:ext cx="676656" cy="164592"/>
          </a:xfrm>
          <a:prstGeom prst="rect">
            <a:avLst/>
          </a:prstGeom>
          <a:noFill/>
        </p:spPr>
        <p:txBody>
          <a:bodyPr wrap="square">
            <a:normAutofit/>
          </a:bodyPr>
          <a:lstStyle/>
          <a:p>
            <a:pPr algn="ctr">
              <a:spcAft>
                <a:spcPts val="0"/>
              </a:spcAft>
              <a:defRPr sz="800" b="1">
                <a:solidFill>
                  <a:srgbClr val="1F4F8F"/>
                </a:solidFill>
                <a:latin typeface="Arial"/>
              </a:defRPr>
            </a:pPr>
            <a:r>
              <a:t>HTML</a:t>
            </a:r>
          </a:p>
        </p:txBody>
      </p:sp>
      <p:sp>
        <p:nvSpPr>
          <p:cNvPr id="279" name="Rounded Rectangle 278"/>
          <p:cNvSpPr/>
          <p:nvPr/>
        </p:nvSpPr>
        <p:spPr>
          <a:xfrm>
            <a:off x="1764792" y="3127248"/>
            <a:ext cx="804672" cy="228600"/>
          </a:xfrm>
          <a:prstGeom prst="roundRect">
            <a:avLst/>
          </a:prstGeom>
          <a:solidFill>
            <a:srgbClr val="FFFFFF"/>
          </a:solidFill>
          <a:ln w="127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0" name="TextBox 279"/>
          <p:cNvSpPr txBox="1"/>
          <p:nvPr/>
        </p:nvSpPr>
        <p:spPr>
          <a:xfrm>
            <a:off x="1828800" y="3168396"/>
            <a:ext cx="676656" cy="164592"/>
          </a:xfrm>
          <a:prstGeom prst="rect">
            <a:avLst/>
          </a:prstGeom>
          <a:noFill/>
        </p:spPr>
        <p:txBody>
          <a:bodyPr wrap="square">
            <a:normAutofit/>
          </a:bodyPr>
          <a:lstStyle/>
          <a:p>
            <a:pPr algn="ctr">
              <a:spcAft>
                <a:spcPts val="0"/>
              </a:spcAft>
              <a:defRPr sz="800" b="1">
                <a:solidFill>
                  <a:srgbClr val="166534"/>
                </a:solidFill>
                <a:latin typeface="Arial"/>
              </a:defRPr>
            </a:pPr>
            <a:r>
              <a:t>CSS</a:t>
            </a:r>
          </a:p>
        </p:txBody>
      </p:sp>
      <p:sp>
        <p:nvSpPr>
          <p:cNvPr id="281" name="Rounded Rectangle 280"/>
          <p:cNvSpPr/>
          <p:nvPr/>
        </p:nvSpPr>
        <p:spPr>
          <a:xfrm>
            <a:off x="2752344" y="3127248"/>
            <a:ext cx="804672" cy="228600"/>
          </a:xfrm>
          <a:prstGeom prst="roundRect">
            <a:avLst/>
          </a:prstGeom>
          <a:solidFill>
            <a:srgbClr val="FFFFFF"/>
          </a:solidFill>
          <a:ln w="12700">
            <a:solidFill>
              <a:srgbClr val="92400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2" name="TextBox 281"/>
          <p:cNvSpPr txBox="1"/>
          <p:nvPr/>
        </p:nvSpPr>
        <p:spPr>
          <a:xfrm>
            <a:off x="2816352" y="3168396"/>
            <a:ext cx="676656" cy="164592"/>
          </a:xfrm>
          <a:prstGeom prst="rect">
            <a:avLst/>
          </a:prstGeom>
          <a:noFill/>
        </p:spPr>
        <p:txBody>
          <a:bodyPr wrap="square">
            <a:normAutofit/>
          </a:bodyPr>
          <a:lstStyle/>
          <a:p>
            <a:pPr algn="ctr">
              <a:spcAft>
                <a:spcPts val="0"/>
              </a:spcAft>
              <a:defRPr sz="800" b="1">
                <a:solidFill>
                  <a:srgbClr val="92400E"/>
                </a:solidFill>
                <a:latin typeface="Arial"/>
              </a:defRPr>
            </a:pPr>
            <a:r>
              <a:t>JavaScript</a:t>
            </a:r>
          </a:p>
        </p:txBody>
      </p:sp>
      <p:sp>
        <p:nvSpPr>
          <p:cNvPr id="283" name="Rounded Rectangle 282"/>
          <p:cNvSpPr/>
          <p:nvPr/>
        </p:nvSpPr>
        <p:spPr>
          <a:xfrm>
            <a:off x="548640" y="3730752"/>
            <a:ext cx="8001000" cy="749808"/>
          </a:xfrm>
          <a:prstGeom prst="roundRect">
            <a:avLst/>
          </a:prstGeom>
          <a:solidFill>
            <a:srgbClr val="FEF3C7"/>
          </a:solidFill>
          <a:ln w="12700">
            <a:solidFill>
              <a:srgbClr val="92400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4" name="TextBox 283"/>
          <p:cNvSpPr txBox="1"/>
          <p:nvPr/>
        </p:nvSpPr>
        <p:spPr>
          <a:xfrm>
            <a:off x="777240" y="3858768"/>
            <a:ext cx="1828800" cy="237744"/>
          </a:xfrm>
          <a:prstGeom prst="rect">
            <a:avLst/>
          </a:prstGeom>
          <a:noFill/>
        </p:spPr>
        <p:txBody>
          <a:bodyPr wrap="square">
            <a:normAutofit/>
          </a:bodyPr>
          <a:lstStyle/>
          <a:p>
            <a:pPr algn="l">
              <a:spcAft>
                <a:spcPts val="0"/>
              </a:spcAft>
              <a:defRPr sz="1300" b="1">
                <a:solidFill>
                  <a:srgbClr val="92400E"/>
                </a:solidFill>
                <a:latin typeface="Arial"/>
              </a:defRPr>
            </a:pPr>
            <a:r>
              <a:t>Finding from Task 1</a:t>
            </a:r>
          </a:p>
        </p:txBody>
      </p:sp>
      <p:sp>
        <p:nvSpPr>
          <p:cNvPr id="285" name="TextBox 284"/>
          <p:cNvSpPr txBox="1"/>
          <p:nvPr/>
        </p:nvSpPr>
        <p:spPr>
          <a:xfrm>
            <a:off x="2423160" y="3858768"/>
            <a:ext cx="5806440" cy="329184"/>
          </a:xfrm>
          <a:prstGeom prst="rect">
            <a:avLst/>
          </a:prstGeom>
          <a:noFill/>
        </p:spPr>
        <p:txBody>
          <a:bodyPr wrap="square">
            <a:normAutofit/>
          </a:bodyPr>
          <a:lstStyle/>
          <a:p>
            <a:pPr algn="l">
              <a:spcAft>
                <a:spcPts val="0"/>
              </a:spcAft>
              <a:defRPr sz="1200" b="0">
                <a:solidFill>
                  <a:srgbClr val="172033"/>
                </a:solidFill>
                <a:latin typeface="Arial"/>
              </a:defRPr>
            </a:pPr>
            <a:r>
              <a:t>The form worked, but browser-only storage and one-page teacher/student use were weak. That became Task 2.</a:t>
            </a:r>
          </a:p>
        </p:txBody>
      </p:sp>
      <p:sp>
        <p:nvSpPr>
          <p:cNvPr id="286" name="WrittenEvidence card 15"/>
          <p:cNvSpPr/>
          <p:nvPr/>
        </p:nvSpPr>
        <p:spPr>
          <a:xfrm>
            <a:off x="548640" y="4517136"/>
            <a:ext cx="8046720" cy="438912"/>
          </a:xfrm>
          <a:prstGeom prst="roundRect">
            <a:avLst/>
          </a:prstGeom>
          <a:solidFill>
            <a:srgbClr val="DBEAFE"/>
          </a:solidFill>
          <a:ln w="12700">
            <a:solidFill>
              <a:srgbClr val="1F4F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7" name="WrittenEvidence title 15"/>
          <p:cNvSpPr txBox="1"/>
          <p:nvPr/>
        </p:nvSpPr>
        <p:spPr>
          <a:xfrm>
            <a:off x="713232" y="4636008"/>
            <a:ext cx="1115568" cy="274320"/>
          </a:xfrm>
          <a:prstGeom prst="rect">
            <a:avLst/>
          </a:prstGeom>
          <a:noFill/>
        </p:spPr>
        <p:txBody>
          <a:bodyPr wrap="square">
            <a:normAutofit/>
          </a:bodyPr>
          <a:lstStyle/>
          <a:p>
            <a:pPr algn="l">
              <a:spcAft>
                <a:spcPts val="0"/>
              </a:spcAft>
              <a:defRPr sz="950" b="1">
                <a:solidFill>
                  <a:srgbClr val="1F4F8F"/>
                </a:solidFill>
                <a:latin typeface="Arial"/>
              </a:defRPr>
            </a:pPr>
            <a:r>
              <a:t>Programming link</a:t>
            </a:r>
          </a:p>
        </p:txBody>
      </p:sp>
      <p:sp>
        <p:nvSpPr>
          <p:cNvPr id="288" name="WrittenEvidence body 15"/>
          <p:cNvSpPr txBox="1"/>
          <p:nvPr/>
        </p:nvSpPr>
        <p:spPr>
          <a:xfrm>
            <a:off x="1783080" y="4626864"/>
            <a:ext cx="6629400" cy="274320"/>
          </a:xfrm>
          <a:prstGeom prst="rect">
            <a:avLst/>
          </a:prstGeom>
          <a:noFill/>
        </p:spPr>
        <p:txBody>
          <a:bodyPr wrap="square">
            <a:normAutofit/>
          </a:bodyPr>
          <a:lstStyle/>
          <a:p>
            <a:pPr algn="l">
              <a:spcAft>
                <a:spcPts val="0"/>
              </a:spcAft>
              <a:defRPr sz="950" b="0">
                <a:solidFill>
                  <a:srgbClr val="172033"/>
                </a:solidFill>
                <a:latin typeface="Arial"/>
              </a:defRPr>
            </a:pPr>
            <a:r>
              <a:t>JavaScript controls validation and submit behaviour. This is evidence that the first version had working program logic.</a:t>
            </a: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Rectangle 273"/>
          <p:cNvSpPr/>
          <p:nvPr/>
        </p:nvSpPr>
        <p:spPr>
          <a:xfrm>
            <a:off x="0" y="0"/>
            <a:ext cx="9144000" cy="5143500"/>
          </a:xfrm>
          <a:prstGeom prst="rect">
            <a:avLst/>
          </a:prstGeom>
          <a:solidFill>
            <a:srgbClr val="F2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5" name="Rectangle 274"/>
          <p:cNvSpPr/>
          <p:nvPr/>
        </p:nvSpPr>
        <p:spPr>
          <a:xfrm>
            <a:off x="0" y="0"/>
            <a:ext cx="146304" cy="5143500"/>
          </a:xfrm>
          <a:prstGeom prst="rect">
            <a:avLst/>
          </a:prstGeom>
          <a:solidFill>
            <a:srgbClr val="9240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6" name="TextBox 275"/>
          <p:cNvSpPr txBox="1"/>
          <p:nvPr/>
        </p:nvSpPr>
        <p:spPr>
          <a:xfrm>
            <a:off x="438912" y="256032"/>
            <a:ext cx="8138160" cy="411480"/>
          </a:xfrm>
          <a:prstGeom prst="rect">
            <a:avLst/>
          </a:prstGeom>
          <a:noFill/>
        </p:spPr>
        <p:txBody>
          <a:bodyPr wrap="square">
            <a:normAutofit/>
          </a:bodyPr>
          <a:lstStyle/>
          <a:p>
            <a:pPr algn="l">
              <a:spcAft>
                <a:spcPts val="0"/>
              </a:spcAft>
              <a:defRPr sz="2500" b="1">
                <a:solidFill>
                  <a:srgbClr val="172033"/>
                </a:solidFill>
                <a:latin typeface="Arial"/>
              </a:defRPr>
            </a:pPr>
            <a:r>
              <a:t>Task 1 Testing and Feedback</a:t>
            </a:r>
          </a:p>
        </p:txBody>
      </p:sp>
      <p:sp>
        <p:nvSpPr>
          <p:cNvPr id="277" name="TextBox 276"/>
          <p:cNvSpPr txBox="1"/>
          <p:nvPr/>
        </p:nvSpPr>
        <p:spPr>
          <a:xfrm>
            <a:off x="457200" y="676656"/>
            <a:ext cx="7955279" cy="292608"/>
          </a:xfrm>
          <a:prstGeom prst="rect">
            <a:avLst/>
          </a:prstGeom>
          <a:noFill/>
        </p:spPr>
        <p:txBody>
          <a:bodyPr wrap="square">
            <a:normAutofit/>
          </a:bodyPr>
          <a:lstStyle/>
          <a:p>
            <a:pPr algn="l">
              <a:spcAft>
                <a:spcPts val="0"/>
              </a:spcAft>
              <a:defRPr sz="1200" b="0">
                <a:solidFill>
                  <a:srgbClr val="5B6472"/>
                </a:solidFill>
                <a:latin typeface="Arial"/>
              </a:defRPr>
            </a:pPr>
            <a:r>
              <a:t>Testing showed what should stay simple and what must change.</a:t>
            </a:r>
          </a:p>
        </p:txBody>
      </p:sp>
      <p:sp>
        <p:nvSpPr>
          <p:cNvPr id="278" name="Rectangle 277"/>
          <p:cNvSpPr/>
          <p:nvPr/>
        </p:nvSpPr>
        <p:spPr>
          <a:xfrm>
            <a:off x="457200" y="960120"/>
            <a:ext cx="1005840" cy="36576"/>
          </a:xfrm>
          <a:prstGeom prst="rect">
            <a:avLst/>
          </a:prstGeom>
          <a:solidFill>
            <a:srgbClr val="9240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9" name="Rounded Rectangle 278"/>
          <p:cNvSpPr/>
          <p:nvPr/>
        </p:nvSpPr>
        <p:spPr>
          <a:xfrm>
            <a:off x="548640" y="1143000"/>
            <a:ext cx="4709160" cy="3291840"/>
          </a:xfrm>
          <a:prstGeom prst="roundRect">
            <a:avLst/>
          </a:prstGeom>
          <a:solidFill>
            <a:srgbClr val="FFFFFF"/>
          </a:solidFill>
          <a:ln w="12700">
            <a:solidFill>
              <a:srgbClr val="C7D0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0" name="TextBox 279"/>
          <p:cNvSpPr txBox="1"/>
          <p:nvPr/>
        </p:nvSpPr>
        <p:spPr>
          <a:xfrm>
            <a:off x="777240" y="1353312"/>
            <a:ext cx="4206240" cy="274320"/>
          </a:xfrm>
          <a:prstGeom prst="rect">
            <a:avLst/>
          </a:prstGeom>
          <a:noFill/>
        </p:spPr>
        <p:txBody>
          <a:bodyPr wrap="square">
            <a:normAutofit/>
          </a:bodyPr>
          <a:lstStyle/>
          <a:p>
            <a:pPr algn="l">
              <a:spcAft>
                <a:spcPts val="0"/>
              </a:spcAft>
              <a:defRPr sz="1700" b="1">
                <a:solidFill>
                  <a:srgbClr val="172033"/>
                </a:solidFill>
                <a:latin typeface="Arial"/>
              </a:defRPr>
            </a:pPr>
            <a:r>
              <a:t>Test cases</a:t>
            </a:r>
          </a:p>
        </p:txBody>
      </p:sp>
      <p:sp>
        <p:nvSpPr>
          <p:cNvPr id="281" name="TextBox 280"/>
          <p:cNvSpPr txBox="1"/>
          <p:nvPr/>
        </p:nvSpPr>
        <p:spPr>
          <a:xfrm>
            <a:off x="822960" y="1783080"/>
            <a:ext cx="2377440" cy="219456"/>
          </a:xfrm>
          <a:prstGeom prst="rect">
            <a:avLst/>
          </a:prstGeom>
          <a:noFill/>
        </p:spPr>
        <p:txBody>
          <a:bodyPr wrap="square">
            <a:normAutofit/>
          </a:bodyPr>
          <a:lstStyle/>
          <a:p>
            <a:pPr algn="l">
              <a:spcAft>
                <a:spcPts val="0"/>
              </a:spcAft>
              <a:defRPr sz="1200" b="0">
                <a:solidFill>
                  <a:srgbClr val="172033"/>
                </a:solidFill>
                <a:latin typeface="Arial"/>
              </a:defRPr>
            </a:pPr>
            <a:r>
              <a:t>Complete form</a:t>
            </a:r>
          </a:p>
        </p:txBody>
      </p:sp>
      <p:sp>
        <p:nvSpPr>
          <p:cNvPr id="282" name="Rounded Rectangle 281"/>
          <p:cNvSpPr/>
          <p:nvPr/>
        </p:nvSpPr>
        <p:spPr>
          <a:xfrm>
            <a:off x="3474720" y="1764792"/>
            <a:ext cx="1143000" cy="274320"/>
          </a:xfrm>
          <a:prstGeom prst="roundRect">
            <a:avLst/>
          </a:prstGeom>
          <a:solidFill>
            <a:srgbClr val="DCFCE7"/>
          </a:solidFill>
          <a:ln w="127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3" name="TextBox 282"/>
          <p:cNvSpPr txBox="1"/>
          <p:nvPr/>
        </p:nvSpPr>
        <p:spPr>
          <a:xfrm>
            <a:off x="3529584" y="1824228"/>
            <a:ext cx="1005840" cy="137160"/>
          </a:xfrm>
          <a:prstGeom prst="rect">
            <a:avLst/>
          </a:prstGeom>
          <a:noFill/>
        </p:spPr>
        <p:txBody>
          <a:bodyPr wrap="square">
            <a:normAutofit/>
          </a:bodyPr>
          <a:lstStyle/>
          <a:p>
            <a:pPr algn="ctr">
              <a:spcAft>
                <a:spcPts val="0"/>
              </a:spcAft>
              <a:defRPr sz="800" b="1">
                <a:solidFill>
                  <a:srgbClr val="166534"/>
                </a:solidFill>
                <a:latin typeface="Arial"/>
              </a:defRPr>
            </a:pPr>
            <a:r>
              <a:t>Pass</a:t>
            </a:r>
          </a:p>
        </p:txBody>
      </p:sp>
      <p:sp>
        <p:nvSpPr>
          <p:cNvPr id="284" name="TextBox 283"/>
          <p:cNvSpPr txBox="1"/>
          <p:nvPr/>
        </p:nvSpPr>
        <p:spPr>
          <a:xfrm>
            <a:off x="822960" y="2286000"/>
            <a:ext cx="2377440" cy="219456"/>
          </a:xfrm>
          <a:prstGeom prst="rect">
            <a:avLst/>
          </a:prstGeom>
          <a:noFill/>
        </p:spPr>
        <p:txBody>
          <a:bodyPr wrap="square">
            <a:normAutofit/>
          </a:bodyPr>
          <a:lstStyle/>
          <a:p>
            <a:pPr algn="l">
              <a:spcAft>
                <a:spcPts val="0"/>
              </a:spcAft>
              <a:defRPr sz="1200" b="0">
                <a:solidFill>
                  <a:srgbClr val="172033"/>
                </a:solidFill>
                <a:latin typeface="Arial"/>
              </a:defRPr>
            </a:pPr>
            <a:r>
              <a:t>Missing field</a:t>
            </a:r>
          </a:p>
        </p:txBody>
      </p:sp>
      <p:sp>
        <p:nvSpPr>
          <p:cNvPr id="285" name="Rounded Rectangle 284"/>
          <p:cNvSpPr/>
          <p:nvPr/>
        </p:nvSpPr>
        <p:spPr>
          <a:xfrm>
            <a:off x="3474720" y="2267712"/>
            <a:ext cx="1143000" cy="274320"/>
          </a:xfrm>
          <a:prstGeom prst="roundRect">
            <a:avLst/>
          </a:prstGeom>
          <a:solidFill>
            <a:srgbClr val="DCFCE7"/>
          </a:solidFill>
          <a:ln w="127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6" name="TextBox 285"/>
          <p:cNvSpPr txBox="1"/>
          <p:nvPr/>
        </p:nvSpPr>
        <p:spPr>
          <a:xfrm>
            <a:off x="3529584" y="2327148"/>
            <a:ext cx="1005840" cy="137160"/>
          </a:xfrm>
          <a:prstGeom prst="rect">
            <a:avLst/>
          </a:prstGeom>
          <a:noFill/>
        </p:spPr>
        <p:txBody>
          <a:bodyPr wrap="square">
            <a:normAutofit/>
          </a:bodyPr>
          <a:lstStyle/>
          <a:p>
            <a:pPr algn="ctr">
              <a:spcAft>
                <a:spcPts val="0"/>
              </a:spcAft>
              <a:defRPr sz="800" b="1">
                <a:solidFill>
                  <a:srgbClr val="166534"/>
                </a:solidFill>
                <a:latin typeface="Arial"/>
              </a:defRPr>
            </a:pPr>
            <a:r>
              <a:t>Pass</a:t>
            </a:r>
          </a:p>
        </p:txBody>
      </p:sp>
      <p:sp>
        <p:nvSpPr>
          <p:cNvPr id="287" name="TextBox 286"/>
          <p:cNvSpPr txBox="1"/>
          <p:nvPr/>
        </p:nvSpPr>
        <p:spPr>
          <a:xfrm>
            <a:off x="822960" y="2788920"/>
            <a:ext cx="2377440" cy="219456"/>
          </a:xfrm>
          <a:prstGeom prst="rect">
            <a:avLst/>
          </a:prstGeom>
          <a:noFill/>
        </p:spPr>
        <p:txBody>
          <a:bodyPr wrap="square">
            <a:normAutofit/>
          </a:bodyPr>
          <a:lstStyle/>
          <a:p>
            <a:pPr algn="l">
              <a:spcAft>
                <a:spcPts val="0"/>
              </a:spcAft>
              <a:defRPr sz="1200" b="0">
                <a:solidFill>
                  <a:srgbClr val="172033"/>
                </a:solidFill>
                <a:latin typeface="Arial"/>
              </a:defRPr>
            </a:pPr>
            <a:r>
              <a:t>Long text</a:t>
            </a:r>
          </a:p>
        </p:txBody>
      </p:sp>
      <p:sp>
        <p:nvSpPr>
          <p:cNvPr id="288" name="Rounded Rectangle 287"/>
          <p:cNvSpPr/>
          <p:nvPr/>
        </p:nvSpPr>
        <p:spPr>
          <a:xfrm>
            <a:off x="3474720" y="2770632"/>
            <a:ext cx="1143000" cy="274320"/>
          </a:xfrm>
          <a:prstGeom prst="roundRect">
            <a:avLst/>
          </a:prstGeom>
          <a:solidFill>
            <a:srgbClr val="FEF3C7"/>
          </a:solidFill>
          <a:ln w="12700">
            <a:solidFill>
              <a:srgbClr val="92400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9" name="TextBox 288"/>
          <p:cNvSpPr txBox="1"/>
          <p:nvPr/>
        </p:nvSpPr>
        <p:spPr>
          <a:xfrm>
            <a:off x="3529584" y="2830068"/>
            <a:ext cx="1005840" cy="137160"/>
          </a:xfrm>
          <a:prstGeom prst="rect">
            <a:avLst/>
          </a:prstGeom>
          <a:noFill/>
        </p:spPr>
        <p:txBody>
          <a:bodyPr wrap="square">
            <a:normAutofit/>
          </a:bodyPr>
          <a:lstStyle/>
          <a:p>
            <a:pPr algn="ctr">
              <a:spcAft>
                <a:spcPts val="0"/>
              </a:spcAft>
              <a:defRPr sz="800" b="1">
                <a:solidFill>
                  <a:srgbClr val="92400E"/>
                </a:solidFill>
                <a:latin typeface="Arial"/>
              </a:defRPr>
            </a:pPr>
            <a:r>
              <a:t>Accept</a:t>
            </a:r>
          </a:p>
        </p:txBody>
      </p:sp>
      <p:sp>
        <p:nvSpPr>
          <p:cNvPr id="290" name="TextBox 289"/>
          <p:cNvSpPr txBox="1"/>
          <p:nvPr/>
        </p:nvSpPr>
        <p:spPr>
          <a:xfrm>
            <a:off x="822960" y="3291840"/>
            <a:ext cx="2377440" cy="219456"/>
          </a:xfrm>
          <a:prstGeom prst="rect">
            <a:avLst/>
          </a:prstGeom>
          <a:noFill/>
        </p:spPr>
        <p:txBody>
          <a:bodyPr wrap="square">
            <a:normAutofit/>
          </a:bodyPr>
          <a:lstStyle/>
          <a:p>
            <a:pPr algn="l">
              <a:spcAft>
                <a:spcPts val="0"/>
              </a:spcAft>
              <a:defRPr sz="1200" b="0">
                <a:solidFill>
                  <a:srgbClr val="172033"/>
                </a:solidFill>
                <a:latin typeface="Arial"/>
              </a:defRPr>
            </a:pPr>
            <a:r>
              <a:t>Refresh page</a:t>
            </a:r>
          </a:p>
        </p:txBody>
      </p:sp>
      <p:sp>
        <p:nvSpPr>
          <p:cNvPr id="291" name="Rounded Rectangle 290"/>
          <p:cNvSpPr/>
          <p:nvPr/>
        </p:nvSpPr>
        <p:spPr>
          <a:xfrm>
            <a:off x="3474720" y="3273552"/>
            <a:ext cx="1143000" cy="274320"/>
          </a:xfrm>
          <a:prstGeom prst="roundRect">
            <a:avLst/>
          </a:prstGeom>
          <a:solidFill>
            <a:srgbClr val="FEE2E2"/>
          </a:solidFill>
          <a:ln w="12700">
            <a:solidFill>
              <a:srgbClr val="A61B1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2" name="TextBox 291"/>
          <p:cNvSpPr txBox="1"/>
          <p:nvPr/>
        </p:nvSpPr>
        <p:spPr>
          <a:xfrm>
            <a:off x="3529584" y="3332988"/>
            <a:ext cx="1005840" cy="137160"/>
          </a:xfrm>
          <a:prstGeom prst="rect">
            <a:avLst/>
          </a:prstGeom>
          <a:noFill/>
        </p:spPr>
        <p:txBody>
          <a:bodyPr wrap="square">
            <a:normAutofit/>
          </a:bodyPr>
          <a:lstStyle/>
          <a:p>
            <a:pPr algn="ctr">
              <a:spcAft>
                <a:spcPts val="0"/>
              </a:spcAft>
              <a:defRPr sz="800" b="1">
                <a:solidFill>
                  <a:srgbClr val="A61B1B"/>
                </a:solidFill>
                <a:latin typeface="Arial"/>
              </a:defRPr>
            </a:pPr>
            <a:r>
              <a:t>Problem</a:t>
            </a:r>
          </a:p>
        </p:txBody>
      </p:sp>
      <p:sp>
        <p:nvSpPr>
          <p:cNvPr id="293" name="Rounded Rectangle 292"/>
          <p:cNvSpPr/>
          <p:nvPr/>
        </p:nvSpPr>
        <p:spPr>
          <a:xfrm>
            <a:off x="5532120" y="1143000"/>
            <a:ext cx="3017520" cy="1325880"/>
          </a:xfrm>
          <a:prstGeom prst="roundRect">
            <a:avLst/>
          </a:prstGeom>
          <a:solidFill>
            <a:srgbClr val="DBEAFE"/>
          </a:solidFill>
          <a:ln w="12700">
            <a:solidFill>
              <a:srgbClr val="1F4F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4" name="TextBox 293"/>
          <p:cNvSpPr txBox="1"/>
          <p:nvPr/>
        </p:nvSpPr>
        <p:spPr>
          <a:xfrm>
            <a:off x="5760720" y="1371600"/>
            <a:ext cx="2560320" cy="228600"/>
          </a:xfrm>
          <a:prstGeom prst="rect">
            <a:avLst/>
          </a:prstGeom>
          <a:noFill/>
        </p:spPr>
        <p:txBody>
          <a:bodyPr wrap="square">
            <a:normAutofit/>
          </a:bodyPr>
          <a:lstStyle/>
          <a:p>
            <a:pPr algn="l">
              <a:spcAft>
                <a:spcPts val="0"/>
              </a:spcAft>
              <a:defRPr sz="1600" b="1">
                <a:solidFill>
                  <a:srgbClr val="1F4F8F"/>
                </a:solidFill>
                <a:latin typeface="Arial"/>
              </a:defRPr>
            </a:pPr>
            <a:r>
              <a:t>Feedback</a:t>
            </a:r>
          </a:p>
        </p:txBody>
      </p:sp>
      <p:sp>
        <p:nvSpPr>
          <p:cNvPr id="295" name="TextBox 294"/>
          <p:cNvSpPr txBox="1"/>
          <p:nvPr/>
        </p:nvSpPr>
        <p:spPr>
          <a:xfrm>
            <a:off x="5760720" y="1719072"/>
            <a:ext cx="2514600" cy="502920"/>
          </a:xfrm>
          <a:prstGeom prst="rect">
            <a:avLst/>
          </a:prstGeom>
          <a:noFill/>
        </p:spPr>
        <p:txBody>
          <a:bodyPr wrap="square">
            <a:normAutofit/>
          </a:bodyPr>
          <a:lstStyle/>
          <a:p>
            <a:pPr algn="l">
              <a:spcAft>
                <a:spcPts val="0"/>
              </a:spcAft>
              <a:defRPr sz="1200" b="0">
                <a:solidFill>
                  <a:srgbClr val="172033"/>
                </a:solidFill>
                <a:latin typeface="Arial"/>
              </a:defRPr>
            </a:pPr>
            <a:r>
              <a:t>The form is clear enough, but students and teachers should not use the same page.</a:t>
            </a:r>
          </a:p>
        </p:txBody>
      </p:sp>
      <p:sp>
        <p:nvSpPr>
          <p:cNvPr id="296" name="Rounded Rectangle 295"/>
          <p:cNvSpPr/>
          <p:nvPr/>
        </p:nvSpPr>
        <p:spPr>
          <a:xfrm>
            <a:off x="5532120" y="2743200"/>
            <a:ext cx="3017520" cy="1691640"/>
          </a:xfrm>
          <a:prstGeom prst="roundRect">
            <a:avLst/>
          </a:prstGeom>
          <a:solidFill>
            <a:srgbClr val="FEE2E2"/>
          </a:solidFill>
          <a:ln w="12700">
            <a:solidFill>
              <a:srgbClr val="A61B1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7" name="TextBox 296"/>
          <p:cNvSpPr txBox="1"/>
          <p:nvPr/>
        </p:nvSpPr>
        <p:spPr>
          <a:xfrm>
            <a:off x="5760720" y="2971800"/>
            <a:ext cx="2560320" cy="228600"/>
          </a:xfrm>
          <a:prstGeom prst="rect">
            <a:avLst/>
          </a:prstGeom>
          <a:noFill/>
        </p:spPr>
        <p:txBody>
          <a:bodyPr wrap="square">
            <a:normAutofit/>
          </a:bodyPr>
          <a:lstStyle/>
          <a:p>
            <a:pPr algn="l">
              <a:spcAft>
                <a:spcPts val="0"/>
              </a:spcAft>
              <a:defRPr sz="1600" b="1">
                <a:solidFill>
                  <a:srgbClr val="A61B1B"/>
                </a:solidFill>
                <a:latin typeface="Arial"/>
              </a:defRPr>
            </a:pPr>
            <a:r>
              <a:t>Decision for Sprint 2</a:t>
            </a:r>
          </a:p>
        </p:txBody>
      </p:sp>
      <p:sp>
        <p:nvSpPr>
          <p:cNvPr id="298" name="TextBox 297"/>
          <p:cNvSpPr txBox="1"/>
          <p:nvPr/>
        </p:nvSpPr>
        <p:spPr>
          <a:xfrm>
            <a:off x="5760720" y="3364992"/>
            <a:ext cx="2468880" cy="219456"/>
          </a:xfrm>
          <a:prstGeom prst="rect">
            <a:avLst/>
          </a:prstGeom>
          <a:noFill/>
        </p:spPr>
        <p:txBody>
          <a:bodyPr wrap="square">
            <a:normAutofit/>
          </a:bodyPr>
          <a:lstStyle/>
          <a:p>
            <a:pPr algn="l">
              <a:spcAft>
                <a:spcPts val="0"/>
              </a:spcAft>
              <a:defRPr sz="1100" b="0">
                <a:solidFill>
                  <a:srgbClr val="172033"/>
                </a:solidFill>
                <a:latin typeface="Arial"/>
              </a:defRPr>
            </a:pPr>
            <a:r>
              <a:t>- Add database storage</a:t>
            </a:r>
          </a:p>
        </p:txBody>
      </p:sp>
      <p:sp>
        <p:nvSpPr>
          <p:cNvPr id="299" name="TextBox 298"/>
          <p:cNvSpPr txBox="1"/>
          <p:nvPr/>
        </p:nvSpPr>
        <p:spPr>
          <a:xfrm>
            <a:off x="5760720" y="3657600"/>
            <a:ext cx="2468880" cy="219456"/>
          </a:xfrm>
          <a:prstGeom prst="rect">
            <a:avLst/>
          </a:prstGeom>
          <a:noFill/>
        </p:spPr>
        <p:txBody>
          <a:bodyPr wrap="square">
            <a:normAutofit/>
          </a:bodyPr>
          <a:lstStyle/>
          <a:p>
            <a:pPr algn="l">
              <a:spcAft>
                <a:spcPts val="0"/>
              </a:spcAft>
              <a:defRPr sz="1100" b="0">
                <a:solidFill>
                  <a:srgbClr val="172033"/>
                </a:solidFill>
                <a:latin typeface="Arial"/>
              </a:defRPr>
            </a:pPr>
            <a:r>
              <a:t>- Split student and teacher pages</a:t>
            </a:r>
          </a:p>
        </p:txBody>
      </p:sp>
      <p:sp>
        <p:nvSpPr>
          <p:cNvPr id="300" name="TextBox 299"/>
          <p:cNvSpPr txBox="1"/>
          <p:nvPr/>
        </p:nvSpPr>
        <p:spPr>
          <a:xfrm>
            <a:off x="5760720" y="3950208"/>
            <a:ext cx="2468880" cy="219456"/>
          </a:xfrm>
          <a:prstGeom prst="rect">
            <a:avLst/>
          </a:prstGeom>
          <a:noFill/>
        </p:spPr>
        <p:txBody>
          <a:bodyPr wrap="square">
            <a:normAutofit/>
          </a:bodyPr>
          <a:lstStyle/>
          <a:p>
            <a:pPr algn="l">
              <a:spcAft>
                <a:spcPts val="0"/>
              </a:spcAft>
              <a:defRPr sz="1100" b="0">
                <a:solidFill>
                  <a:srgbClr val="172033"/>
                </a:solidFill>
                <a:latin typeface="Arial"/>
              </a:defRPr>
            </a:pPr>
            <a:r>
              <a:t>- Keep the interface simple</a:t>
            </a:r>
          </a:p>
        </p:txBody>
      </p:sp>
      <p:sp>
        <p:nvSpPr>
          <p:cNvPr id="301" name="WrittenEvidence card 16"/>
          <p:cNvSpPr/>
          <p:nvPr/>
        </p:nvSpPr>
        <p:spPr>
          <a:xfrm>
            <a:off x="548640" y="4517136"/>
            <a:ext cx="8046720" cy="438912"/>
          </a:xfrm>
          <a:prstGeom prst="roundRect">
            <a:avLst/>
          </a:prstGeom>
          <a:solidFill>
            <a:srgbClr val="FEF3C7"/>
          </a:solidFill>
          <a:ln w="12700">
            <a:solidFill>
              <a:srgbClr val="92400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2" name="WrittenEvidence title 16"/>
          <p:cNvSpPr txBox="1"/>
          <p:nvPr/>
        </p:nvSpPr>
        <p:spPr>
          <a:xfrm>
            <a:off x="713232" y="4636008"/>
            <a:ext cx="1115568" cy="274320"/>
          </a:xfrm>
          <a:prstGeom prst="rect">
            <a:avLst/>
          </a:prstGeom>
          <a:noFill/>
        </p:spPr>
        <p:txBody>
          <a:bodyPr wrap="square">
            <a:normAutofit/>
          </a:bodyPr>
          <a:lstStyle/>
          <a:p>
            <a:pPr algn="l">
              <a:spcAft>
                <a:spcPts val="0"/>
              </a:spcAft>
              <a:defRPr sz="950" b="1">
                <a:solidFill>
                  <a:srgbClr val="92400E"/>
                </a:solidFill>
                <a:latin typeface="Arial"/>
              </a:defRPr>
            </a:pPr>
            <a:r>
              <a:t>Testing link</a:t>
            </a:r>
          </a:p>
        </p:txBody>
      </p:sp>
      <p:sp>
        <p:nvSpPr>
          <p:cNvPr id="303" name="WrittenEvidence body 16"/>
          <p:cNvSpPr txBox="1"/>
          <p:nvPr/>
        </p:nvSpPr>
        <p:spPr>
          <a:xfrm>
            <a:off x="1783080" y="4626864"/>
            <a:ext cx="6629400" cy="274320"/>
          </a:xfrm>
          <a:prstGeom prst="rect">
            <a:avLst/>
          </a:prstGeom>
          <a:noFill/>
        </p:spPr>
        <p:txBody>
          <a:bodyPr wrap="square">
            <a:normAutofit/>
          </a:bodyPr>
          <a:lstStyle/>
          <a:p>
            <a:pPr algn="l">
              <a:spcAft>
                <a:spcPts val="0"/>
              </a:spcAft>
              <a:defRPr sz="950" b="0">
                <a:solidFill>
                  <a:srgbClr val="172033"/>
                </a:solidFill>
                <a:latin typeface="Arial"/>
              </a:defRPr>
            </a:pPr>
            <a:r>
              <a:t>Testing showed the form worked, but browser-only storage was weak. This feedback became the reason for Task 2.</a:t>
            </a: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47"/>
          <p:cNvSpPr txBox="1"/>
          <p:nvPr/>
        </p:nvSpPr>
        <p:spPr>
          <a:xfrm>
            <a:off x="1341950" y="4649875"/>
            <a:ext cx="4800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200">
                <a:solidFill>
                  <a:schemeClr val="lt1"/>
                </a:solidFill>
                <a:latin typeface="Oswald"/>
                <a:ea typeface="Oswald"/>
                <a:cs typeface="Oswald"/>
                <a:sym typeface="Oswald"/>
              </a:rPr>
              <a:t>2</a:t>
            </a:r>
            <a:endParaRPr sz="1000">
              <a:solidFill>
                <a:schemeClr val="lt1"/>
              </a:solidFill>
              <a:latin typeface="Source Code Pro"/>
              <a:ea typeface="Source Code Pro"/>
              <a:cs typeface="Source Code Pro"/>
              <a:sym typeface="Source Code Pro"/>
            </a:endParaRPr>
          </a:p>
        </p:txBody>
      </p:sp>
      <p:pic>
        <p:nvPicPr>
          <p:cNvPr id="282" name="Google Shape;282;p47"/>
          <p:cNvPicPr preferRelativeResize="0"/>
          <p:nvPr/>
        </p:nvPicPr>
        <p:blipFill>
          <a:blip r:embed="rId3">
            <a:alphaModFix/>
          </a:blip>
          <a:stretch>
            <a:fillRect/>
          </a:stretch>
        </p:blipFill>
        <p:spPr>
          <a:xfrm>
            <a:off x="0" y="0"/>
            <a:ext cx="3390900" cy="2209800"/>
          </a:xfrm>
          <a:prstGeom prst="rect">
            <a:avLst/>
          </a:prstGeom>
          <a:noFill/>
          <a:ln>
            <a:noFill/>
          </a:ln>
        </p:spPr>
      </p:pic>
      <p:pic>
        <p:nvPicPr>
          <p:cNvPr id="283" name="Google Shape;283;p47"/>
          <p:cNvPicPr preferRelativeResize="0"/>
          <p:nvPr/>
        </p:nvPicPr>
        <p:blipFill>
          <a:blip r:embed="rId4">
            <a:alphaModFix/>
          </a:blip>
          <a:stretch>
            <a:fillRect/>
          </a:stretch>
        </p:blipFill>
        <p:spPr>
          <a:xfrm>
            <a:off x="3390900" y="0"/>
            <a:ext cx="5448300" cy="4656666"/>
          </a:xfrm>
          <a:prstGeom prst="rect">
            <a:avLst/>
          </a:prstGeom>
          <a:noFill/>
          <a:ln>
            <a:noFill/>
          </a:ln>
        </p:spPr>
      </p:pic>
      <p:pic>
        <p:nvPicPr>
          <p:cNvPr id="284" name="Google Shape;284;p47"/>
          <p:cNvPicPr preferRelativeResize="0"/>
          <p:nvPr/>
        </p:nvPicPr>
        <p:blipFill>
          <a:blip r:embed="rId5">
            <a:alphaModFix/>
          </a:blip>
          <a:stretch>
            <a:fillRect/>
          </a:stretch>
        </p:blipFill>
        <p:spPr>
          <a:xfrm>
            <a:off x="-4" y="2571748"/>
            <a:ext cx="3390900" cy="1157373"/>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pic>
        <p:nvPicPr>
          <p:cNvPr id="289" name="Google Shape;289;p48"/>
          <p:cNvPicPr preferRelativeResize="0"/>
          <p:nvPr/>
        </p:nvPicPr>
        <p:blipFill>
          <a:blip r:embed="rId3">
            <a:alphaModFix/>
          </a:blip>
          <a:stretch>
            <a:fillRect/>
          </a:stretch>
        </p:blipFill>
        <p:spPr>
          <a:xfrm>
            <a:off x="0" y="0"/>
            <a:ext cx="7765840" cy="2243450"/>
          </a:xfrm>
          <a:prstGeom prst="rect">
            <a:avLst/>
          </a:prstGeom>
          <a:noFill/>
          <a:ln>
            <a:noFill/>
          </a:ln>
        </p:spPr>
      </p:pic>
      <p:pic>
        <p:nvPicPr>
          <p:cNvPr id="290" name="Google Shape;290;p48"/>
          <p:cNvPicPr preferRelativeResize="0"/>
          <p:nvPr/>
        </p:nvPicPr>
        <p:blipFill>
          <a:blip r:embed="rId4">
            <a:alphaModFix/>
          </a:blip>
          <a:stretch>
            <a:fillRect/>
          </a:stretch>
        </p:blipFill>
        <p:spPr>
          <a:xfrm>
            <a:off x="0" y="2571750"/>
            <a:ext cx="7732921" cy="2101400"/>
          </a:xfrm>
          <a:prstGeom prst="rect">
            <a:avLst/>
          </a:prstGeom>
          <a:noFill/>
          <a:ln>
            <a:noFill/>
          </a:ln>
        </p:spPr>
      </p:pic>
      <p:sp>
        <p:nvSpPr>
          <p:cNvPr id="291" name="Google Shape;291;p48"/>
          <p:cNvSpPr txBox="1"/>
          <p:nvPr/>
        </p:nvSpPr>
        <p:spPr>
          <a:xfrm>
            <a:off x="7857300" y="7475"/>
            <a:ext cx="560700" cy="224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latin typeface="Source Code Pro"/>
              <a:ea typeface="Source Code Pro"/>
              <a:cs typeface="Source Code Pro"/>
              <a:sym typeface="Source Code Pro"/>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pic>
        <p:nvPicPr>
          <p:cNvPr id="296" name="Google Shape;296;p49"/>
          <p:cNvPicPr preferRelativeResize="0"/>
          <p:nvPr/>
        </p:nvPicPr>
        <p:blipFill>
          <a:blip r:embed="rId3">
            <a:alphaModFix/>
          </a:blip>
          <a:stretch>
            <a:fillRect/>
          </a:stretch>
        </p:blipFill>
        <p:spPr>
          <a:xfrm>
            <a:off x="-6" y="0"/>
            <a:ext cx="4208855" cy="4672499"/>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Rectangle 300"/>
          <p:cNvSpPr/>
          <p:nvPr/>
        </p:nvSpPr>
        <p:spPr>
          <a:xfrm>
            <a:off x="0" y="0"/>
            <a:ext cx="9144000" cy="5143500"/>
          </a:xfrm>
          <a:prstGeom prst="rect">
            <a:avLst/>
          </a:prstGeom>
          <a:solidFill>
            <a:srgbClr val="F2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2" name="Rectangle 301"/>
          <p:cNvSpPr/>
          <p:nvPr/>
        </p:nvSpPr>
        <p:spPr>
          <a:xfrm>
            <a:off x="0" y="0"/>
            <a:ext cx="146304" cy="514350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3" name="TextBox 302"/>
          <p:cNvSpPr txBox="1"/>
          <p:nvPr/>
        </p:nvSpPr>
        <p:spPr>
          <a:xfrm>
            <a:off x="438912" y="256032"/>
            <a:ext cx="8138160" cy="411480"/>
          </a:xfrm>
          <a:prstGeom prst="rect">
            <a:avLst/>
          </a:prstGeom>
          <a:noFill/>
        </p:spPr>
        <p:txBody>
          <a:bodyPr wrap="square">
            <a:normAutofit/>
          </a:bodyPr>
          <a:lstStyle/>
          <a:p>
            <a:pPr algn="l">
              <a:spcAft>
                <a:spcPts val="0"/>
              </a:spcAft>
              <a:defRPr sz="2500" b="1">
                <a:solidFill>
                  <a:srgbClr val="172033"/>
                </a:solidFill>
                <a:latin typeface="Arial"/>
              </a:defRPr>
            </a:pPr>
            <a:r>
              <a:t>Sprint 1 Review</a:t>
            </a:r>
          </a:p>
        </p:txBody>
      </p:sp>
      <p:sp>
        <p:nvSpPr>
          <p:cNvPr id="304" name="TextBox 303"/>
          <p:cNvSpPr txBox="1"/>
          <p:nvPr/>
        </p:nvSpPr>
        <p:spPr>
          <a:xfrm>
            <a:off x="457200" y="676656"/>
            <a:ext cx="7955279" cy="292608"/>
          </a:xfrm>
          <a:prstGeom prst="rect">
            <a:avLst/>
          </a:prstGeom>
          <a:noFill/>
        </p:spPr>
        <p:txBody>
          <a:bodyPr wrap="square">
            <a:normAutofit/>
          </a:bodyPr>
          <a:lstStyle/>
          <a:p>
            <a:pPr algn="l">
              <a:spcAft>
                <a:spcPts val="0"/>
              </a:spcAft>
              <a:defRPr sz="1200" b="0">
                <a:solidFill>
                  <a:srgbClr val="5B6472"/>
                </a:solidFill>
                <a:latin typeface="Arial"/>
              </a:defRPr>
            </a:pPr>
            <a:r>
              <a:t>Result: useful first MVP, but not enough for real staff workflow.</a:t>
            </a:r>
          </a:p>
        </p:txBody>
      </p:sp>
      <p:sp>
        <p:nvSpPr>
          <p:cNvPr id="305" name="Rectangle 304"/>
          <p:cNvSpPr/>
          <p:nvPr/>
        </p:nvSpPr>
        <p:spPr>
          <a:xfrm>
            <a:off x="457200" y="960120"/>
            <a:ext cx="1005840" cy="36576"/>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6" name="Rounded Rectangle 305"/>
          <p:cNvSpPr/>
          <p:nvPr/>
        </p:nvSpPr>
        <p:spPr>
          <a:xfrm>
            <a:off x="594360" y="1188720"/>
            <a:ext cx="2331720" cy="1143000"/>
          </a:xfrm>
          <a:prstGeom prst="roundRect">
            <a:avLst/>
          </a:prstGeom>
          <a:solidFill>
            <a:srgbClr val="DCFCE7"/>
          </a:solidFill>
          <a:ln w="127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7" name="TextBox 306"/>
          <p:cNvSpPr txBox="1"/>
          <p:nvPr/>
        </p:nvSpPr>
        <p:spPr>
          <a:xfrm>
            <a:off x="731520" y="1298448"/>
            <a:ext cx="2057400" cy="320040"/>
          </a:xfrm>
          <a:prstGeom prst="rect">
            <a:avLst/>
          </a:prstGeom>
          <a:noFill/>
        </p:spPr>
        <p:txBody>
          <a:bodyPr wrap="square">
            <a:normAutofit/>
          </a:bodyPr>
          <a:lstStyle/>
          <a:p>
            <a:pPr algn="l">
              <a:spcAft>
                <a:spcPts val="0"/>
              </a:spcAft>
              <a:defRPr sz="2000" b="1">
                <a:solidFill>
                  <a:srgbClr val="166534"/>
                </a:solidFill>
                <a:latin typeface="Arial"/>
              </a:defRPr>
            </a:pPr>
            <a:r>
              <a:t>Worked</a:t>
            </a:r>
          </a:p>
        </p:txBody>
      </p:sp>
      <p:sp>
        <p:nvSpPr>
          <p:cNvPr id="308" name="TextBox 307"/>
          <p:cNvSpPr txBox="1"/>
          <p:nvPr/>
        </p:nvSpPr>
        <p:spPr>
          <a:xfrm>
            <a:off x="731520" y="1664208"/>
            <a:ext cx="2057400" cy="612648"/>
          </a:xfrm>
          <a:prstGeom prst="rect">
            <a:avLst/>
          </a:prstGeom>
          <a:noFill/>
        </p:spPr>
        <p:txBody>
          <a:bodyPr wrap="square">
            <a:normAutofit/>
          </a:bodyPr>
          <a:lstStyle/>
          <a:p>
            <a:pPr algn="l">
              <a:spcAft>
                <a:spcPts val="0"/>
              </a:spcAft>
              <a:defRPr sz="1000" b="0">
                <a:solidFill>
                  <a:srgbClr val="5B6472"/>
                </a:solidFill>
                <a:latin typeface="Arial"/>
              </a:defRPr>
            </a:pPr>
            <a:r>
              <a:t>Student report form works</a:t>
            </a:r>
          </a:p>
        </p:txBody>
      </p:sp>
      <p:sp>
        <p:nvSpPr>
          <p:cNvPr id="309" name="Rounded Rectangle 308"/>
          <p:cNvSpPr/>
          <p:nvPr/>
        </p:nvSpPr>
        <p:spPr>
          <a:xfrm>
            <a:off x="3401568" y="1188720"/>
            <a:ext cx="2331720" cy="1143000"/>
          </a:xfrm>
          <a:prstGeom prst="roundRect">
            <a:avLst/>
          </a:prstGeom>
          <a:solidFill>
            <a:srgbClr val="FEE2E2"/>
          </a:solidFill>
          <a:ln w="12700">
            <a:solidFill>
              <a:srgbClr val="A61B1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0" name="TextBox 309"/>
          <p:cNvSpPr txBox="1"/>
          <p:nvPr/>
        </p:nvSpPr>
        <p:spPr>
          <a:xfrm>
            <a:off x="3538728" y="1298448"/>
            <a:ext cx="2057400" cy="320040"/>
          </a:xfrm>
          <a:prstGeom prst="rect">
            <a:avLst/>
          </a:prstGeom>
          <a:noFill/>
        </p:spPr>
        <p:txBody>
          <a:bodyPr wrap="square">
            <a:normAutofit/>
          </a:bodyPr>
          <a:lstStyle/>
          <a:p>
            <a:pPr algn="l">
              <a:spcAft>
                <a:spcPts val="0"/>
              </a:spcAft>
              <a:defRPr sz="2000" b="1">
                <a:solidFill>
                  <a:srgbClr val="A61B1B"/>
                </a:solidFill>
                <a:latin typeface="Arial"/>
              </a:defRPr>
            </a:pPr>
            <a:r>
              <a:t>Problem</a:t>
            </a:r>
          </a:p>
        </p:txBody>
      </p:sp>
      <p:sp>
        <p:nvSpPr>
          <p:cNvPr id="311" name="TextBox 310"/>
          <p:cNvSpPr txBox="1"/>
          <p:nvPr/>
        </p:nvSpPr>
        <p:spPr>
          <a:xfrm>
            <a:off x="3538728" y="1664208"/>
            <a:ext cx="2057400" cy="612648"/>
          </a:xfrm>
          <a:prstGeom prst="rect">
            <a:avLst/>
          </a:prstGeom>
          <a:noFill/>
        </p:spPr>
        <p:txBody>
          <a:bodyPr wrap="square">
            <a:normAutofit/>
          </a:bodyPr>
          <a:lstStyle/>
          <a:p>
            <a:pPr algn="l">
              <a:spcAft>
                <a:spcPts val="0"/>
              </a:spcAft>
              <a:defRPr sz="1000" b="0">
                <a:solidFill>
                  <a:srgbClr val="5B6472"/>
                </a:solidFill>
                <a:latin typeface="Arial"/>
              </a:defRPr>
            </a:pPr>
            <a:r>
              <a:t>Browser-only storage is weak</a:t>
            </a:r>
          </a:p>
        </p:txBody>
      </p:sp>
      <p:sp>
        <p:nvSpPr>
          <p:cNvPr id="312" name="Rounded Rectangle 311"/>
          <p:cNvSpPr/>
          <p:nvPr/>
        </p:nvSpPr>
        <p:spPr>
          <a:xfrm>
            <a:off x="6199632" y="1188720"/>
            <a:ext cx="2331720" cy="1143000"/>
          </a:xfrm>
          <a:prstGeom prst="roundRect">
            <a:avLst/>
          </a:prstGeom>
          <a:solidFill>
            <a:srgbClr val="DBEAFE"/>
          </a:solidFill>
          <a:ln w="12700">
            <a:solidFill>
              <a:srgbClr val="1F4F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3" name="TextBox 312"/>
          <p:cNvSpPr txBox="1"/>
          <p:nvPr/>
        </p:nvSpPr>
        <p:spPr>
          <a:xfrm>
            <a:off x="6336792" y="1298448"/>
            <a:ext cx="2057400" cy="320040"/>
          </a:xfrm>
          <a:prstGeom prst="rect">
            <a:avLst/>
          </a:prstGeom>
          <a:noFill/>
        </p:spPr>
        <p:txBody>
          <a:bodyPr wrap="square">
            <a:normAutofit/>
          </a:bodyPr>
          <a:lstStyle/>
          <a:p>
            <a:pPr algn="l">
              <a:spcAft>
                <a:spcPts val="0"/>
              </a:spcAft>
              <a:defRPr sz="2000" b="1">
                <a:solidFill>
                  <a:srgbClr val="1F4F8F"/>
                </a:solidFill>
                <a:latin typeface="Arial"/>
              </a:defRPr>
            </a:pPr>
            <a:r>
              <a:t>Next</a:t>
            </a:r>
          </a:p>
        </p:txBody>
      </p:sp>
      <p:sp>
        <p:nvSpPr>
          <p:cNvPr id="314" name="TextBox 313"/>
          <p:cNvSpPr txBox="1"/>
          <p:nvPr/>
        </p:nvSpPr>
        <p:spPr>
          <a:xfrm>
            <a:off x="6336792" y="1664208"/>
            <a:ext cx="2057400" cy="612648"/>
          </a:xfrm>
          <a:prstGeom prst="rect">
            <a:avLst/>
          </a:prstGeom>
          <a:noFill/>
        </p:spPr>
        <p:txBody>
          <a:bodyPr wrap="square">
            <a:normAutofit/>
          </a:bodyPr>
          <a:lstStyle/>
          <a:p>
            <a:pPr algn="l">
              <a:spcAft>
                <a:spcPts val="0"/>
              </a:spcAft>
              <a:defRPr sz="1000" b="0">
                <a:solidFill>
                  <a:srgbClr val="5B6472"/>
                </a:solidFill>
                <a:latin typeface="Arial"/>
              </a:defRPr>
            </a:pPr>
            <a:r>
              <a:t>Move to database and teacher page</a:t>
            </a:r>
          </a:p>
        </p:txBody>
      </p:sp>
      <p:sp>
        <p:nvSpPr>
          <p:cNvPr id="315" name="Rounded Rectangle 314"/>
          <p:cNvSpPr/>
          <p:nvPr/>
        </p:nvSpPr>
        <p:spPr>
          <a:xfrm>
            <a:off x="594360" y="2697480"/>
            <a:ext cx="7936992" cy="1600200"/>
          </a:xfrm>
          <a:prstGeom prst="roundRect">
            <a:avLst/>
          </a:prstGeom>
          <a:solidFill>
            <a:srgbClr val="FFFFFF"/>
          </a:solidFill>
          <a:ln w="12700">
            <a:solidFill>
              <a:srgbClr val="C7D0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6" name="TextBox 315"/>
          <p:cNvSpPr txBox="1"/>
          <p:nvPr/>
        </p:nvSpPr>
        <p:spPr>
          <a:xfrm>
            <a:off x="868680" y="2926080"/>
            <a:ext cx="2286000" cy="274320"/>
          </a:xfrm>
          <a:prstGeom prst="rect">
            <a:avLst/>
          </a:prstGeom>
          <a:noFill/>
        </p:spPr>
        <p:txBody>
          <a:bodyPr wrap="square">
            <a:normAutofit/>
          </a:bodyPr>
          <a:lstStyle/>
          <a:p>
            <a:pPr algn="l">
              <a:spcAft>
                <a:spcPts val="0"/>
              </a:spcAft>
              <a:defRPr sz="1700" b="1">
                <a:solidFill>
                  <a:srgbClr val="172033"/>
                </a:solidFill>
                <a:latin typeface="Arial"/>
              </a:defRPr>
            </a:pPr>
            <a:r>
              <a:t>Sprint 1 summary</a:t>
            </a:r>
          </a:p>
        </p:txBody>
      </p:sp>
      <p:sp>
        <p:nvSpPr>
          <p:cNvPr id="317" name="TextBox 316"/>
          <p:cNvSpPr txBox="1"/>
          <p:nvPr/>
        </p:nvSpPr>
        <p:spPr>
          <a:xfrm>
            <a:off x="868680" y="3337560"/>
            <a:ext cx="7132320" cy="594360"/>
          </a:xfrm>
          <a:prstGeom prst="rect">
            <a:avLst/>
          </a:prstGeom>
          <a:noFill/>
        </p:spPr>
        <p:txBody>
          <a:bodyPr wrap="square">
            <a:normAutofit/>
          </a:bodyPr>
          <a:lstStyle/>
          <a:p>
            <a:pPr algn="l">
              <a:spcAft>
                <a:spcPts val="0"/>
              </a:spcAft>
              <a:defRPr sz="1300" b="0">
                <a:solidFill>
                  <a:srgbClr val="172033"/>
                </a:solidFill>
                <a:latin typeface="Arial"/>
              </a:defRPr>
            </a:pPr>
            <a:r>
              <a:t>The MVP proved the basic reporting process. Testing also showed that reports must persist after refresh and that teacher actions need a separate area. Sprint 2 will focus on storage and workflow separation.</a:t>
            </a:r>
          </a:p>
        </p:txBody>
      </p:sp>
      <p:sp>
        <p:nvSpPr>
          <p:cNvPr id="318" name="WrittenEvidence card 20"/>
          <p:cNvSpPr/>
          <p:nvPr/>
        </p:nvSpPr>
        <p:spPr>
          <a:xfrm>
            <a:off x="594360" y="4389120"/>
            <a:ext cx="7936992" cy="438912"/>
          </a:xfrm>
          <a:prstGeom prst="roundRect">
            <a:avLst/>
          </a:prstGeom>
          <a:solidFill>
            <a:srgbClr val="FFFFFF"/>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9" name="WrittenEvidence title 20"/>
          <p:cNvSpPr txBox="1"/>
          <p:nvPr/>
        </p:nvSpPr>
        <p:spPr>
          <a:xfrm>
            <a:off x="758952" y="4507992"/>
            <a:ext cx="1115568" cy="274320"/>
          </a:xfrm>
          <a:prstGeom prst="rect">
            <a:avLst/>
          </a:prstGeom>
          <a:noFill/>
        </p:spPr>
        <p:txBody>
          <a:bodyPr wrap="square">
            <a:normAutofit/>
          </a:bodyPr>
          <a:lstStyle/>
          <a:p>
            <a:pPr algn="l">
              <a:spcAft>
                <a:spcPts val="0"/>
              </a:spcAft>
              <a:defRPr sz="950" b="1">
                <a:solidFill>
                  <a:srgbClr val="334155"/>
                </a:solidFill>
                <a:latin typeface="Arial"/>
              </a:defRPr>
            </a:pPr>
            <a:r>
              <a:t>Sprint decision</a:t>
            </a:r>
          </a:p>
        </p:txBody>
      </p:sp>
      <p:sp>
        <p:nvSpPr>
          <p:cNvPr id="320" name="WrittenEvidence body 20"/>
          <p:cNvSpPr txBox="1"/>
          <p:nvPr/>
        </p:nvSpPr>
        <p:spPr>
          <a:xfrm>
            <a:off x="1828800" y="4498848"/>
            <a:ext cx="6519672" cy="274320"/>
          </a:xfrm>
          <a:prstGeom prst="rect">
            <a:avLst/>
          </a:prstGeom>
          <a:noFill/>
        </p:spPr>
        <p:txBody>
          <a:bodyPr wrap="square">
            <a:normAutofit/>
          </a:bodyPr>
          <a:lstStyle/>
          <a:p>
            <a:pPr algn="l">
              <a:spcAft>
                <a:spcPts val="0"/>
              </a:spcAft>
              <a:defRPr sz="950" b="0">
                <a:solidFill>
                  <a:srgbClr val="172033"/>
                </a:solidFill>
                <a:latin typeface="Arial"/>
              </a:defRPr>
            </a:pPr>
            <a:r>
              <a:t>Sprint 1 proved the report workflow, then showed the need for persistent data and separate teacher use.</a:t>
            </a: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51"/>
          <p:cNvSpPr txBox="1"/>
          <p:nvPr>
            <p:ph type="title"/>
          </p:nvPr>
        </p:nvSpPr>
        <p:spPr>
          <a:xfrm>
            <a:off x="430800" y="1889700"/>
            <a:ext cx="8282400" cy="15165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GB"/>
              <a:t>Sprint 2</a:t>
            </a:r>
            <a:endParaRPr/>
          </a:p>
        </p:txBody>
      </p:sp>
      <p:sp>
        <p:nvSpPr>
          <p:cNvPr id="308" name="Google Shape;308;p51"/>
          <p:cNvSpPr txBox="1"/>
          <p:nvPr>
            <p:ph idx="4294967295" type="subTitle"/>
          </p:nvPr>
        </p:nvSpPr>
        <p:spPr>
          <a:xfrm>
            <a:off x="1577525" y="4214575"/>
            <a:ext cx="5949900" cy="802800"/>
          </a:xfrm>
          <a:prstGeom prst="rect">
            <a:avLst/>
          </a:prstGeom>
          <a:ln cap="flat" cmpd="sng" w="9525">
            <a:solidFill>
              <a:schemeClr val="dk2"/>
            </a:solidFill>
            <a:prstDash val="solid"/>
            <a:round/>
            <a:headEnd len="sm" w="sm" type="none"/>
            <a:tailEnd len="sm" w="sm" type="none"/>
          </a:ln>
        </p:spPr>
        <p:txBody>
          <a:bodyPr anchorCtr="0" anchor="ctr" bIns="91425" lIns="91425" spcFirstLastPara="1" rIns="91425" wrap="square" tIns="91425">
            <a:normAutofit/>
          </a:bodyPr>
          <a:lstStyle/>
          <a:p>
            <a:pPr indent="0" lvl="0" marL="0" rtl="0" algn="ctr">
              <a:spcBef>
                <a:spcPts val="0"/>
              </a:spcBef>
              <a:spcAft>
                <a:spcPts val="1200"/>
              </a:spcAft>
              <a:buNone/>
            </a:pPr>
            <a:r>
              <a:rPr lang="en-GB"/>
              <a:t>Starting from 15 June</a:t>
            </a:r>
            <a:endParaRPr sz="18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Rectangle 312"/>
          <p:cNvSpPr/>
          <p:nvPr/>
        </p:nvSpPr>
        <p:spPr>
          <a:xfrm>
            <a:off x="0" y="0"/>
            <a:ext cx="9144000" cy="5143500"/>
          </a:xfrm>
          <a:prstGeom prst="rect">
            <a:avLst/>
          </a:prstGeom>
          <a:solidFill>
            <a:srgbClr val="F2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4" name="Rectangle 313"/>
          <p:cNvSpPr/>
          <p:nvPr/>
        </p:nvSpPr>
        <p:spPr>
          <a:xfrm>
            <a:off x="0" y="0"/>
            <a:ext cx="146304" cy="5143500"/>
          </a:xfrm>
          <a:prstGeom prst="rect">
            <a:avLst/>
          </a:prstGeom>
          <a:solidFill>
            <a:srgbClr val="1F4F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5" name="TextBox 314"/>
          <p:cNvSpPr txBox="1"/>
          <p:nvPr/>
        </p:nvSpPr>
        <p:spPr>
          <a:xfrm>
            <a:off x="438912" y="256032"/>
            <a:ext cx="8138160" cy="411480"/>
          </a:xfrm>
          <a:prstGeom prst="rect">
            <a:avLst/>
          </a:prstGeom>
          <a:noFill/>
        </p:spPr>
        <p:txBody>
          <a:bodyPr wrap="square">
            <a:normAutofit/>
          </a:bodyPr>
          <a:lstStyle/>
          <a:p>
            <a:pPr algn="l">
              <a:spcAft>
                <a:spcPts val="0"/>
              </a:spcAft>
              <a:defRPr sz="2500" b="1">
                <a:solidFill>
                  <a:srgbClr val="172033"/>
                </a:solidFill>
                <a:latin typeface="Arial"/>
              </a:defRPr>
            </a:pPr>
            <a:r>
              <a:t>Sprint 2 Plan</a:t>
            </a:r>
          </a:p>
        </p:txBody>
      </p:sp>
      <p:sp>
        <p:nvSpPr>
          <p:cNvPr id="316" name="TextBox 315"/>
          <p:cNvSpPr txBox="1"/>
          <p:nvPr/>
        </p:nvSpPr>
        <p:spPr>
          <a:xfrm>
            <a:off x="457200" y="676656"/>
            <a:ext cx="7955279" cy="292608"/>
          </a:xfrm>
          <a:prstGeom prst="rect">
            <a:avLst/>
          </a:prstGeom>
          <a:noFill/>
        </p:spPr>
        <p:txBody>
          <a:bodyPr wrap="square">
            <a:normAutofit/>
          </a:bodyPr>
          <a:lstStyle/>
          <a:p>
            <a:pPr algn="l">
              <a:spcAft>
                <a:spcPts val="0"/>
              </a:spcAft>
              <a:defRPr sz="1200" b="0">
                <a:solidFill>
                  <a:srgbClr val="5B6472"/>
                </a:solidFill>
                <a:latin typeface="Arial"/>
              </a:defRPr>
            </a:pPr>
            <a:r>
              <a:t>Goal: change the prototype into a small client-server system.</a:t>
            </a:r>
          </a:p>
        </p:txBody>
      </p:sp>
      <p:sp>
        <p:nvSpPr>
          <p:cNvPr id="317" name="Rectangle 316"/>
          <p:cNvSpPr/>
          <p:nvPr/>
        </p:nvSpPr>
        <p:spPr>
          <a:xfrm>
            <a:off x="457200" y="960120"/>
            <a:ext cx="1005840" cy="36576"/>
          </a:xfrm>
          <a:prstGeom prst="rect">
            <a:avLst/>
          </a:prstGeom>
          <a:solidFill>
            <a:srgbClr val="1F4F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18" name="Picture 317" descr="image.png"/>
          <p:cNvPicPr>
            <a:picLocks noChangeAspect="1"/>
          </p:cNvPicPr>
          <p:nvPr/>
        </p:nvPicPr>
        <p:blipFill>
          <a:blip r:embed="rId4"/>
          <a:stretch>
            <a:fillRect/>
          </a:stretch>
        </p:blipFill>
        <p:spPr>
          <a:xfrm>
            <a:off x="685800" y="1097280"/>
            <a:ext cx="7772400" cy="2834640"/>
          </a:xfrm>
          <a:prstGeom prst="rect">
            <a:avLst/>
          </a:prstGeom>
        </p:spPr>
      </p:pic>
      <p:sp>
        <p:nvSpPr>
          <p:cNvPr id="319" name="Rounded Rectangle 318"/>
          <p:cNvSpPr/>
          <p:nvPr/>
        </p:nvSpPr>
        <p:spPr>
          <a:xfrm>
            <a:off x="685800" y="4041648"/>
            <a:ext cx="7772400" cy="658368"/>
          </a:xfrm>
          <a:prstGeom prst="roundRect">
            <a:avLst/>
          </a:prstGeom>
          <a:solidFill>
            <a:srgbClr val="DBEAFE"/>
          </a:solidFill>
          <a:ln w="12700">
            <a:solidFill>
              <a:srgbClr val="1F4F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0" name="TextBox 319"/>
          <p:cNvSpPr txBox="1"/>
          <p:nvPr/>
        </p:nvSpPr>
        <p:spPr>
          <a:xfrm>
            <a:off x="914400" y="4169663"/>
            <a:ext cx="731520" cy="201168"/>
          </a:xfrm>
          <a:prstGeom prst="rect">
            <a:avLst/>
          </a:prstGeom>
          <a:noFill/>
        </p:spPr>
        <p:txBody>
          <a:bodyPr wrap="square">
            <a:normAutofit/>
          </a:bodyPr>
          <a:lstStyle/>
          <a:p>
            <a:pPr algn="l">
              <a:spcAft>
                <a:spcPts val="0"/>
              </a:spcAft>
              <a:defRPr sz="1200" b="1">
                <a:solidFill>
                  <a:srgbClr val="1F4F8F"/>
                </a:solidFill>
                <a:latin typeface="Arial"/>
              </a:defRPr>
            </a:pPr>
            <a:r>
              <a:t>Scope</a:t>
            </a:r>
          </a:p>
        </p:txBody>
      </p:sp>
      <p:sp>
        <p:nvSpPr>
          <p:cNvPr id="321" name="TextBox 320"/>
          <p:cNvSpPr txBox="1"/>
          <p:nvPr/>
        </p:nvSpPr>
        <p:spPr>
          <a:xfrm>
            <a:off x="1600200" y="4169663"/>
            <a:ext cx="6537960" cy="292608"/>
          </a:xfrm>
          <a:prstGeom prst="rect">
            <a:avLst/>
          </a:prstGeom>
          <a:noFill/>
        </p:spPr>
        <p:txBody>
          <a:bodyPr wrap="square">
            <a:normAutofit/>
          </a:bodyPr>
          <a:lstStyle/>
          <a:p>
            <a:pPr algn="l">
              <a:spcAft>
                <a:spcPts val="0"/>
              </a:spcAft>
              <a:defRPr sz="1200" b="1">
                <a:solidFill>
                  <a:srgbClr val="172033"/>
                </a:solidFill>
                <a:latin typeface="Arial"/>
              </a:defRPr>
            </a:pPr>
            <a:r>
              <a:t>Python server + SQLite database + separate student and teacher pages. This is still a prototype, not a full login system.</a:t>
            </a:r>
          </a:p>
        </p:txBody>
      </p:sp>
      <p:sp>
        <p:nvSpPr>
          <p:cNvPr id="322" name="WrittenEvidence card 22"/>
          <p:cNvSpPr/>
          <p:nvPr/>
        </p:nvSpPr>
        <p:spPr>
          <a:xfrm>
            <a:off x="685800" y="4425696"/>
            <a:ext cx="7772400" cy="438912"/>
          </a:xfrm>
          <a:prstGeom prst="roundRect">
            <a:avLst/>
          </a:prstGeom>
          <a:solidFill>
            <a:srgbClr val="DBEAFE"/>
          </a:solidFill>
          <a:ln w="12700">
            <a:solidFill>
              <a:srgbClr val="1F4F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3" name="WrittenEvidence title 22"/>
          <p:cNvSpPr txBox="1"/>
          <p:nvPr/>
        </p:nvSpPr>
        <p:spPr>
          <a:xfrm>
            <a:off x="850392" y="4544568"/>
            <a:ext cx="1115568" cy="274320"/>
          </a:xfrm>
          <a:prstGeom prst="rect">
            <a:avLst/>
          </a:prstGeom>
          <a:noFill/>
        </p:spPr>
        <p:txBody>
          <a:bodyPr wrap="square">
            <a:normAutofit/>
          </a:bodyPr>
          <a:lstStyle/>
          <a:p>
            <a:pPr algn="l">
              <a:spcAft>
                <a:spcPts val="0"/>
              </a:spcAft>
              <a:defRPr sz="950" b="1">
                <a:solidFill>
                  <a:srgbClr val="1F4F8F"/>
                </a:solidFill>
                <a:latin typeface="Arial"/>
              </a:defRPr>
            </a:pPr>
            <a:r>
              <a:t>Architecture link</a:t>
            </a:r>
          </a:p>
        </p:txBody>
      </p:sp>
      <p:sp>
        <p:nvSpPr>
          <p:cNvPr id="324" name="WrittenEvidence body 22"/>
          <p:cNvSpPr txBox="1"/>
          <p:nvPr/>
        </p:nvSpPr>
        <p:spPr>
          <a:xfrm>
            <a:off x="1920240" y="4535424"/>
            <a:ext cx="6355080" cy="274320"/>
          </a:xfrm>
          <a:prstGeom prst="rect">
            <a:avLst/>
          </a:prstGeom>
          <a:noFill/>
        </p:spPr>
        <p:txBody>
          <a:bodyPr wrap="square">
            <a:normAutofit/>
          </a:bodyPr>
          <a:lstStyle/>
          <a:p>
            <a:pPr algn="l">
              <a:spcAft>
                <a:spcPts val="0"/>
              </a:spcAft>
              <a:defRPr sz="950" b="0">
                <a:solidFill>
                  <a:srgbClr val="172033"/>
                </a:solidFill>
                <a:latin typeface="Arial"/>
              </a:defRPr>
            </a:pPr>
            <a:r>
              <a:t>Sprint 2 changes the system from one browser page into a client-server prototype using Python and SQLite.</a:t>
            </a: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Rectangle 318"/>
          <p:cNvSpPr/>
          <p:nvPr/>
        </p:nvSpPr>
        <p:spPr>
          <a:xfrm>
            <a:off x="0" y="0"/>
            <a:ext cx="9144000" cy="5143500"/>
          </a:xfrm>
          <a:prstGeom prst="rect">
            <a:avLst/>
          </a:prstGeom>
          <a:solidFill>
            <a:srgbClr val="F2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0" name="Rectangle 319"/>
          <p:cNvSpPr/>
          <p:nvPr/>
        </p:nvSpPr>
        <p:spPr>
          <a:xfrm>
            <a:off x="0" y="0"/>
            <a:ext cx="146304" cy="5143500"/>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1" name="TextBox 320"/>
          <p:cNvSpPr txBox="1"/>
          <p:nvPr/>
        </p:nvSpPr>
        <p:spPr>
          <a:xfrm>
            <a:off x="438912" y="256032"/>
            <a:ext cx="8138160" cy="411480"/>
          </a:xfrm>
          <a:prstGeom prst="rect">
            <a:avLst/>
          </a:prstGeom>
          <a:noFill/>
        </p:spPr>
        <p:txBody>
          <a:bodyPr wrap="square">
            <a:normAutofit/>
          </a:bodyPr>
          <a:lstStyle/>
          <a:p>
            <a:pPr algn="l">
              <a:spcAft>
                <a:spcPts val="0"/>
              </a:spcAft>
              <a:defRPr sz="2500" b="1">
                <a:solidFill>
                  <a:srgbClr val="172033"/>
                </a:solidFill>
                <a:latin typeface="Arial"/>
              </a:defRPr>
            </a:pPr>
            <a:r>
              <a:t>Sprint 2 Backlog</a:t>
            </a:r>
          </a:p>
        </p:txBody>
      </p:sp>
      <p:sp>
        <p:nvSpPr>
          <p:cNvPr id="322" name="TextBox 321"/>
          <p:cNvSpPr txBox="1"/>
          <p:nvPr/>
        </p:nvSpPr>
        <p:spPr>
          <a:xfrm>
            <a:off x="457200" y="676656"/>
            <a:ext cx="7955279" cy="292608"/>
          </a:xfrm>
          <a:prstGeom prst="rect">
            <a:avLst/>
          </a:prstGeom>
          <a:noFill/>
        </p:spPr>
        <p:txBody>
          <a:bodyPr wrap="square">
            <a:normAutofit/>
          </a:bodyPr>
          <a:lstStyle/>
          <a:p>
            <a:pPr algn="l">
              <a:spcAft>
                <a:spcPts val="0"/>
              </a:spcAft>
              <a:defRPr sz="1200" b="0">
                <a:solidFill>
                  <a:srgbClr val="5B6472"/>
                </a:solidFill>
                <a:latin typeface="Arial"/>
              </a:defRPr>
            </a:pPr>
            <a:r>
              <a:t>Database work and teacher workflow are now the main tasks.</a:t>
            </a:r>
          </a:p>
        </p:txBody>
      </p:sp>
      <p:sp>
        <p:nvSpPr>
          <p:cNvPr id="323" name="Rectangle 322"/>
          <p:cNvSpPr/>
          <p:nvPr/>
        </p:nvSpPr>
        <p:spPr>
          <a:xfrm>
            <a:off x="457200" y="960120"/>
            <a:ext cx="1005840" cy="36576"/>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4" name="Rounded Rectangle 323"/>
          <p:cNvSpPr/>
          <p:nvPr/>
        </p:nvSpPr>
        <p:spPr>
          <a:xfrm>
            <a:off x="594360" y="1143000"/>
            <a:ext cx="2487168" cy="3520440"/>
          </a:xfrm>
          <a:prstGeom prst="roundRect">
            <a:avLst/>
          </a:prstGeom>
          <a:solidFill>
            <a:srgbClr val="DBEAFE"/>
          </a:solidFill>
          <a:ln w="12700">
            <a:solidFill>
              <a:srgbClr val="1F4F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5" name="TextBox 324"/>
          <p:cNvSpPr txBox="1"/>
          <p:nvPr/>
        </p:nvSpPr>
        <p:spPr>
          <a:xfrm>
            <a:off x="777240" y="1353312"/>
            <a:ext cx="2103120" cy="320040"/>
          </a:xfrm>
          <a:prstGeom prst="rect">
            <a:avLst/>
          </a:prstGeom>
          <a:noFill/>
        </p:spPr>
        <p:txBody>
          <a:bodyPr wrap="square">
            <a:normAutofit/>
          </a:bodyPr>
          <a:lstStyle/>
          <a:p>
            <a:pPr algn="l">
              <a:spcAft>
                <a:spcPts val="0"/>
              </a:spcAft>
              <a:defRPr sz="1800" b="1">
                <a:solidFill>
                  <a:srgbClr val="1F4F8F"/>
                </a:solidFill>
                <a:latin typeface="Arial"/>
              </a:defRPr>
            </a:pPr>
            <a:r>
              <a:t>Backend</a:t>
            </a:r>
          </a:p>
        </p:txBody>
      </p:sp>
      <p:sp>
        <p:nvSpPr>
          <p:cNvPr id="326" name="Rounded Rectangle 325"/>
          <p:cNvSpPr/>
          <p:nvPr/>
        </p:nvSpPr>
        <p:spPr>
          <a:xfrm>
            <a:off x="777240" y="1828800"/>
            <a:ext cx="2121408" cy="384048"/>
          </a:xfrm>
          <a:prstGeom prst="roundRect">
            <a:avLst/>
          </a:prstGeom>
          <a:solidFill>
            <a:srgbClr val="FFFFFF"/>
          </a:solidFill>
          <a:ln w="12700">
            <a:solidFill>
              <a:srgbClr val="C7D0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7" name="TextBox 326"/>
          <p:cNvSpPr txBox="1"/>
          <p:nvPr/>
        </p:nvSpPr>
        <p:spPr>
          <a:xfrm>
            <a:off x="923544" y="1938528"/>
            <a:ext cx="1828800" cy="164592"/>
          </a:xfrm>
          <a:prstGeom prst="rect">
            <a:avLst/>
          </a:prstGeom>
          <a:noFill/>
        </p:spPr>
        <p:txBody>
          <a:bodyPr wrap="square">
            <a:normAutofit/>
          </a:bodyPr>
          <a:lstStyle/>
          <a:p>
            <a:pPr algn="l">
              <a:spcAft>
                <a:spcPts val="0"/>
              </a:spcAft>
              <a:defRPr sz="1000" b="0">
                <a:solidFill>
                  <a:srgbClr val="172033"/>
                </a:solidFill>
                <a:latin typeface="Arial"/>
              </a:defRPr>
            </a:pPr>
            <a:r>
              <a:t>server.py</a:t>
            </a:r>
          </a:p>
        </p:txBody>
      </p:sp>
      <p:sp>
        <p:nvSpPr>
          <p:cNvPr id="328" name="Rounded Rectangle 327"/>
          <p:cNvSpPr/>
          <p:nvPr/>
        </p:nvSpPr>
        <p:spPr>
          <a:xfrm>
            <a:off x="777240" y="2395728"/>
            <a:ext cx="2121408" cy="384048"/>
          </a:xfrm>
          <a:prstGeom prst="roundRect">
            <a:avLst/>
          </a:prstGeom>
          <a:solidFill>
            <a:srgbClr val="FFFFFF"/>
          </a:solidFill>
          <a:ln w="12700">
            <a:solidFill>
              <a:srgbClr val="C7D0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9" name="TextBox 328"/>
          <p:cNvSpPr txBox="1"/>
          <p:nvPr/>
        </p:nvSpPr>
        <p:spPr>
          <a:xfrm>
            <a:off x="923544" y="2505456"/>
            <a:ext cx="1828800" cy="164592"/>
          </a:xfrm>
          <a:prstGeom prst="rect">
            <a:avLst/>
          </a:prstGeom>
          <a:noFill/>
        </p:spPr>
        <p:txBody>
          <a:bodyPr wrap="square">
            <a:normAutofit/>
          </a:bodyPr>
          <a:lstStyle/>
          <a:p>
            <a:pPr algn="l">
              <a:spcAft>
                <a:spcPts val="0"/>
              </a:spcAft>
              <a:defRPr sz="1000" b="0">
                <a:solidFill>
                  <a:srgbClr val="172033"/>
                </a:solidFill>
                <a:latin typeface="Arial"/>
              </a:defRPr>
            </a:pPr>
            <a:r>
              <a:t>SQLite reports table</a:t>
            </a:r>
          </a:p>
        </p:txBody>
      </p:sp>
      <p:sp>
        <p:nvSpPr>
          <p:cNvPr id="330" name="Rounded Rectangle 329"/>
          <p:cNvSpPr/>
          <p:nvPr/>
        </p:nvSpPr>
        <p:spPr>
          <a:xfrm>
            <a:off x="777240" y="2962656"/>
            <a:ext cx="2121408" cy="384048"/>
          </a:xfrm>
          <a:prstGeom prst="roundRect">
            <a:avLst/>
          </a:prstGeom>
          <a:solidFill>
            <a:srgbClr val="FFFFFF"/>
          </a:solidFill>
          <a:ln w="12700">
            <a:solidFill>
              <a:srgbClr val="C7D0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1" name="TextBox 330"/>
          <p:cNvSpPr txBox="1"/>
          <p:nvPr/>
        </p:nvSpPr>
        <p:spPr>
          <a:xfrm>
            <a:off x="923544" y="3072384"/>
            <a:ext cx="1828800" cy="164592"/>
          </a:xfrm>
          <a:prstGeom prst="rect">
            <a:avLst/>
          </a:prstGeom>
          <a:noFill/>
        </p:spPr>
        <p:txBody>
          <a:bodyPr wrap="square">
            <a:normAutofit/>
          </a:bodyPr>
          <a:lstStyle/>
          <a:p>
            <a:pPr algn="l">
              <a:spcAft>
                <a:spcPts val="0"/>
              </a:spcAft>
              <a:defRPr sz="1000" b="0">
                <a:solidFill>
                  <a:srgbClr val="172033"/>
                </a:solidFill>
                <a:latin typeface="Arial"/>
              </a:defRPr>
            </a:pPr>
            <a:r>
              <a:t>POST /api/reports</a:t>
            </a:r>
          </a:p>
        </p:txBody>
      </p:sp>
      <p:sp>
        <p:nvSpPr>
          <p:cNvPr id="332" name="Rounded Rectangle 331"/>
          <p:cNvSpPr/>
          <p:nvPr/>
        </p:nvSpPr>
        <p:spPr>
          <a:xfrm>
            <a:off x="777240" y="3529584"/>
            <a:ext cx="2121408" cy="384048"/>
          </a:xfrm>
          <a:prstGeom prst="roundRect">
            <a:avLst/>
          </a:prstGeom>
          <a:solidFill>
            <a:srgbClr val="FFFFFF"/>
          </a:solidFill>
          <a:ln w="12700">
            <a:solidFill>
              <a:srgbClr val="C7D0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3" name="TextBox 332"/>
          <p:cNvSpPr txBox="1"/>
          <p:nvPr/>
        </p:nvSpPr>
        <p:spPr>
          <a:xfrm>
            <a:off x="923544" y="3639312"/>
            <a:ext cx="1828800" cy="164592"/>
          </a:xfrm>
          <a:prstGeom prst="rect">
            <a:avLst/>
          </a:prstGeom>
          <a:noFill/>
        </p:spPr>
        <p:txBody>
          <a:bodyPr wrap="square">
            <a:normAutofit/>
          </a:bodyPr>
          <a:lstStyle/>
          <a:p>
            <a:pPr algn="l">
              <a:spcAft>
                <a:spcPts val="0"/>
              </a:spcAft>
              <a:defRPr sz="1000" b="0">
                <a:solidFill>
                  <a:srgbClr val="172033"/>
                </a:solidFill>
                <a:latin typeface="Arial"/>
              </a:defRPr>
            </a:pPr>
            <a:r>
              <a:t>GET /api/reports</a:t>
            </a:r>
          </a:p>
        </p:txBody>
      </p:sp>
      <p:sp>
        <p:nvSpPr>
          <p:cNvPr id="334" name="Rounded Rectangle 333"/>
          <p:cNvSpPr/>
          <p:nvPr/>
        </p:nvSpPr>
        <p:spPr>
          <a:xfrm>
            <a:off x="3410712" y="1143000"/>
            <a:ext cx="2487168" cy="3520440"/>
          </a:xfrm>
          <a:prstGeom prst="roundRect">
            <a:avLst/>
          </a:prstGeom>
          <a:solidFill>
            <a:srgbClr val="DCFCE7"/>
          </a:solidFill>
          <a:ln w="127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5" name="TextBox 334"/>
          <p:cNvSpPr txBox="1"/>
          <p:nvPr/>
        </p:nvSpPr>
        <p:spPr>
          <a:xfrm>
            <a:off x="3593592" y="1353312"/>
            <a:ext cx="2103120" cy="320040"/>
          </a:xfrm>
          <a:prstGeom prst="rect">
            <a:avLst/>
          </a:prstGeom>
          <a:noFill/>
        </p:spPr>
        <p:txBody>
          <a:bodyPr wrap="square">
            <a:normAutofit/>
          </a:bodyPr>
          <a:lstStyle/>
          <a:p>
            <a:pPr algn="l">
              <a:spcAft>
                <a:spcPts val="0"/>
              </a:spcAft>
              <a:defRPr sz="1800" b="1">
                <a:solidFill>
                  <a:srgbClr val="166534"/>
                </a:solidFill>
                <a:latin typeface="Arial"/>
              </a:defRPr>
            </a:pPr>
            <a:r>
              <a:t>Student side</a:t>
            </a:r>
          </a:p>
        </p:txBody>
      </p:sp>
      <p:sp>
        <p:nvSpPr>
          <p:cNvPr id="336" name="Rounded Rectangle 335"/>
          <p:cNvSpPr/>
          <p:nvPr/>
        </p:nvSpPr>
        <p:spPr>
          <a:xfrm>
            <a:off x="3593592" y="1828800"/>
            <a:ext cx="2121408" cy="384048"/>
          </a:xfrm>
          <a:prstGeom prst="roundRect">
            <a:avLst/>
          </a:prstGeom>
          <a:solidFill>
            <a:srgbClr val="FFFFFF"/>
          </a:solidFill>
          <a:ln w="12700">
            <a:solidFill>
              <a:srgbClr val="C7D0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7" name="TextBox 336"/>
          <p:cNvSpPr txBox="1"/>
          <p:nvPr/>
        </p:nvSpPr>
        <p:spPr>
          <a:xfrm>
            <a:off x="3739896" y="1938528"/>
            <a:ext cx="1828800" cy="164592"/>
          </a:xfrm>
          <a:prstGeom prst="rect">
            <a:avLst/>
          </a:prstGeom>
          <a:noFill/>
        </p:spPr>
        <p:txBody>
          <a:bodyPr wrap="square">
            <a:normAutofit/>
          </a:bodyPr>
          <a:lstStyle/>
          <a:p>
            <a:pPr algn="l">
              <a:spcAft>
                <a:spcPts val="0"/>
              </a:spcAft>
              <a:defRPr sz="1000" b="0">
                <a:solidFill>
                  <a:srgbClr val="172033"/>
                </a:solidFill>
                <a:latin typeface="Arial"/>
              </a:defRPr>
            </a:pPr>
            <a:r>
              <a:t>Submit-only page</a:t>
            </a:r>
          </a:p>
        </p:txBody>
      </p:sp>
      <p:sp>
        <p:nvSpPr>
          <p:cNvPr id="338" name="Rounded Rectangle 337"/>
          <p:cNvSpPr/>
          <p:nvPr/>
        </p:nvSpPr>
        <p:spPr>
          <a:xfrm>
            <a:off x="3593592" y="2395728"/>
            <a:ext cx="2121408" cy="384048"/>
          </a:xfrm>
          <a:prstGeom prst="roundRect">
            <a:avLst/>
          </a:prstGeom>
          <a:solidFill>
            <a:srgbClr val="FFFFFF"/>
          </a:solidFill>
          <a:ln w="12700">
            <a:solidFill>
              <a:srgbClr val="C7D0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9" name="TextBox 338"/>
          <p:cNvSpPr txBox="1"/>
          <p:nvPr/>
        </p:nvSpPr>
        <p:spPr>
          <a:xfrm>
            <a:off x="3739896" y="2505456"/>
            <a:ext cx="1828800" cy="164592"/>
          </a:xfrm>
          <a:prstGeom prst="rect">
            <a:avLst/>
          </a:prstGeom>
          <a:noFill/>
        </p:spPr>
        <p:txBody>
          <a:bodyPr wrap="square">
            <a:normAutofit/>
          </a:bodyPr>
          <a:lstStyle/>
          <a:p>
            <a:pPr algn="l">
              <a:spcAft>
                <a:spcPts val="0"/>
              </a:spcAft>
              <a:defRPr sz="1000" b="0">
                <a:solidFill>
                  <a:srgbClr val="172033"/>
                </a:solidFill>
                <a:latin typeface="Arial"/>
              </a:defRPr>
            </a:pPr>
            <a:r>
              <a:t>Field validation</a:t>
            </a:r>
          </a:p>
        </p:txBody>
      </p:sp>
      <p:sp>
        <p:nvSpPr>
          <p:cNvPr id="340" name="Rounded Rectangle 339"/>
          <p:cNvSpPr/>
          <p:nvPr/>
        </p:nvSpPr>
        <p:spPr>
          <a:xfrm>
            <a:off x="3593592" y="2962656"/>
            <a:ext cx="2121408" cy="384048"/>
          </a:xfrm>
          <a:prstGeom prst="roundRect">
            <a:avLst/>
          </a:prstGeom>
          <a:solidFill>
            <a:srgbClr val="FFFFFF"/>
          </a:solidFill>
          <a:ln w="12700">
            <a:solidFill>
              <a:srgbClr val="C7D0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1" name="TextBox 340"/>
          <p:cNvSpPr txBox="1"/>
          <p:nvPr/>
        </p:nvSpPr>
        <p:spPr>
          <a:xfrm>
            <a:off x="3739896" y="3072384"/>
            <a:ext cx="1828800" cy="164592"/>
          </a:xfrm>
          <a:prstGeom prst="rect">
            <a:avLst/>
          </a:prstGeom>
          <a:noFill/>
        </p:spPr>
        <p:txBody>
          <a:bodyPr wrap="square">
            <a:normAutofit/>
          </a:bodyPr>
          <a:lstStyle/>
          <a:p>
            <a:pPr algn="l">
              <a:spcAft>
                <a:spcPts val="0"/>
              </a:spcAft>
              <a:defRPr sz="1000" b="0">
                <a:solidFill>
                  <a:srgbClr val="172033"/>
                </a:solidFill>
                <a:latin typeface="Arial"/>
              </a:defRPr>
            </a:pPr>
            <a:r>
              <a:t>API error message</a:t>
            </a:r>
          </a:p>
        </p:txBody>
      </p:sp>
      <p:sp>
        <p:nvSpPr>
          <p:cNvPr id="342" name="Rounded Rectangle 341"/>
          <p:cNvSpPr/>
          <p:nvPr/>
        </p:nvSpPr>
        <p:spPr>
          <a:xfrm>
            <a:off x="3593592" y="3529584"/>
            <a:ext cx="2121408" cy="384048"/>
          </a:xfrm>
          <a:prstGeom prst="roundRect">
            <a:avLst/>
          </a:prstGeom>
          <a:solidFill>
            <a:srgbClr val="FFFFFF"/>
          </a:solidFill>
          <a:ln w="12700">
            <a:solidFill>
              <a:srgbClr val="C7D0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3" name="TextBox 342"/>
          <p:cNvSpPr txBox="1"/>
          <p:nvPr/>
        </p:nvSpPr>
        <p:spPr>
          <a:xfrm>
            <a:off x="3739896" y="3639312"/>
            <a:ext cx="1828800" cy="164592"/>
          </a:xfrm>
          <a:prstGeom prst="rect">
            <a:avLst/>
          </a:prstGeom>
          <a:noFill/>
        </p:spPr>
        <p:txBody>
          <a:bodyPr wrap="square">
            <a:normAutofit/>
          </a:bodyPr>
          <a:lstStyle/>
          <a:p>
            <a:pPr algn="l">
              <a:spcAft>
                <a:spcPts val="0"/>
              </a:spcAft>
              <a:defRPr sz="1000" b="0">
                <a:solidFill>
                  <a:srgbClr val="172033"/>
                </a:solidFill>
                <a:latin typeface="Arial"/>
              </a:defRPr>
            </a:pPr>
            <a:r>
              <a:t>Success message</a:t>
            </a:r>
          </a:p>
        </p:txBody>
      </p:sp>
      <p:sp>
        <p:nvSpPr>
          <p:cNvPr id="344" name="Rounded Rectangle 343"/>
          <p:cNvSpPr/>
          <p:nvPr/>
        </p:nvSpPr>
        <p:spPr>
          <a:xfrm>
            <a:off x="6227064" y="1143000"/>
            <a:ext cx="2487168" cy="3520440"/>
          </a:xfrm>
          <a:prstGeom prst="roundRect">
            <a:avLst/>
          </a:prstGeom>
          <a:solidFill>
            <a:srgbClr val="FEF3C7"/>
          </a:solidFill>
          <a:ln w="12700">
            <a:solidFill>
              <a:srgbClr val="92400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5" name="TextBox 344"/>
          <p:cNvSpPr txBox="1"/>
          <p:nvPr/>
        </p:nvSpPr>
        <p:spPr>
          <a:xfrm>
            <a:off x="6409944" y="1353312"/>
            <a:ext cx="2103120" cy="320040"/>
          </a:xfrm>
          <a:prstGeom prst="rect">
            <a:avLst/>
          </a:prstGeom>
          <a:noFill/>
        </p:spPr>
        <p:txBody>
          <a:bodyPr wrap="square">
            <a:normAutofit/>
          </a:bodyPr>
          <a:lstStyle/>
          <a:p>
            <a:pPr algn="l">
              <a:spcAft>
                <a:spcPts val="0"/>
              </a:spcAft>
              <a:defRPr sz="1800" b="1">
                <a:solidFill>
                  <a:srgbClr val="92400E"/>
                </a:solidFill>
                <a:latin typeface="Arial"/>
              </a:defRPr>
            </a:pPr>
            <a:r>
              <a:t>Teacher side</a:t>
            </a:r>
          </a:p>
        </p:txBody>
      </p:sp>
      <p:sp>
        <p:nvSpPr>
          <p:cNvPr id="346" name="Rounded Rectangle 345"/>
          <p:cNvSpPr/>
          <p:nvPr/>
        </p:nvSpPr>
        <p:spPr>
          <a:xfrm>
            <a:off x="6409944" y="1828800"/>
            <a:ext cx="2121408" cy="384048"/>
          </a:xfrm>
          <a:prstGeom prst="roundRect">
            <a:avLst/>
          </a:prstGeom>
          <a:solidFill>
            <a:srgbClr val="FFFFFF"/>
          </a:solidFill>
          <a:ln w="12700">
            <a:solidFill>
              <a:srgbClr val="C7D0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7" name="TextBox 346"/>
          <p:cNvSpPr txBox="1"/>
          <p:nvPr/>
        </p:nvSpPr>
        <p:spPr>
          <a:xfrm>
            <a:off x="6556248" y="1938528"/>
            <a:ext cx="1828800" cy="164592"/>
          </a:xfrm>
          <a:prstGeom prst="rect">
            <a:avLst/>
          </a:prstGeom>
          <a:noFill/>
        </p:spPr>
        <p:txBody>
          <a:bodyPr wrap="square">
            <a:normAutofit/>
          </a:bodyPr>
          <a:lstStyle/>
          <a:p>
            <a:pPr algn="l">
              <a:spcAft>
                <a:spcPts val="0"/>
              </a:spcAft>
              <a:defRPr sz="1000" b="0">
                <a:solidFill>
                  <a:srgbClr val="172033"/>
                </a:solidFill>
                <a:latin typeface="Arial"/>
              </a:defRPr>
            </a:pPr>
            <a:r>
              <a:t>Report list</a:t>
            </a:r>
          </a:p>
        </p:txBody>
      </p:sp>
      <p:sp>
        <p:nvSpPr>
          <p:cNvPr id="348" name="Rounded Rectangle 347"/>
          <p:cNvSpPr/>
          <p:nvPr/>
        </p:nvSpPr>
        <p:spPr>
          <a:xfrm>
            <a:off x="6409944" y="2395728"/>
            <a:ext cx="2121408" cy="384048"/>
          </a:xfrm>
          <a:prstGeom prst="roundRect">
            <a:avLst/>
          </a:prstGeom>
          <a:solidFill>
            <a:srgbClr val="FFFFFF"/>
          </a:solidFill>
          <a:ln w="12700">
            <a:solidFill>
              <a:srgbClr val="C7D0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9" name="TextBox 348"/>
          <p:cNvSpPr txBox="1"/>
          <p:nvPr/>
        </p:nvSpPr>
        <p:spPr>
          <a:xfrm>
            <a:off x="6556248" y="2505456"/>
            <a:ext cx="1828800" cy="164592"/>
          </a:xfrm>
          <a:prstGeom prst="rect">
            <a:avLst/>
          </a:prstGeom>
          <a:noFill/>
        </p:spPr>
        <p:txBody>
          <a:bodyPr wrap="square">
            <a:normAutofit/>
          </a:bodyPr>
          <a:lstStyle/>
          <a:p>
            <a:pPr algn="l">
              <a:spcAft>
                <a:spcPts val="0"/>
              </a:spcAft>
              <a:defRPr sz="1000" b="0">
                <a:solidFill>
                  <a:srgbClr val="172033"/>
                </a:solidFill>
                <a:latin typeface="Arial"/>
              </a:defRPr>
            </a:pPr>
            <a:r>
              <a:t>Status counts</a:t>
            </a:r>
          </a:p>
        </p:txBody>
      </p:sp>
      <p:sp>
        <p:nvSpPr>
          <p:cNvPr id="350" name="Rounded Rectangle 349"/>
          <p:cNvSpPr/>
          <p:nvPr/>
        </p:nvSpPr>
        <p:spPr>
          <a:xfrm>
            <a:off x="6409944" y="2962656"/>
            <a:ext cx="2121408" cy="384048"/>
          </a:xfrm>
          <a:prstGeom prst="roundRect">
            <a:avLst/>
          </a:prstGeom>
          <a:solidFill>
            <a:srgbClr val="FFFFFF"/>
          </a:solidFill>
          <a:ln w="12700">
            <a:solidFill>
              <a:srgbClr val="C7D0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1" name="TextBox 350"/>
          <p:cNvSpPr txBox="1"/>
          <p:nvPr/>
        </p:nvSpPr>
        <p:spPr>
          <a:xfrm>
            <a:off x="6556248" y="3072384"/>
            <a:ext cx="1828800" cy="164592"/>
          </a:xfrm>
          <a:prstGeom prst="rect">
            <a:avLst/>
          </a:prstGeom>
          <a:noFill/>
        </p:spPr>
        <p:txBody>
          <a:bodyPr wrap="square">
            <a:normAutofit/>
          </a:bodyPr>
          <a:lstStyle/>
          <a:p>
            <a:pPr algn="l">
              <a:spcAft>
                <a:spcPts val="0"/>
              </a:spcAft>
              <a:defRPr sz="1000" b="0">
                <a:solidFill>
                  <a:srgbClr val="172033"/>
                </a:solidFill>
                <a:latin typeface="Arial"/>
              </a:defRPr>
            </a:pPr>
            <a:r>
              <a:t>Detail panel</a:t>
            </a:r>
          </a:p>
        </p:txBody>
      </p:sp>
      <p:sp>
        <p:nvSpPr>
          <p:cNvPr id="352" name="Rounded Rectangle 351"/>
          <p:cNvSpPr/>
          <p:nvPr/>
        </p:nvSpPr>
        <p:spPr>
          <a:xfrm>
            <a:off x="6409944" y="3529584"/>
            <a:ext cx="2121408" cy="384048"/>
          </a:xfrm>
          <a:prstGeom prst="roundRect">
            <a:avLst/>
          </a:prstGeom>
          <a:solidFill>
            <a:srgbClr val="FFFFFF"/>
          </a:solidFill>
          <a:ln w="12700">
            <a:solidFill>
              <a:srgbClr val="C7D0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3" name="TextBox 352"/>
          <p:cNvSpPr txBox="1"/>
          <p:nvPr/>
        </p:nvSpPr>
        <p:spPr>
          <a:xfrm>
            <a:off x="6556248" y="3639312"/>
            <a:ext cx="1828800" cy="164592"/>
          </a:xfrm>
          <a:prstGeom prst="rect">
            <a:avLst/>
          </a:prstGeom>
          <a:noFill/>
        </p:spPr>
        <p:txBody>
          <a:bodyPr wrap="square">
            <a:normAutofit/>
          </a:bodyPr>
          <a:lstStyle/>
          <a:p>
            <a:pPr algn="l">
              <a:spcAft>
                <a:spcPts val="0"/>
              </a:spcAft>
              <a:defRPr sz="1000" b="0">
                <a:solidFill>
                  <a:srgbClr val="172033"/>
                </a:solidFill>
                <a:latin typeface="Arial"/>
              </a:defRPr>
            </a:pPr>
            <a:r>
              <a:t>Update/delete actions</a:t>
            </a:r>
          </a:p>
        </p:txBody>
      </p:sp>
      <p:sp>
        <p:nvSpPr>
          <p:cNvPr id="354" name="WrittenEvidence card 23"/>
          <p:cNvSpPr/>
          <p:nvPr/>
        </p:nvSpPr>
        <p:spPr>
          <a:xfrm>
            <a:off x="530352" y="4498848"/>
            <a:ext cx="8046720" cy="438912"/>
          </a:xfrm>
          <a:prstGeom prst="roundRect">
            <a:avLst/>
          </a:prstGeom>
          <a:solidFill>
            <a:srgbClr val="DCFCE7"/>
          </a:solidFill>
          <a:ln w="127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5" name="WrittenEvidence title 23"/>
          <p:cNvSpPr txBox="1"/>
          <p:nvPr/>
        </p:nvSpPr>
        <p:spPr>
          <a:xfrm>
            <a:off x="694944" y="4617720"/>
            <a:ext cx="1115568" cy="274320"/>
          </a:xfrm>
          <a:prstGeom prst="rect">
            <a:avLst/>
          </a:prstGeom>
          <a:noFill/>
        </p:spPr>
        <p:txBody>
          <a:bodyPr wrap="square">
            <a:normAutofit/>
          </a:bodyPr>
          <a:lstStyle/>
          <a:p>
            <a:pPr algn="l">
              <a:spcAft>
                <a:spcPts val="0"/>
              </a:spcAft>
              <a:defRPr sz="950" b="1">
                <a:solidFill>
                  <a:srgbClr val="166534"/>
                </a:solidFill>
                <a:latin typeface="Arial"/>
              </a:defRPr>
            </a:pPr>
            <a:r>
              <a:t>Development link</a:t>
            </a:r>
          </a:p>
        </p:txBody>
      </p:sp>
      <p:sp>
        <p:nvSpPr>
          <p:cNvPr id="356" name="WrittenEvidence body 23"/>
          <p:cNvSpPr txBox="1"/>
          <p:nvPr/>
        </p:nvSpPr>
        <p:spPr>
          <a:xfrm>
            <a:off x="1764792" y="4608576"/>
            <a:ext cx="6629400" cy="274320"/>
          </a:xfrm>
          <a:prstGeom prst="rect">
            <a:avLst/>
          </a:prstGeom>
          <a:noFill/>
        </p:spPr>
        <p:txBody>
          <a:bodyPr wrap="square">
            <a:normAutofit/>
          </a:bodyPr>
          <a:lstStyle/>
          <a:p>
            <a:pPr algn="l">
              <a:spcAft>
                <a:spcPts val="0"/>
              </a:spcAft>
              <a:defRPr sz="950" b="0">
                <a:solidFill>
                  <a:srgbClr val="172033"/>
                </a:solidFill>
                <a:latin typeface="Arial"/>
              </a:defRPr>
            </a:pPr>
            <a:r>
              <a:t>This backlog covers CRUD behaviour: create, read, update, and delete. These are the core database actions.</a:t>
            </a: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Rectangle 324"/>
          <p:cNvSpPr/>
          <p:nvPr/>
        </p:nvSpPr>
        <p:spPr>
          <a:xfrm>
            <a:off x="0" y="0"/>
            <a:ext cx="9144000" cy="5143500"/>
          </a:xfrm>
          <a:prstGeom prst="rect">
            <a:avLst/>
          </a:prstGeom>
          <a:solidFill>
            <a:srgbClr val="F2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6" name="Rectangle 325"/>
          <p:cNvSpPr/>
          <p:nvPr/>
        </p:nvSpPr>
        <p:spPr>
          <a:xfrm>
            <a:off x="0" y="0"/>
            <a:ext cx="146304" cy="5143500"/>
          </a:xfrm>
          <a:prstGeom prst="rect">
            <a:avLst/>
          </a:prstGeom>
          <a:solidFill>
            <a:srgbClr val="1F4F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7" name="TextBox 326"/>
          <p:cNvSpPr txBox="1"/>
          <p:nvPr/>
        </p:nvSpPr>
        <p:spPr>
          <a:xfrm>
            <a:off x="438912" y="256032"/>
            <a:ext cx="8138160" cy="411480"/>
          </a:xfrm>
          <a:prstGeom prst="rect">
            <a:avLst/>
          </a:prstGeom>
          <a:noFill/>
        </p:spPr>
        <p:txBody>
          <a:bodyPr wrap="square">
            <a:normAutofit/>
          </a:bodyPr>
          <a:lstStyle/>
          <a:p>
            <a:pPr algn="l">
              <a:spcAft>
                <a:spcPts val="0"/>
              </a:spcAft>
              <a:defRPr sz="2500" b="1">
                <a:solidFill>
                  <a:srgbClr val="172033"/>
                </a:solidFill>
                <a:latin typeface="Arial"/>
              </a:defRPr>
            </a:pPr>
            <a:r>
              <a:t>Task 2: Add Database and Teacher Page</a:t>
            </a:r>
          </a:p>
        </p:txBody>
      </p:sp>
      <p:sp>
        <p:nvSpPr>
          <p:cNvPr id="328" name="TextBox 327"/>
          <p:cNvSpPr txBox="1"/>
          <p:nvPr/>
        </p:nvSpPr>
        <p:spPr>
          <a:xfrm>
            <a:off x="457200" y="676656"/>
            <a:ext cx="7955279" cy="292608"/>
          </a:xfrm>
          <a:prstGeom prst="rect">
            <a:avLst/>
          </a:prstGeom>
          <a:noFill/>
        </p:spPr>
        <p:txBody>
          <a:bodyPr wrap="square">
            <a:normAutofit/>
          </a:bodyPr>
          <a:lstStyle/>
          <a:p>
            <a:pPr algn="l">
              <a:spcAft>
                <a:spcPts val="0"/>
              </a:spcAft>
              <a:defRPr sz="1200" b="0">
                <a:solidFill>
                  <a:srgbClr val="5B6472"/>
                </a:solidFill>
                <a:latin typeface="Arial"/>
              </a:defRPr>
            </a:pPr>
            <a:r>
              <a:t>Evidence: reports now use API routes and SQLite storage.</a:t>
            </a:r>
          </a:p>
        </p:txBody>
      </p:sp>
      <p:sp>
        <p:nvSpPr>
          <p:cNvPr id="329" name="Rectangle 328"/>
          <p:cNvSpPr/>
          <p:nvPr/>
        </p:nvSpPr>
        <p:spPr>
          <a:xfrm>
            <a:off x="457200" y="960120"/>
            <a:ext cx="1005840" cy="36576"/>
          </a:xfrm>
          <a:prstGeom prst="rect">
            <a:avLst/>
          </a:prstGeom>
          <a:solidFill>
            <a:srgbClr val="1F4F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0" name="Picture 329" descr="teacher_dashboard_mockup.png"/>
          <p:cNvPicPr>
            <a:picLocks noChangeAspect="1"/>
          </p:cNvPicPr>
          <p:nvPr/>
        </p:nvPicPr>
        <p:blipFill>
          <a:blip r:embed="rId3"/>
          <a:stretch>
            <a:fillRect/>
          </a:stretch>
        </p:blipFill>
        <p:spPr>
          <a:xfrm>
            <a:off x="4434840" y="1078992"/>
            <a:ext cx="4160520" cy="2615184"/>
          </a:xfrm>
          <a:prstGeom prst="rect">
            <a:avLst/>
          </a:prstGeom>
        </p:spPr>
      </p:pic>
      <p:sp>
        <p:nvSpPr>
          <p:cNvPr id="331" name="Rounded Rectangle 330"/>
          <p:cNvSpPr/>
          <p:nvPr/>
        </p:nvSpPr>
        <p:spPr>
          <a:xfrm>
            <a:off x="548640" y="1097280"/>
            <a:ext cx="3611880" cy="2606040"/>
          </a:xfrm>
          <a:prstGeom prst="roundRect">
            <a:avLst/>
          </a:prstGeom>
          <a:solidFill>
            <a:srgbClr val="FFFFFF"/>
          </a:solidFill>
          <a:ln w="12700">
            <a:solidFill>
              <a:srgbClr val="C7D0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2" name="TextBox 331"/>
          <p:cNvSpPr txBox="1"/>
          <p:nvPr/>
        </p:nvSpPr>
        <p:spPr>
          <a:xfrm>
            <a:off x="777240" y="1316736"/>
            <a:ext cx="3108960" cy="274320"/>
          </a:xfrm>
          <a:prstGeom prst="rect">
            <a:avLst/>
          </a:prstGeom>
          <a:noFill/>
        </p:spPr>
        <p:txBody>
          <a:bodyPr wrap="square">
            <a:normAutofit/>
          </a:bodyPr>
          <a:lstStyle/>
          <a:p>
            <a:pPr algn="l">
              <a:spcAft>
                <a:spcPts val="0"/>
              </a:spcAft>
              <a:defRPr sz="1700" b="1">
                <a:solidFill>
                  <a:srgbClr val="172033"/>
                </a:solidFill>
                <a:latin typeface="Arial"/>
              </a:defRPr>
            </a:pPr>
            <a:r>
              <a:t>What changed</a:t>
            </a:r>
          </a:p>
        </p:txBody>
      </p:sp>
      <p:sp>
        <p:nvSpPr>
          <p:cNvPr id="333" name="TextBox 332"/>
          <p:cNvSpPr txBox="1"/>
          <p:nvPr/>
        </p:nvSpPr>
        <p:spPr>
          <a:xfrm>
            <a:off x="777240" y="1737360"/>
            <a:ext cx="2971800" cy="219456"/>
          </a:xfrm>
          <a:prstGeom prst="rect">
            <a:avLst/>
          </a:prstGeom>
          <a:noFill/>
        </p:spPr>
        <p:txBody>
          <a:bodyPr wrap="square">
            <a:normAutofit/>
          </a:bodyPr>
          <a:lstStyle/>
          <a:p>
            <a:pPr algn="l">
              <a:spcAft>
                <a:spcPts val="0"/>
              </a:spcAft>
              <a:defRPr sz="1200" b="0">
                <a:solidFill>
                  <a:srgbClr val="172033"/>
                </a:solidFill>
                <a:latin typeface="Arial"/>
              </a:defRPr>
            </a:pPr>
            <a:r>
              <a:t>- Student page sends reports to the server</a:t>
            </a:r>
          </a:p>
        </p:txBody>
      </p:sp>
      <p:sp>
        <p:nvSpPr>
          <p:cNvPr id="334" name="TextBox 333"/>
          <p:cNvSpPr txBox="1"/>
          <p:nvPr/>
        </p:nvSpPr>
        <p:spPr>
          <a:xfrm>
            <a:off x="777240" y="2048256"/>
            <a:ext cx="2971800" cy="219456"/>
          </a:xfrm>
          <a:prstGeom prst="rect">
            <a:avLst/>
          </a:prstGeom>
          <a:noFill/>
        </p:spPr>
        <p:txBody>
          <a:bodyPr wrap="square">
            <a:normAutofit/>
          </a:bodyPr>
          <a:lstStyle/>
          <a:p>
            <a:pPr algn="l">
              <a:spcAft>
                <a:spcPts val="0"/>
              </a:spcAft>
              <a:defRPr sz="1200" b="0">
                <a:solidFill>
                  <a:srgbClr val="172033"/>
                </a:solidFill>
                <a:latin typeface="Arial"/>
              </a:defRPr>
            </a:pPr>
            <a:r>
              <a:t>- server.py writes reports into SQLite</a:t>
            </a:r>
          </a:p>
        </p:txBody>
      </p:sp>
      <p:sp>
        <p:nvSpPr>
          <p:cNvPr id="335" name="TextBox 334"/>
          <p:cNvSpPr txBox="1"/>
          <p:nvPr/>
        </p:nvSpPr>
        <p:spPr>
          <a:xfrm>
            <a:off x="777240" y="2359152"/>
            <a:ext cx="2971800" cy="219456"/>
          </a:xfrm>
          <a:prstGeom prst="rect">
            <a:avLst/>
          </a:prstGeom>
          <a:noFill/>
        </p:spPr>
        <p:txBody>
          <a:bodyPr wrap="square">
            <a:normAutofit/>
          </a:bodyPr>
          <a:lstStyle/>
          <a:p>
            <a:pPr algn="l">
              <a:spcAft>
                <a:spcPts val="0"/>
              </a:spcAft>
              <a:defRPr sz="1200" b="0">
                <a:solidFill>
                  <a:srgbClr val="172033"/>
                </a:solidFill>
                <a:latin typeface="Arial"/>
              </a:defRPr>
            </a:pPr>
            <a:r>
              <a:t>- Teacher page loads saved reports</a:t>
            </a:r>
          </a:p>
        </p:txBody>
      </p:sp>
      <p:sp>
        <p:nvSpPr>
          <p:cNvPr id="336" name="TextBox 335"/>
          <p:cNvSpPr txBox="1"/>
          <p:nvPr/>
        </p:nvSpPr>
        <p:spPr>
          <a:xfrm>
            <a:off x="777240" y="2670048"/>
            <a:ext cx="2971800" cy="219456"/>
          </a:xfrm>
          <a:prstGeom prst="rect">
            <a:avLst/>
          </a:prstGeom>
          <a:noFill/>
        </p:spPr>
        <p:txBody>
          <a:bodyPr wrap="square">
            <a:normAutofit/>
          </a:bodyPr>
          <a:lstStyle/>
          <a:p>
            <a:pPr algn="l">
              <a:spcAft>
                <a:spcPts val="0"/>
              </a:spcAft>
              <a:defRPr sz="1200" b="0">
                <a:solidFill>
                  <a:srgbClr val="172033"/>
                </a:solidFill>
                <a:latin typeface="Arial"/>
              </a:defRPr>
            </a:pPr>
            <a:r>
              <a:t>- Teacher can update status or delete reports</a:t>
            </a:r>
          </a:p>
        </p:txBody>
      </p:sp>
      <p:sp>
        <p:nvSpPr>
          <p:cNvPr id="337" name="Rounded Rectangle 336"/>
          <p:cNvSpPr/>
          <p:nvPr/>
        </p:nvSpPr>
        <p:spPr>
          <a:xfrm>
            <a:off x="777240" y="3236976"/>
            <a:ext cx="804672" cy="228600"/>
          </a:xfrm>
          <a:prstGeom prst="roundRect">
            <a:avLst/>
          </a:prstGeom>
          <a:solidFill>
            <a:srgbClr val="DBEAFE"/>
          </a:solidFill>
          <a:ln w="12700">
            <a:solidFill>
              <a:srgbClr val="1F4F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8" name="TextBox 337"/>
          <p:cNvSpPr txBox="1"/>
          <p:nvPr/>
        </p:nvSpPr>
        <p:spPr>
          <a:xfrm>
            <a:off x="841248" y="3278124"/>
            <a:ext cx="676656" cy="164592"/>
          </a:xfrm>
          <a:prstGeom prst="rect">
            <a:avLst/>
          </a:prstGeom>
          <a:noFill/>
        </p:spPr>
        <p:txBody>
          <a:bodyPr wrap="square">
            <a:normAutofit/>
          </a:bodyPr>
          <a:lstStyle/>
          <a:p>
            <a:pPr algn="ctr">
              <a:spcAft>
                <a:spcPts val="0"/>
              </a:spcAft>
              <a:defRPr sz="800" b="1">
                <a:solidFill>
                  <a:srgbClr val="1F4F8F"/>
                </a:solidFill>
                <a:latin typeface="Arial"/>
              </a:defRPr>
            </a:pPr>
            <a:r>
              <a:t>Python</a:t>
            </a:r>
          </a:p>
        </p:txBody>
      </p:sp>
      <p:sp>
        <p:nvSpPr>
          <p:cNvPr id="339" name="Rounded Rectangle 338"/>
          <p:cNvSpPr/>
          <p:nvPr/>
        </p:nvSpPr>
        <p:spPr>
          <a:xfrm>
            <a:off x="1764792" y="3236976"/>
            <a:ext cx="804672" cy="228600"/>
          </a:xfrm>
          <a:prstGeom prst="roundRect">
            <a:avLst/>
          </a:prstGeom>
          <a:solidFill>
            <a:srgbClr val="FFFFFF"/>
          </a:solidFill>
          <a:ln w="127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0" name="TextBox 339"/>
          <p:cNvSpPr txBox="1"/>
          <p:nvPr/>
        </p:nvSpPr>
        <p:spPr>
          <a:xfrm>
            <a:off x="1828800" y="3278124"/>
            <a:ext cx="676656" cy="164592"/>
          </a:xfrm>
          <a:prstGeom prst="rect">
            <a:avLst/>
          </a:prstGeom>
          <a:noFill/>
        </p:spPr>
        <p:txBody>
          <a:bodyPr wrap="square">
            <a:normAutofit/>
          </a:bodyPr>
          <a:lstStyle/>
          <a:p>
            <a:pPr algn="ctr">
              <a:spcAft>
                <a:spcPts val="0"/>
              </a:spcAft>
              <a:defRPr sz="800" b="1">
                <a:solidFill>
                  <a:srgbClr val="166534"/>
                </a:solidFill>
                <a:latin typeface="Arial"/>
              </a:defRPr>
            </a:pPr>
            <a:r>
              <a:t>SQLite</a:t>
            </a:r>
          </a:p>
        </p:txBody>
      </p:sp>
      <p:sp>
        <p:nvSpPr>
          <p:cNvPr id="341" name="Rounded Rectangle 340"/>
          <p:cNvSpPr/>
          <p:nvPr/>
        </p:nvSpPr>
        <p:spPr>
          <a:xfrm>
            <a:off x="2752344" y="3236976"/>
            <a:ext cx="804672" cy="228600"/>
          </a:xfrm>
          <a:prstGeom prst="roundRect">
            <a:avLst/>
          </a:prstGeom>
          <a:solidFill>
            <a:srgbClr val="FFFFFF"/>
          </a:solidFill>
          <a:ln w="12700">
            <a:solidFill>
              <a:srgbClr val="92400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2" name="TextBox 341"/>
          <p:cNvSpPr txBox="1"/>
          <p:nvPr/>
        </p:nvSpPr>
        <p:spPr>
          <a:xfrm>
            <a:off x="2816352" y="3278124"/>
            <a:ext cx="676656" cy="164592"/>
          </a:xfrm>
          <a:prstGeom prst="rect">
            <a:avLst/>
          </a:prstGeom>
          <a:noFill/>
        </p:spPr>
        <p:txBody>
          <a:bodyPr wrap="square">
            <a:normAutofit/>
          </a:bodyPr>
          <a:lstStyle/>
          <a:p>
            <a:pPr algn="ctr">
              <a:spcAft>
                <a:spcPts val="0"/>
              </a:spcAft>
              <a:defRPr sz="800" b="1">
                <a:solidFill>
                  <a:srgbClr val="92400E"/>
                </a:solidFill>
                <a:latin typeface="Arial"/>
              </a:defRPr>
            </a:pPr>
            <a:r>
              <a:t>API</a:t>
            </a:r>
          </a:p>
        </p:txBody>
      </p:sp>
      <p:sp>
        <p:nvSpPr>
          <p:cNvPr id="343" name="Rounded Rectangle 342"/>
          <p:cNvSpPr/>
          <p:nvPr/>
        </p:nvSpPr>
        <p:spPr>
          <a:xfrm>
            <a:off x="548640" y="3886200"/>
            <a:ext cx="8046720" cy="566928"/>
          </a:xfrm>
          <a:prstGeom prst="roundRect">
            <a:avLst/>
          </a:prstGeom>
          <a:solidFill>
            <a:srgbClr val="DCFCE7"/>
          </a:solidFill>
          <a:ln w="127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4" name="TextBox 343"/>
          <p:cNvSpPr txBox="1"/>
          <p:nvPr/>
        </p:nvSpPr>
        <p:spPr>
          <a:xfrm>
            <a:off x="804672" y="4041648"/>
            <a:ext cx="7498079" cy="182880"/>
          </a:xfrm>
          <a:prstGeom prst="rect">
            <a:avLst/>
          </a:prstGeom>
          <a:noFill/>
        </p:spPr>
        <p:txBody>
          <a:bodyPr wrap="square">
            <a:normAutofit/>
          </a:bodyPr>
          <a:lstStyle/>
          <a:p>
            <a:pPr algn="l">
              <a:spcAft>
                <a:spcPts val="0"/>
              </a:spcAft>
              <a:defRPr sz="1100" b="1">
                <a:solidFill>
                  <a:srgbClr val="172033"/>
                </a:solidFill>
                <a:latin typeface="Arial"/>
              </a:defRPr>
            </a:pPr>
            <a:r>
              <a:t>Testing result: create, read, update, and delete report actions passed with a temporary test database.</a:t>
            </a:r>
          </a:p>
        </p:txBody>
      </p:sp>
      <p:sp>
        <p:nvSpPr>
          <p:cNvPr id="345" name="WrittenEvidence card 24"/>
          <p:cNvSpPr/>
          <p:nvPr/>
        </p:nvSpPr>
        <p:spPr>
          <a:xfrm>
            <a:off x="548640" y="4517136"/>
            <a:ext cx="8046720" cy="438912"/>
          </a:xfrm>
          <a:prstGeom prst="roundRect">
            <a:avLst/>
          </a:prstGeom>
          <a:solidFill>
            <a:srgbClr val="DBEAFE"/>
          </a:solidFill>
          <a:ln w="12700">
            <a:solidFill>
              <a:srgbClr val="1F4F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6" name="WrittenEvidence title 24"/>
          <p:cNvSpPr txBox="1"/>
          <p:nvPr/>
        </p:nvSpPr>
        <p:spPr>
          <a:xfrm>
            <a:off x="713232" y="4636008"/>
            <a:ext cx="1115568" cy="274320"/>
          </a:xfrm>
          <a:prstGeom prst="rect">
            <a:avLst/>
          </a:prstGeom>
          <a:noFill/>
        </p:spPr>
        <p:txBody>
          <a:bodyPr wrap="square">
            <a:normAutofit/>
          </a:bodyPr>
          <a:lstStyle/>
          <a:p>
            <a:pPr algn="l">
              <a:spcAft>
                <a:spcPts val="0"/>
              </a:spcAft>
              <a:defRPr sz="950" b="1">
                <a:solidFill>
                  <a:srgbClr val="1F4F8F"/>
                </a:solidFill>
                <a:latin typeface="Arial"/>
              </a:defRPr>
            </a:pPr>
            <a:r>
              <a:t>Task 2 evidence</a:t>
            </a:r>
          </a:p>
        </p:txBody>
      </p:sp>
      <p:sp>
        <p:nvSpPr>
          <p:cNvPr id="347" name="WrittenEvidence body 24"/>
          <p:cNvSpPr txBox="1"/>
          <p:nvPr/>
        </p:nvSpPr>
        <p:spPr>
          <a:xfrm>
            <a:off x="1783080" y="4626864"/>
            <a:ext cx="6629400" cy="274320"/>
          </a:xfrm>
          <a:prstGeom prst="rect">
            <a:avLst/>
          </a:prstGeom>
          <a:noFill/>
        </p:spPr>
        <p:txBody>
          <a:bodyPr wrap="square">
            <a:normAutofit/>
          </a:bodyPr>
          <a:lstStyle/>
          <a:p>
            <a:pPr algn="l">
              <a:spcAft>
                <a:spcPts val="0"/>
              </a:spcAft>
              <a:defRPr sz="950" b="0">
                <a:solidFill>
                  <a:srgbClr val="172033"/>
                </a:solidFill>
                <a:latin typeface="Arial"/>
              </a:defRPr>
            </a:pPr>
            <a:r>
              <a:t>Testing proved that reports can be saved, loaded, updated, and deleted through the API and database.</a:t>
            </a: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Rectangle 328"/>
          <p:cNvSpPr/>
          <p:nvPr/>
        </p:nvSpPr>
        <p:spPr>
          <a:xfrm>
            <a:off x="0" y="0"/>
            <a:ext cx="9144000" cy="5143500"/>
          </a:xfrm>
          <a:prstGeom prst="rect">
            <a:avLst/>
          </a:prstGeom>
          <a:solidFill>
            <a:srgbClr val="F2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0" name="Rectangle 329"/>
          <p:cNvSpPr/>
          <p:nvPr/>
        </p:nvSpPr>
        <p:spPr>
          <a:xfrm>
            <a:off x="0" y="0"/>
            <a:ext cx="146304" cy="514350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1" name="TextBox 330"/>
          <p:cNvSpPr txBox="1"/>
          <p:nvPr/>
        </p:nvSpPr>
        <p:spPr>
          <a:xfrm>
            <a:off x="438912" y="256032"/>
            <a:ext cx="8138160" cy="411480"/>
          </a:xfrm>
          <a:prstGeom prst="rect">
            <a:avLst/>
          </a:prstGeom>
          <a:noFill/>
        </p:spPr>
        <p:txBody>
          <a:bodyPr wrap="square">
            <a:normAutofit/>
          </a:bodyPr>
          <a:lstStyle/>
          <a:p>
            <a:pPr algn="l">
              <a:spcAft>
                <a:spcPts val="0"/>
              </a:spcAft>
              <a:defRPr sz="2500" b="1">
                <a:solidFill>
                  <a:srgbClr val="172033"/>
                </a:solidFill>
                <a:latin typeface="Arial"/>
              </a:defRPr>
            </a:pPr>
            <a:r>
              <a:t>Sprint 2 Review</a:t>
            </a:r>
          </a:p>
        </p:txBody>
      </p:sp>
      <p:sp>
        <p:nvSpPr>
          <p:cNvPr id="332" name="TextBox 331"/>
          <p:cNvSpPr txBox="1"/>
          <p:nvPr/>
        </p:nvSpPr>
        <p:spPr>
          <a:xfrm>
            <a:off x="457200" y="676656"/>
            <a:ext cx="7955279" cy="292608"/>
          </a:xfrm>
          <a:prstGeom prst="rect">
            <a:avLst/>
          </a:prstGeom>
          <a:noFill/>
        </p:spPr>
        <p:txBody>
          <a:bodyPr wrap="square">
            <a:normAutofit/>
          </a:bodyPr>
          <a:lstStyle/>
          <a:p>
            <a:pPr algn="l">
              <a:spcAft>
                <a:spcPts val="0"/>
              </a:spcAft>
              <a:defRPr sz="1200" b="0">
                <a:solidFill>
                  <a:srgbClr val="5B6472"/>
                </a:solidFill>
                <a:latin typeface="Arial"/>
              </a:defRPr>
            </a:pPr>
            <a:r>
              <a:t>Result: stronger workflow, better storage, still a prototype.</a:t>
            </a:r>
          </a:p>
        </p:txBody>
      </p:sp>
      <p:sp>
        <p:nvSpPr>
          <p:cNvPr id="333" name="Rectangle 332"/>
          <p:cNvSpPr/>
          <p:nvPr/>
        </p:nvSpPr>
        <p:spPr>
          <a:xfrm>
            <a:off x="457200" y="960120"/>
            <a:ext cx="1005840" cy="36576"/>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4" name="Rounded Rectangle 333"/>
          <p:cNvSpPr/>
          <p:nvPr/>
        </p:nvSpPr>
        <p:spPr>
          <a:xfrm>
            <a:off x="594360" y="1170432"/>
            <a:ext cx="3657600" cy="960120"/>
          </a:xfrm>
          <a:prstGeom prst="roundRect">
            <a:avLst/>
          </a:prstGeom>
          <a:solidFill>
            <a:srgbClr val="DBEAFE"/>
          </a:solidFill>
          <a:ln w="12700">
            <a:solidFill>
              <a:srgbClr val="1F4F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5" name="TextBox 334"/>
          <p:cNvSpPr txBox="1"/>
          <p:nvPr/>
        </p:nvSpPr>
        <p:spPr>
          <a:xfrm>
            <a:off x="795528" y="1335024"/>
            <a:ext cx="3200400" cy="228600"/>
          </a:xfrm>
          <a:prstGeom prst="rect">
            <a:avLst/>
          </a:prstGeom>
          <a:noFill/>
        </p:spPr>
        <p:txBody>
          <a:bodyPr wrap="square">
            <a:normAutofit/>
          </a:bodyPr>
          <a:lstStyle/>
          <a:p>
            <a:pPr algn="l">
              <a:spcAft>
                <a:spcPts val="0"/>
              </a:spcAft>
              <a:defRPr sz="1500" b="1">
                <a:solidFill>
                  <a:srgbClr val="1F4F8F"/>
                </a:solidFill>
                <a:latin typeface="Arial"/>
              </a:defRPr>
            </a:pPr>
            <a:r>
              <a:t>Role split</a:t>
            </a:r>
          </a:p>
        </p:txBody>
      </p:sp>
      <p:sp>
        <p:nvSpPr>
          <p:cNvPr id="336" name="TextBox 335"/>
          <p:cNvSpPr txBox="1"/>
          <p:nvPr/>
        </p:nvSpPr>
        <p:spPr>
          <a:xfrm>
            <a:off x="795528" y="1645920"/>
            <a:ext cx="3200400" cy="292608"/>
          </a:xfrm>
          <a:prstGeom prst="rect">
            <a:avLst/>
          </a:prstGeom>
          <a:noFill/>
        </p:spPr>
        <p:txBody>
          <a:bodyPr wrap="square">
            <a:normAutofit/>
          </a:bodyPr>
          <a:lstStyle/>
          <a:p>
            <a:pPr algn="l">
              <a:spcAft>
                <a:spcPts val="0"/>
              </a:spcAft>
              <a:defRPr sz="1100" b="0">
                <a:solidFill>
                  <a:srgbClr val="172033"/>
                </a:solidFill>
                <a:latin typeface="Arial"/>
              </a:defRPr>
            </a:pPr>
            <a:r>
              <a:t>Students submit. Teachers review and manage.</a:t>
            </a:r>
          </a:p>
        </p:txBody>
      </p:sp>
      <p:sp>
        <p:nvSpPr>
          <p:cNvPr id="337" name="Rounded Rectangle 336"/>
          <p:cNvSpPr/>
          <p:nvPr/>
        </p:nvSpPr>
        <p:spPr>
          <a:xfrm>
            <a:off x="4663440" y="1170432"/>
            <a:ext cx="3657600" cy="960120"/>
          </a:xfrm>
          <a:prstGeom prst="roundRect">
            <a:avLst/>
          </a:prstGeom>
          <a:solidFill>
            <a:srgbClr val="DCFCE7"/>
          </a:solidFill>
          <a:ln w="127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8" name="TextBox 337"/>
          <p:cNvSpPr txBox="1"/>
          <p:nvPr/>
        </p:nvSpPr>
        <p:spPr>
          <a:xfrm>
            <a:off x="4864608" y="1335024"/>
            <a:ext cx="3200400" cy="228600"/>
          </a:xfrm>
          <a:prstGeom prst="rect">
            <a:avLst/>
          </a:prstGeom>
          <a:noFill/>
        </p:spPr>
        <p:txBody>
          <a:bodyPr wrap="square">
            <a:normAutofit/>
          </a:bodyPr>
          <a:lstStyle/>
          <a:p>
            <a:pPr algn="l">
              <a:spcAft>
                <a:spcPts val="0"/>
              </a:spcAft>
              <a:defRPr sz="1500" b="1">
                <a:solidFill>
                  <a:srgbClr val="166534"/>
                </a:solidFill>
                <a:latin typeface="Arial"/>
              </a:defRPr>
            </a:pPr>
            <a:r>
              <a:t>Database</a:t>
            </a:r>
          </a:p>
        </p:txBody>
      </p:sp>
      <p:sp>
        <p:nvSpPr>
          <p:cNvPr id="339" name="TextBox 338"/>
          <p:cNvSpPr txBox="1"/>
          <p:nvPr/>
        </p:nvSpPr>
        <p:spPr>
          <a:xfrm>
            <a:off x="4864608" y="1645920"/>
            <a:ext cx="3200400" cy="292608"/>
          </a:xfrm>
          <a:prstGeom prst="rect">
            <a:avLst/>
          </a:prstGeom>
          <a:noFill/>
        </p:spPr>
        <p:txBody>
          <a:bodyPr wrap="square">
            <a:normAutofit/>
          </a:bodyPr>
          <a:lstStyle/>
          <a:p>
            <a:pPr algn="l">
              <a:spcAft>
                <a:spcPts val="0"/>
              </a:spcAft>
              <a:defRPr sz="1100" b="0">
                <a:solidFill>
                  <a:srgbClr val="172033"/>
                </a:solidFill>
                <a:latin typeface="Arial"/>
              </a:defRPr>
            </a:pPr>
            <a:r>
              <a:t>Reports can load again after refresh.</a:t>
            </a:r>
          </a:p>
        </p:txBody>
      </p:sp>
      <p:sp>
        <p:nvSpPr>
          <p:cNvPr id="340" name="Rounded Rectangle 339"/>
          <p:cNvSpPr/>
          <p:nvPr/>
        </p:nvSpPr>
        <p:spPr>
          <a:xfrm>
            <a:off x="594360" y="2496312"/>
            <a:ext cx="3657600" cy="960120"/>
          </a:xfrm>
          <a:prstGeom prst="roundRect">
            <a:avLst/>
          </a:prstGeom>
          <a:solidFill>
            <a:srgbClr val="FEF3C7"/>
          </a:solidFill>
          <a:ln w="12700">
            <a:solidFill>
              <a:srgbClr val="92400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1" name="TextBox 340"/>
          <p:cNvSpPr txBox="1"/>
          <p:nvPr/>
        </p:nvSpPr>
        <p:spPr>
          <a:xfrm>
            <a:off x="795528" y="2660904"/>
            <a:ext cx="3200400" cy="228600"/>
          </a:xfrm>
          <a:prstGeom prst="rect">
            <a:avLst/>
          </a:prstGeom>
          <a:noFill/>
        </p:spPr>
        <p:txBody>
          <a:bodyPr wrap="square">
            <a:normAutofit/>
          </a:bodyPr>
          <a:lstStyle/>
          <a:p>
            <a:pPr algn="l">
              <a:spcAft>
                <a:spcPts val="0"/>
              </a:spcAft>
              <a:defRPr sz="1500" b="1">
                <a:solidFill>
                  <a:srgbClr val="92400E"/>
                </a:solidFill>
                <a:latin typeface="Arial"/>
              </a:defRPr>
            </a:pPr>
            <a:r>
              <a:t>Testing</a:t>
            </a:r>
          </a:p>
        </p:txBody>
      </p:sp>
      <p:sp>
        <p:nvSpPr>
          <p:cNvPr id="342" name="TextBox 341"/>
          <p:cNvSpPr txBox="1"/>
          <p:nvPr/>
        </p:nvSpPr>
        <p:spPr>
          <a:xfrm>
            <a:off x="795528" y="2971800"/>
            <a:ext cx="3200400" cy="292608"/>
          </a:xfrm>
          <a:prstGeom prst="rect">
            <a:avLst/>
          </a:prstGeom>
          <a:noFill/>
        </p:spPr>
        <p:txBody>
          <a:bodyPr wrap="square">
            <a:normAutofit/>
          </a:bodyPr>
          <a:lstStyle/>
          <a:p>
            <a:pPr algn="l">
              <a:spcAft>
                <a:spcPts val="0"/>
              </a:spcAft>
              <a:defRPr sz="1100" b="0">
                <a:solidFill>
                  <a:srgbClr val="172033"/>
                </a:solidFill>
                <a:latin typeface="Arial"/>
              </a:defRPr>
            </a:pPr>
            <a:r>
              <a:t>CRUD actions were checked through the API.</a:t>
            </a:r>
          </a:p>
        </p:txBody>
      </p:sp>
      <p:sp>
        <p:nvSpPr>
          <p:cNvPr id="343" name="Rounded Rectangle 342"/>
          <p:cNvSpPr/>
          <p:nvPr/>
        </p:nvSpPr>
        <p:spPr>
          <a:xfrm>
            <a:off x="4663440" y="2496312"/>
            <a:ext cx="3657600" cy="960120"/>
          </a:xfrm>
          <a:prstGeom prst="roundRect">
            <a:avLst/>
          </a:prstGeom>
          <a:solidFill>
            <a:srgbClr val="FEE2E2"/>
          </a:solidFill>
          <a:ln w="12700">
            <a:solidFill>
              <a:srgbClr val="A61B1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4" name="TextBox 343"/>
          <p:cNvSpPr txBox="1"/>
          <p:nvPr/>
        </p:nvSpPr>
        <p:spPr>
          <a:xfrm>
            <a:off x="4864608" y="2660904"/>
            <a:ext cx="3200400" cy="228600"/>
          </a:xfrm>
          <a:prstGeom prst="rect">
            <a:avLst/>
          </a:prstGeom>
          <a:noFill/>
        </p:spPr>
        <p:txBody>
          <a:bodyPr wrap="square">
            <a:normAutofit/>
          </a:bodyPr>
          <a:lstStyle/>
          <a:p>
            <a:pPr algn="l">
              <a:spcAft>
                <a:spcPts val="0"/>
              </a:spcAft>
              <a:defRPr sz="1500" b="1">
                <a:solidFill>
                  <a:srgbClr val="A61B1B"/>
                </a:solidFill>
                <a:latin typeface="Arial"/>
              </a:defRPr>
            </a:pPr>
            <a:r>
              <a:t>Limit</a:t>
            </a:r>
          </a:p>
        </p:txBody>
      </p:sp>
      <p:sp>
        <p:nvSpPr>
          <p:cNvPr id="345" name="TextBox 344"/>
          <p:cNvSpPr txBox="1"/>
          <p:nvPr/>
        </p:nvSpPr>
        <p:spPr>
          <a:xfrm>
            <a:off x="4864608" y="2971800"/>
            <a:ext cx="3200400" cy="292608"/>
          </a:xfrm>
          <a:prstGeom prst="rect">
            <a:avLst/>
          </a:prstGeom>
          <a:noFill/>
        </p:spPr>
        <p:txBody>
          <a:bodyPr wrap="square">
            <a:normAutofit/>
          </a:bodyPr>
          <a:lstStyle/>
          <a:p>
            <a:pPr algn="l">
              <a:spcAft>
                <a:spcPts val="0"/>
              </a:spcAft>
              <a:defRPr sz="1100" b="0">
                <a:solidFill>
                  <a:srgbClr val="172033"/>
                </a:solidFill>
                <a:latin typeface="Arial"/>
              </a:defRPr>
            </a:pPr>
            <a:r>
              <a:t>Teacher key is simple, not real authentication.</a:t>
            </a:r>
          </a:p>
        </p:txBody>
      </p:sp>
      <p:sp>
        <p:nvSpPr>
          <p:cNvPr id="346" name="Rounded Rectangle 345"/>
          <p:cNvSpPr/>
          <p:nvPr/>
        </p:nvSpPr>
        <p:spPr>
          <a:xfrm>
            <a:off x="594360" y="3840480"/>
            <a:ext cx="7726679" cy="566928"/>
          </a:xfrm>
          <a:prstGeom prst="roundRect">
            <a:avLst/>
          </a:prstGeom>
          <a:solidFill>
            <a:srgbClr val="FFFFFF"/>
          </a:solidFill>
          <a:ln w="12700">
            <a:solidFill>
              <a:srgbClr val="C7D0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7" name="TextBox 346"/>
          <p:cNvSpPr txBox="1"/>
          <p:nvPr/>
        </p:nvSpPr>
        <p:spPr>
          <a:xfrm>
            <a:off x="841248" y="4005072"/>
            <a:ext cx="7223760" cy="164592"/>
          </a:xfrm>
          <a:prstGeom prst="rect">
            <a:avLst/>
          </a:prstGeom>
          <a:noFill/>
        </p:spPr>
        <p:txBody>
          <a:bodyPr wrap="square">
            <a:normAutofit/>
          </a:bodyPr>
          <a:lstStyle/>
          <a:p>
            <a:pPr algn="l">
              <a:spcAft>
                <a:spcPts val="0"/>
              </a:spcAft>
              <a:defRPr sz="1200" b="1">
                <a:solidFill>
                  <a:srgbClr val="172033"/>
                </a:solidFill>
                <a:latin typeface="Arial"/>
              </a:defRPr>
            </a:pPr>
            <a:r>
              <a:t>Next sprint: only add search, filtering, or error handling if testing shows it saves teacher time.</a:t>
            </a:r>
          </a:p>
        </p:txBody>
      </p:sp>
      <p:sp>
        <p:nvSpPr>
          <p:cNvPr id="348" name="WrittenEvidence card 25"/>
          <p:cNvSpPr/>
          <p:nvPr/>
        </p:nvSpPr>
        <p:spPr>
          <a:xfrm>
            <a:off x="594360" y="4425696"/>
            <a:ext cx="7726679" cy="438912"/>
          </a:xfrm>
          <a:prstGeom prst="roundRect">
            <a:avLst/>
          </a:prstGeom>
          <a:solidFill>
            <a:srgbClr val="FFFFFF"/>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9" name="WrittenEvidence title 25"/>
          <p:cNvSpPr txBox="1"/>
          <p:nvPr/>
        </p:nvSpPr>
        <p:spPr>
          <a:xfrm>
            <a:off x="758952" y="4544568"/>
            <a:ext cx="1115568" cy="274320"/>
          </a:xfrm>
          <a:prstGeom prst="rect">
            <a:avLst/>
          </a:prstGeom>
          <a:noFill/>
        </p:spPr>
        <p:txBody>
          <a:bodyPr wrap="square">
            <a:normAutofit/>
          </a:bodyPr>
          <a:lstStyle/>
          <a:p>
            <a:pPr algn="l">
              <a:spcAft>
                <a:spcPts val="0"/>
              </a:spcAft>
              <a:defRPr sz="950" b="1">
                <a:solidFill>
                  <a:srgbClr val="334155"/>
                </a:solidFill>
                <a:latin typeface="Arial"/>
              </a:defRPr>
            </a:pPr>
            <a:r>
              <a:t>Evaluation link</a:t>
            </a:r>
          </a:p>
        </p:txBody>
      </p:sp>
      <p:sp>
        <p:nvSpPr>
          <p:cNvPr id="350" name="WrittenEvidence body 25"/>
          <p:cNvSpPr txBox="1"/>
          <p:nvPr/>
        </p:nvSpPr>
        <p:spPr>
          <a:xfrm>
            <a:off x="1828800" y="4535424"/>
            <a:ext cx="6309359" cy="274320"/>
          </a:xfrm>
          <a:prstGeom prst="rect">
            <a:avLst/>
          </a:prstGeom>
          <a:noFill/>
        </p:spPr>
        <p:txBody>
          <a:bodyPr wrap="square">
            <a:normAutofit/>
          </a:bodyPr>
          <a:lstStyle/>
          <a:p>
            <a:pPr algn="l">
              <a:spcAft>
                <a:spcPts val="0"/>
              </a:spcAft>
              <a:defRPr sz="950" b="0">
                <a:solidFill>
                  <a:srgbClr val="172033"/>
                </a:solidFill>
                <a:latin typeface="Arial"/>
              </a:defRPr>
            </a:pPr>
            <a:r>
              <a:t>The sprint improved functionality, but the teacher key is still only a prototype control, not a real login system.</a:t>
            </a: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56"/>
          <p:cNvSpPr txBox="1"/>
          <p:nvPr>
            <p:ph type="title"/>
          </p:nvPr>
        </p:nvSpPr>
        <p:spPr>
          <a:xfrm>
            <a:off x="430800" y="1889700"/>
            <a:ext cx="8282400" cy="15165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GB"/>
              <a:t>Sprint 3</a:t>
            </a:r>
            <a:endParaRPr/>
          </a:p>
        </p:txBody>
      </p:sp>
      <p:sp>
        <p:nvSpPr>
          <p:cNvPr id="336" name="Google Shape;336;p56"/>
          <p:cNvSpPr txBox="1"/>
          <p:nvPr>
            <p:ph idx="4294967295" type="subTitle"/>
          </p:nvPr>
        </p:nvSpPr>
        <p:spPr>
          <a:xfrm>
            <a:off x="1577525" y="4214575"/>
            <a:ext cx="5949900" cy="802800"/>
          </a:xfrm>
          <a:prstGeom prst="rect">
            <a:avLst/>
          </a:prstGeom>
          <a:ln cap="flat" cmpd="sng" w="9525">
            <a:solidFill>
              <a:schemeClr val="dk2"/>
            </a:solidFill>
            <a:prstDash val="solid"/>
            <a:round/>
            <a:headEnd len="sm" w="sm" type="none"/>
            <a:tailEnd len="sm" w="sm" type="none"/>
          </a:ln>
        </p:spPr>
        <p:txBody>
          <a:bodyPr anchorCtr="0" anchor="ctr" bIns="91425" lIns="91425" spcFirstLastPara="1" rIns="91425" wrap="square" tIns="91425">
            <a:normAutofit/>
          </a:bodyPr>
          <a:lstStyle/>
          <a:p>
            <a:pPr indent="0" lvl="0" marL="0" rtl="0" algn="ctr">
              <a:spcBef>
                <a:spcPts val="0"/>
              </a:spcBef>
              <a:spcAft>
                <a:spcPts val="1200"/>
              </a:spcAft>
              <a:buNone/>
            </a:pPr>
            <a:r>
              <a:rPr lang="en-GB"/>
              <a:t>Starting from 20 July</a:t>
            </a:r>
            <a:endParaRPr sz="1800"/>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58"/>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t/>
            </a:r>
            <a:endParaRPr/>
          </a:p>
        </p:txBody>
      </p:sp>
      <p:sp>
        <p:nvSpPr>
          <p:cNvPr id="346" name="Google Shape;346;p58"/>
          <p:cNvSpPr txBox="1"/>
          <p:nvPr>
            <p:ph idx="1" type="body"/>
          </p:nvPr>
        </p:nvSpPr>
        <p:spPr>
          <a:xfrm>
            <a:off x="311700" y="1468825"/>
            <a:ext cx="8520600" cy="30999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60"/>
          <p:cNvSpPr txBox="1"/>
          <p:nvPr>
            <p:ph type="title"/>
          </p:nvPr>
        </p:nvSpPr>
        <p:spPr>
          <a:xfrm>
            <a:off x="38975" y="348825"/>
            <a:ext cx="8520600" cy="733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t/>
            </a:r>
            <a:endParaRPr/>
          </a:p>
        </p:txBody>
      </p:sp>
      <p:sp>
        <p:nvSpPr>
          <p:cNvPr id="356" name="Google Shape;356;p60"/>
          <p:cNvSpPr txBox="1"/>
          <p:nvPr>
            <p:ph idx="1" type="body"/>
          </p:nvPr>
        </p:nvSpPr>
        <p:spPr>
          <a:xfrm>
            <a:off x="311700" y="1468825"/>
            <a:ext cx="8520600" cy="30999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61"/>
          <p:cNvSpPr txBox="1"/>
          <p:nvPr>
            <p:ph type="title"/>
          </p:nvPr>
        </p:nvSpPr>
        <p:spPr>
          <a:xfrm>
            <a:off x="430800" y="1889700"/>
            <a:ext cx="8282400" cy="15165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GB"/>
              <a:t>Sprint 4</a:t>
            </a:r>
            <a:endParaRPr/>
          </a:p>
        </p:txBody>
      </p:sp>
      <p:sp>
        <p:nvSpPr>
          <p:cNvPr id="362" name="Google Shape;362;p61"/>
          <p:cNvSpPr txBox="1"/>
          <p:nvPr>
            <p:ph idx="4294967295" type="subTitle"/>
          </p:nvPr>
        </p:nvSpPr>
        <p:spPr>
          <a:xfrm>
            <a:off x="1577525" y="4214575"/>
            <a:ext cx="5949900" cy="802800"/>
          </a:xfrm>
          <a:prstGeom prst="rect">
            <a:avLst/>
          </a:prstGeom>
          <a:ln cap="flat" cmpd="sng" w="9525">
            <a:solidFill>
              <a:schemeClr val="dk2"/>
            </a:solidFill>
            <a:prstDash val="solid"/>
            <a:round/>
            <a:headEnd len="sm" w="sm" type="none"/>
            <a:tailEnd len="sm" w="sm" type="none"/>
          </a:ln>
        </p:spPr>
        <p:txBody>
          <a:bodyPr anchorCtr="0" anchor="ctr" bIns="91425" lIns="91425" spcFirstLastPara="1" rIns="91425" wrap="square" tIns="91425">
            <a:normAutofit/>
          </a:bodyPr>
          <a:lstStyle/>
          <a:p>
            <a:pPr indent="0" lvl="0" marL="0" rtl="0" algn="ctr">
              <a:spcBef>
                <a:spcPts val="0"/>
              </a:spcBef>
              <a:spcAft>
                <a:spcPts val="1200"/>
              </a:spcAft>
              <a:buNone/>
            </a:pPr>
            <a:r>
              <a:rPr lang="en-GB"/>
              <a:t>Starting from 10 August</a:t>
            </a:r>
            <a:endParaRPr sz="1800"/>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63"/>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t/>
            </a:r>
            <a:endParaRPr/>
          </a:p>
        </p:txBody>
      </p:sp>
      <p:sp>
        <p:nvSpPr>
          <p:cNvPr id="372" name="Google Shape;372;p63"/>
          <p:cNvSpPr txBox="1"/>
          <p:nvPr>
            <p:ph idx="1" type="body"/>
          </p:nvPr>
        </p:nvSpPr>
        <p:spPr>
          <a:xfrm>
            <a:off x="311700" y="1468825"/>
            <a:ext cx="8520600" cy="30999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p65"/>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t/>
            </a:r>
            <a:endParaRPr/>
          </a:p>
        </p:txBody>
      </p:sp>
      <p:sp>
        <p:nvSpPr>
          <p:cNvPr id="382" name="Google Shape;382;p65"/>
          <p:cNvSpPr txBox="1"/>
          <p:nvPr>
            <p:ph idx="1" type="body"/>
          </p:nvPr>
        </p:nvSpPr>
        <p:spPr>
          <a:xfrm>
            <a:off x="311700" y="1468825"/>
            <a:ext cx="8520600" cy="30999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66"/>
          <p:cNvSpPr txBox="1"/>
          <p:nvPr>
            <p:ph type="title"/>
          </p:nvPr>
        </p:nvSpPr>
        <p:spPr>
          <a:xfrm>
            <a:off x="265500" y="1078750"/>
            <a:ext cx="4045200" cy="17892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GB"/>
              <a:t>Evaluation</a:t>
            </a:r>
            <a:endParaRPr/>
          </a:p>
        </p:txBody>
      </p:sp>
      <p:sp>
        <p:nvSpPr>
          <p:cNvPr id="388" name="Google Shape;388;p66"/>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p>
            <a:pPr indent="0" lvl="0" marL="0" rtl="0" algn="l">
              <a:spcBef>
                <a:spcPts val="0"/>
              </a:spcBef>
              <a:spcAft>
                <a:spcPts val="1200"/>
              </a:spcAft>
              <a:buNone/>
            </a:pPr>
            <a:r>
              <a:rPr lang="en-GB"/>
              <a:t>Explain how this information led to the development of a high-quality outcome</a:t>
            </a:r>
            <a:endParaRPr/>
          </a:p>
        </p:txBody>
      </p:sp>
      <p:sp>
        <p:nvSpPr>
          <p:cNvPr id="389" name="Google Shape;389;p66"/>
          <p:cNvSpPr txBox="1"/>
          <p:nvPr>
            <p:ph idx="1" type="subTitle"/>
          </p:nvPr>
        </p:nvSpPr>
        <p:spPr>
          <a:xfrm>
            <a:off x="265500" y="2921401"/>
            <a:ext cx="4045200" cy="13455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GB"/>
              <a:t>Bring together all the elements of planning, trialling &amp; testing</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p67"/>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Final Evaluation</a:t>
            </a:r>
            <a:endParaRPr/>
          </a:p>
        </p:txBody>
      </p:sp>
      <p:sp>
        <p:nvSpPr>
          <p:cNvPr id="395" name="Google Shape;395;p67"/>
          <p:cNvSpPr txBox="1"/>
          <p:nvPr>
            <p:ph idx="1" type="body"/>
          </p:nvPr>
        </p:nvSpPr>
        <p:spPr>
          <a:xfrm>
            <a:off x="311700" y="1468825"/>
            <a:ext cx="8520600" cy="3099900"/>
          </a:xfrm>
          <a:prstGeom prst="rect">
            <a:avLst/>
          </a:prstGeom>
        </p:spPr>
        <p:txBody>
          <a:bodyPr anchorCtr="0" anchor="t" bIns="91425" lIns="91425" spcFirstLastPara="1" rIns="91425" wrap="square" tIns="91425">
            <a:normAutofit/>
          </a:bodyPr>
          <a:lstStyle/>
          <a:p>
            <a:pPr indent="0" lvl="0" marL="0" marR="0" rtl="0" algn="l">
              <a:lnSpc>
                <a:spcPct val="115000"/>
              </a:lnSpc>
              <a:spcBef>
                <a:spcPts val="0"/>
              </a:spcBef>
              <a:spcAft>
                <a:spcPts val="0"/>
              </a:spcAft>
              <a:buNone/>
            </a:pPr>
            <a:r>
              <a:rPr lang="en-GB" u="sng">
                <a:solidFill>
                  <a:schemeClr val="hlink"/>
                </a:solidFill>
                <a:hlinkClick r:id="rId3"/>
              </a:rPr>
              <a:t>Discuss</a:t>
            </a:r>
            <a:r>
              <a:rPr lang="en-GB"/>
              <a:t> </a:t>
            </a:r>
            <a:r>
              <a:rPr lang="en-GB"/>
              <a:t>how the information from planning, testing and trialling of all the components has helped you to develop a high-quality outcome.  </a:t>
            </a:r>
            <a:endParaRPr/>
          </a:p>
          <a:p>
            <a:pPr indent="0" lvl="0" marL="0" marR="0" rtl="0" algn="l">
              <a:lnSpc>
                <a:spcPct val="115000"/>
              </a:lnSpc>
              <a:spcBef>
                <a:spcPts val="1200"/>
              </a:spcBef>
              <a:spcAft>
                <a:spcPts val="0"/>
              </a:spcAft>
              <a:buNone/>
            </a:pPr>
            <a:r>
              <a:rPr lang="en-GB"/>
              <a:t>Include in your discussion how you used a range of sources such as user feedback, trialling, testing and research.  </a:t>
            </a:r>
            <a:endParaRPr/>
          </a:p>
          <a:p>
            <a:pPr indent="0" lvl="0" marL="0" marR="0" rtl="0" algn="l">
              <a:lnSpc>
                <a:spcPct val="115000"/>
              </a:lnSpc>
              <a:spcBef>
                <a:spcPts val="1200"/>
              </a:spcBef>
              <a:spcAft>
                <a:spcPts val="1200"/>
              </a:spcAft>
              <a:buNone/>
            </a:pPr>
            <a:r>
              <a:rPr b="1" lang="en-GB"/>
              <a:t>Keep your answer concise.  </a:t>
            </a:r>
            <a:endParaRPr b="1"/>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p68"/>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My Evaluation</a:t>
            </a:r>
            <a:endParaRPr/>
          </a:p>
        </p:txBody>
      </p:sp>
      <p:sp>
        <p:nvSpPr>
          <p:cNvPr id="401" name="Google Shape;401;p68"/>
          <p:cNvSpPr txBox="1"/>
          <p:nvPr>
            <p:ph idx="1" type="body"/>
          </p:nvPr>
        </p:nvSpPr>
        <p:spPr>
          <a:xfrm>
            <a:off x="311700" y="1468825"/>
            <a:ext cx="8520600" cy="30999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sp>
        <p:nvSpPr>
          <p:cNvPr id="406" name="Google Shape;406;p69"/>
          <p:cNvSpPr txBox="1"/>
          <p:nvPr>
            <p:ph type="title"/>
          </p:nvPr>
        </p:nvSpPr>
        <p:spPr>
          <a:xfrm>
            <a:off x="265500" y="1078750"/>
            <a:ext cx="4045200" cy="17892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GB"/>
              <a:t>Final Outcome</a:t>
            </a:r>
            <a:endParaRPr/>
          </a:p>
        </p:txBody>
      </p:sp>
      <p:sp>
        <p:nvSpPr>
          <p:cNvPr id="407" name="Google Shape;407;p6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GB" sz="1700"/>
              <a:t>Your prototype should be: </a:t>
            </a:r>
            <a:endParaRPr sz="1700"/>
          </a:p>
          <a:p>
            <a:pPr indent="-336550" lvl="0" marL="457200" rtl="0" algn="l">
              <a:spcBef>
                <a:spcPts val="1000"/>
              </a:spcBef>
              <a:spcAft>
                <a:spcPts val="0"/>
              </a:spcAft>
              <a:buSzPts val="1700"/>
              <a:buChar char="●"/>
            </a:pPr>
            <a:r>
              <a:rPr lang="en-GB" sz="1700"/>
              <a:t>Digital</a:t>
            </a:r>
            <a:endParaRPr sz="1700"/>
          </a:p>
          <a:p>
            <a:pPr indent="-336550" lvl="0" marL="457200" rtl="0" algn="l">
              <a:spcBef>
                <a:spcPts val="1000"/>
              </a:spcBef>
              <a:spcAft>
                <a:spcPts val="0"/>
              </a:spcAft>
              <a:buSzPts val="1700"/>
              <a:buChar char="●"/>
            </a:pPr>
            <a:r>
              <a:rPr lang="en-GB" sz="1700"/>
              <a:t>Functioning</a:t>
            </a:r>
            <a:endParaRPr sz="1700"/>
          </a:p>
          <a:p>
            <a:pPr indent="-336550" lvl="0" marL="457200" rtl="0" algn="l">
              <a:spcBef>
                <a:spcPts val="1000"/>
              </a:spcBef>
              <a:spcAft>
                <a:spcPts val="1000"/>
              </a:spcAft>
              <a:buSzPts val="1700"/>
              <a:buChar char="●"/>
            </a:pPr>
            <a:r>
              <a:rPr lang="en-GB" sz="1700"/>
              <a:t>Accessible by your teacher</a:t>
            </a:r>
            <a:endParaRPr sz="1700"/>
          </a:p>
        </p:txBody>
      </p:sp>
      <p:sp>
        <p:nvSpPr>
          <p:cNvPr id="408" name="Google Shape;408;p69"/>
          <p:cNvSpPr txBox="1"/>
          <p:nvPr>
            <p:ph idx="1" type="subTitle"/>
          </p:nvPr>
        </p:nvSpPr>
        <p:spPr>
          <a:xfrm>
            <a:off x="265500" y="2921401"/>
            <a:ext cx="4045200" cy="13455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GB"/>
              <a:t>Tell your teacher where to find your project</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70"/>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How to access my digital outcome</a:t>
            </a:r>
            <a:endParaRPr/>
          </a:p>
        </p:txBody>
      </p:sp>
      <p:sp>
        <p:nvSpPr>
          <p:cNvPr id="414" name="Google Shape;414;p70"/>
          <p:cNvSpPr txBox="1"/>
          <p:nvPr>
            <p:ph idx="1" type="body"/>
          </p:nvPr>
        </p:nvSpPr>
        <p:spPr>
          <a:xfrm>
            <a:off x="311700" y="1468825"/>
            <a:ext cx="3999900" cy="30999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415" name="Google Shape;415;p70"/>
          <p:cNvSpPr txBox="1"/>
          <p:nvPr>
            <p:ph idx="2" type="body"/>
          </p:nvPr>
        </p:nvSpPr>
        <p:spPr>
          <a:xfrm>
            <a:off x="4832400" y="1468825"/>
            <a:ext cx="3999900" cy="30999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71"/>
          <p:cNvSpPr txBox="1"/>
          <p:nvPr>
            <p:ph type="title"/>
          </p:nvPr>
        </p:nvSpPr>
        <p:spPr>
          <a:xfrm>
            <a:off x="265500" y="1078750"/>
            <a:ext cx="4045200" cy="17892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GB"/>
              <a:t>Self Checklist</a:t>
            </a:r>
            <a:endParaRPr/>
          </a:p>
        </p:txBody>
      </p:sp>
      <p:sp>
        <p:nvSpPr>
          <p:cNvPr id="421" name="Google Shape;421;p71"/>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p>
            <a:pPr indent="0" lvl="0" marL="0" rtl="0" algn="l">
              <a:spcBef>
                <a:spcPts val="0"/>
              </a:spcBef>
              <a:spcAft>
                <a:spcPts val="1000"/>
              </a:spcAft>
              <a:buNone/>
            </a:pPr>
            <a:r>
              <a:rPr lang="en-GB" sz="1700" u="sng">
                <a:solidFill>
                  <a:schemeClr val="hlink"/>
                </a:solidFill>
                <a:hlinkClick r:id="rId3"/>
              </a:rPr>
              <a:t>Use the self-checklists</a:t>
            </a:r>
            <a:r>
              <a:rPr lang="en-GB" sz="1700"/>
              <a:t> to ensure you </a:t>
            </a:r>
            <a:r>
              <a:rPr lang="en-GB" sz="1700"/>
              <a:t>have completed all the steps for grades</a:t>
            </a:r>
            <a:endParaRPr sz="1600"/>
          </a:p>
        </p:txBody>
      </p:sp>
      <p:sp>
        <p:nvSpPr>
          <p:cNvPr id="422" name="Google Shape;422;p71"/>
          <p:cNvSpPr txBox="1"/>
          <p:nvPr>
            <p:ph idx="1" type="subTitle"/>
          </p:nvPr>
        </p:nvSpPr>
        <p:spPr>
          <a:xfrm>
            <a:off x="265500" y="2921401"/>
            <a:ext cx="4045200" cy="13455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GB"/>
              <a:t>Can you check my work?</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sp>
        <p:nvSpPr>
          <p:cNvPr id="427" name="Google Shape;427;p72"/>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Insert your own Completed Checklist</a:t>
            </a:r>
            <a:endParaRPr/>
          </a:p>
        </p:txBody>
      </p:sp>
      <p:sp>
        <p:nvSpPr>
          <p:cNvPr id="428" name="Google Shape;428;p72"/>
          <p:cNvSpPr txBox="1"/>
          <p:nvPr>
            <p:ph idx="1" type="body"/>
          </p:nvPr>
        </p:nvSpPr>
        <p:spPr>
          <a:xfrm>
            <a:off x="311700" y="1468825"/>
            <a:ext cx="8520600" cy="30999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73"/>
          <p:cNvSpPr txBox="1"/>
          <p:nvPr>
            <p:ph type="title"/>
          </p:nvPr>
        </p:nvSpPr>
        <p:spPr>
          <a:xfrm>
            <a:off x="265500" y="1078750"/>
            <a:ext cx="4045200" cy="17892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GB"/>
              <a:t>Assessment Schedule</a:t>
            </a:r>
            <a:endParaRPr/>
          </a:p>
        </p:txBody>
      </p:sp>
      <p:sp>
        <p:nvSpPr>
          <p:cNvPr id="434" name="Google Shape;434;p73"/>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p>
            <a:pPr indent="-336550" lvl="0" marL="457200" rtl="0" algn="l">
              <a:spcBef>
                <a:spcPts val="0"/>
              </a:spcBef>
              <a:spcAft>
                <a:spcPts val="0"/>
              </a:spcAft>
              <a:buSzPts val="1700"/>
              <a:buChar char="●"/>
            </a:pPr>
            <a:r>
              <a:rPr lang="en-GB" sz="1700" u="sng">
                <a:solidFill>
                  <a:schemeClr val="hlink"/>
                </a:solidFill>
                <a:hlinkClick action="ppaction://hlinksldjump" r:id="rId3"/>
              </a:rPr>
              <a:t>AS91893 - Digital Media</a:t>
            </a:r>
            <a:endParaRPr sz="1700"/>
          </a:p>
          <a:p>
            <a:pPr indent="-336550" lvl="0" marL="457200" rtl="0" algn="l">
              <a:spcBef>
                <a:spcPts val="0"/>
              </a:spcBef>
              <a:spcAft>
                <a:spcPts val="0"/>
              </a:spcAft>
              <a:buSzPts val="1700"/>
              <a:buChar char="●"/>
            </a:pPr>
            <a:r>
              <a:rPr lang="en-GB" sz="1700" u="sng">
                <a:solidFill>
                  <a:schemeClr val="hlink"/>
                </a:solidFill>
                <a:hlinkClick action="ppaction://hlinksldjump" r:id="rId4"/>
              </a:rPr>
              <a:t>AS91896 - Programming</a:t>
            </a:r>
            <a:endParaRPr sz="1700"/>
          </a:p>
          <a:p>
            <a:pPr indent="-336550" lvl="0" marL="457200" rtl="0" algn="l">
              <a:spcBef>
                <a:spcPts val="0"/>
              </a:spcBef>
              <a:spcAft>
                <a:spcPts val="0"/>
              </a:spcAft>
              <a:buSzPts val="1700"/>
              <a:buChar char="●"/>
            </a:pPr>
            <a:r>
              <a:rPr lang="en-GB" sz="1700" u="sng">
                <a:solidFill>
                  <a:schemeClr val="hlink"/>
                </a:solidFill>
                <a:hlinkClick action="ppaction://hlinksldjump" r:id="rId5"/>
              </a:rPr>
              <a:t>AS91897 - Processes</a:t>
            </a:r>
            <a:endParaRPr sz="1700"/>
          </a:p>
        </p:txBody>
      </p:sp>
      <p:sp>
        <p:nvSpPr>
          <p:cNvPr id="435" name="Google Shape;435;p73"/>
          <p:cNvSpPr txBox="1"/>
          <p:nvPr>
            <p:ph idx="1" type="subTitle"/>
          </p:nvPr>
        </p:nvSpPr>
        <p:spPr>
          <a:xfrm>
            <a:off x="265500" y="2921401"/>
            <a:ext cx="4045200" cy="13455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GB"/>
              <a:t>Check what exactly you are being marked against</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graphicFrame>
        <p:nvGraphicFramePr>
          <p:cNvPr id="440" name="Google Shape;440;p74"/>
          <p:cNvGraphicFramePr/>
          <p:nvPr/>
        </p:nvGraphicFramePr>
        <p:xfrm>
          <a:off x="184200" y="750663"/>
          <a:ext cx="3000000" cy="3000000"/>
        </p:xfrm>
        <a:graphic>
          <a:graphicData uri="http://schemas.openxmlformats.org/drawingml/2006/table">
            <a:tbl>
              <a:tblPr>
                <a:noFill/>
                <a:tableStyleId>{E1D673EE-A136-4475-A9BE-83F346C9F8B3}</a:tableStyleId>
              </a:tblPr>
              <a:tblGrid>
                <a:gridCol w="2952900"/>
              </a:tblGrid>
              <a:tr h="388375">
                <a:tc>
                  <a:txBody>
                    <a:bodyPr/>
                    <a:lstStyle/>
                    <a:p>
                      <a:pPr indent="0" lvl="0" marL="0" rtl="0" algn="l">
                        <a:spcBef>
                          <a:spcPts val="0"/>
                        </a:spcBef>
                        <a:spcAft>
                          <a:spcPts val="0"/>
                        </a:spcAft>
                        <a:buNone/>
                      </a:pPr>
                      <a:r>
                        <a:rPr b="1" lang="en-GB"/>
                        <a:t>Achievement</a:t>
                      </a:r>
                      <a:endParaRPr b="1"/>
                    </a:p>
                  </a:txBody>
                  <a:tcPr marT="91425" marB="91425" marR="91425" marL="91425">
                    <a:lnB cap="flat" cmpd="sng" w="9525">
                      <a:solidFill>
                        <a:srgbClr val="9E9E9E"/>
                      </a:solidFill>
                      <a:prstDash val="solid"/>
                      <a:round/>
                      <a:headEnd len="sm" w="sm" type="none"/>
                      <a:tailEnd len="sm" w="sm" type="none"/>
                    </a:lnB>
                    <a:solidFill>
                      <a:srgbClr val="D9EAD3"/>
                    </a:solidFill>
                  </a:tcPr>
                </a:tc>
              </a:tr>
              <a:tr h="448100">
                <a:tc>
                  <a:txBody>
                    <a:bodyPr/>
                    <a:lstStyle/>
                    <a:p>
                      <a:pPr indent="0" lvl="0" marL="0" rtl="0" algn="l">
                        <a:spcBef>
                          <a:spcPts val="200"/>
                        </a:spcBef>
                        <a:spcAft>
                          <a:spcPts val="200"/>
                        </a:spcAft>
                        <a:buNone/>
                      </a:pPr>
                      <a:r>
                        <a:rPr i="1" lang="en-GB" sz="900"/>
                        <a:t>The student has used advanced techniques to develop a digital media outcome, by:</a:t>
                      </a:r>
                      <a:endParaRPr i="1"/>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9EDEE"/>
                    </a:solidFill>
                  </a:tcPr>
                </a:tc>
              </a:tr>
              <a:tr h="640025">
                <a:tc>
                  <a:txBody>
                    <a:bodyPr/>
                    <a:lstStyle/>
                    <a:p>
                      <a:pPr indent="0" lvl="0" marL="0" rtl="0" algn="l">
                        <a:spcBef>
                          <a:spcPts val="200"/>
                        </a:spcBef>
                        <a:spcAft>
                          <a:spcPts val="200"/>
                        </a:spcAft>
                        <a:buNone/>
                      </a:pPr>
                      <a:r>
                        <a:rPr lang="en-GB" sz="1000"/>
                        <a:t>Using appropriate tools and techniques for the purpose and end users</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518125">
                <a:tc>
                  <a:txBody>
                    <a:bodyPr/>
                    <a:lstStyle/>
                    <a:p>
                      <a:pPr indent="0" lvl="0" marL="0" marR="0" rtl="0" algn="l">
                        <a:lnSpc>
                          <a:spcPct val="100000"/>
                        </a:lnSpc>
                        <a:spcBef>
                          <a:spcPts val="200"/>
                        </a:spcBef>
                        <a:spcAft>
                          <a:spcPts val="200"/>
                        </a:spcAft>
                        <a:buNone/>
                      </a:pPr>
                      <a:r>
                        <a:rPr lang="en-GB" sz="1000"/>
                        <a:t>Applying appropriate data integrity and testing procedures</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507875">
                <a:tc>
                  <a:txBody>
                    <a:bodyPr/>
                    <a:lstStyle/>
                    <a:p>
                      <a:pPr indent="0" lvl="0" marL="0" marR="0" rtl="0" algn="l">
                        <a:lnSpc>
                          <a:spcPct val="100000"/>
                        </a:lnSpc>
                        <a:spcBef>
                          <a:spcPts val="200"/>
                        </a:spcBef>
                        <a:spcAft>
                          <a:spcPts val="200"/>
                        </a:spcAft>
                        <a:buNone/>
                      </a:pPr>
                      <a:r>
                        <a:rPr lang="en-GB" sz="1000"/>
                        <a:t>Using relevant conventions for the media type</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672225">
                <a:tc rowSpan="2">
                  <a:txBody>
                    <a:bodyPr/>
                    <a:lstStyle/>
                    <a:p>
                      <a:pPr indent="0" lvl="0" marL="0" rtl="0" algn="l">
                        <a:spcBef>
                          <a:spcPts val="200"/>
                        </a:spcBef>
                        <a:spcAft>
                          <a:spcPts val="200"/>
                        </a:spcAft>
                        <a:buNone/>
                      </a:pPr>
                      <a:r>
                        <a:rPr lang="en-GB" sz="1000"/>
                        <a:t>Explaining relevant implications</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solidFill>
                      <a:schemeClr val="lt1"/>
                    </a:solidFill>
                  </a:tcPr>
                </a:tc>
              </a:tr>
              <a:tr h="404800">
                <a:tc vMerge="1"/>
              </a:tr>
            </a:tbl>
          </a:graphicData>
        </a:graphic>
      </p:graphicFrame>
      <p:sp>
        <p:nvSpPr>
          <p:cNvPr id="441" name="Google Shape;441;p74"/>
          <p:cNvSpPr txBox="1"/>
          <p:nvPr>
            <p:ph type="title"/>
          </p:nvPr>
        </p:nvSpPr>
        <p:spPr>
          <a:xfrm>
            <a:off x="311700" y="-8500"/>
            <a:ext cx="8520600" cy="733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Assessment Schedule - Digital Media (</a:t>
            </a:r>
            <a:r>
              <a:rPr lang="en-GB" u="sng">
                <a:solidFill>
                  <a:schemeClr val="hlink"/>
                </a:solidFill>
                <a:hlinkClick r:id="rId3"/>
              </a:rPr>
              <a:t>AS91893</a:t>
            </a:r>
            <a:r>
              <a:rPr lang="en-GB"/>
              <a:t>)</a:t>
            </a:r>
            <a:endParaRPr/>
          </a:p>
        </p:txBody>
      </p:sp>
      <p:graphicFrame>
        <p:nvGraphicFramePr>
          <p:cNvPr id="442" name="Google Shape;442;p74"/>
          <p:cNvGraphicFramePr/>
          <p:nvPr/>
        </p:nvGraphicFramePr>
        <p:xfrm>
          <a:off x="3137100" y="750663"/>
          <a:ext cx="3000000" cy="3000000"/>
        </p:xfrm>
        <a:graphic>
          <a:graphicData uri="http://schemas.openxmlformats.org/drawingml/2006/table">
            <a:tbl>
              <a:tblPr>
                <a:noFill/>
                <a:tableStyleId>{E1D673EE-A136-4475-A9BE-83F346C9F8B3}</a:tableStyleId>
              </a:tblPr>
              <a:tblGrid>
                <a:gridCol w="2952900"/>
              </a:tblGrid>
              <a:tr h="396200">
                <a:tc>
                  <a:txBody>
                    <a:bodyPr/>
                    <a:lstStyle/>
                    <a:p>
                      <a:pPr indent="0" lvl="0" marL="0" rtl="0" algn="l">
                        <a:spcBef>
                          <a:spcPts val="0"/>
                        </a:spcBef>
                        <a:spcAft>
                          <a:spcPts val="0"/>
                        </a:spcAft>
                        <a:buNone/>
                      </a:pPr>
                      <a:r>
                        <a:rPr b="1" lang="en-GB"/>
                        <a:t>Achievement with Merit</a:t>
                      </a:r>
                      <a:endParaRPr b="1"/>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CE5CD"/>
                    </a:solidFill>
                  </a:tcPr>
                </a:tc>
              </a:tr>
              <a:tr h="457150">
                <a:tc>
                  <a:txBody>
                    <a:bodyPr/>
                    <a:lstStyle/>
                    <a:p>
                      <a:pPr indent="0" lvl="0" marL="0" rtl="0" algn="l">
                        <a:spcBef>
                          <a:spcPts val="200"/>
                        </a:spcBef>
                        <a:spcAft>
                          <a:spcPts val="200"/>
                        </a:spcAft>
                        <a:buNone/>
                      </a:pPr>
                      <a:r>
                        <a:rPr i="1" lang="en-GB" sz="900"/>
                        <a:t>The student has used advanced techniques to develop an informed digital media outcome, by:</a:t>
                      </a:r>
                      <a:endParaRPr i="1" sz="9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9EDEE"/>
                    </a:solidFill>
                  </a:tcPr>
                </a:tc>
              </a:tr>
              <a:tr h="640025">
                <a:tc>
                  <a:txBody>
                    <a:bodyPr/>
                    <a:lstStyle/>
                    <a:p>
                      <a:pPr indent="0" lvl="0" marL="0" marR="0" rtl="0" algn="l">
                        <a:lnSpc>
                          <a:spcPct val="100000"/>
                        </a:lnSpc>
                        <a:spcBef>
                          <a:spcPts val="200"/>
                        </a:spcBef>
                        <a:spcAft>
                          <a:spcPts val="200"/>
                        </a:spcAft>
                        <a:buNone/>
                      </a:pPr>
                      <a:r>
                        <a:rPr lang="en-GB" sz="1000"/>
                        <a:t>Using information from testing procedures to improve the quality of the outcome</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FFF"/>
                    </a:solidFill>
                  </a:tcPr>
                </a:tc>
              </a:tr>
              <a:tr h="518125">
                <a:tc>
                  <a:txBody>
                    <a:bodyPr/>
                    <a:lstStyle/>
                    <a:p>
                      <a:pPr indent="0" lvl="0" marL="0" rtl="0" algn="l">
                        <a:spcBef>
                          <a:spcPts val="200"/>
                        </a:spcBef>
                        <a:spcAft>
                          <a:spcPts val="200"/>
                        </a:spcAft>
                        <a:buNone/>
                      </a:pPr>
                      <a:r>
                        <a:rPr lang="en-GB" sz="1000"/>
                        <a:t>Applying relevant conventions to improve the quality of the outcome</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FFF"/>
                    </a:solidFill>
                  </a:tcPr>
                </a:tc>
              </a:tr>
              <a:tr h="536975">
                <a:tc rowSpan="3">
                  <a:txBody>
                    <a:bodyPr/>
                    <a:lstStyle/>
                    <a:p>
                      <a:pPr indent="0" lvl="0" marL="0" rtl="0" algn="l">
                        <a:spcBef>
                          <a:spcPts val="200"/>
                        </a:spcBef>
                        <a:spcAft>
                          <a:spcPts val="200"/>
                        </a:spcAft>
                        <a:buNone/>
                      </a:pPr>
                      <a:r>
                        <a:rPr lang="en-GB" sz="1000"/>
                        <a:t>Addressing relevant implications</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FFF"/>
                    </a:solidFill>
                  </a:tcPr>
                </a:tc>
              </a:tr>
              <a:tr h="710700">
                <a:tc vMerge="1"/>
              </a:tr>
              <a:tr h="337225">
                <a:tc vMerge="1"/>
              </a:tr>
            </a:tbl>
          </a:graphicData>
        </a:graphic>
      </p:graphicFrame>
      <p:graphicFrame>
        <p:nvGraphicFramePr>
          <p:cNvPr id="443" name="Google Shape;443;p74"/>
          <p:cNvGraphicFramePr/>
          <p:nvPr/>
        </p:nvGraphicFramePr>
        <p:xfrm>
          <a:off x="6090000" y="750663"/>
          <a:ext cx="3000000" cy="3000000"/>
        </p:xfrm>
        <a:graphic>
          <a:graphicData uri="http://schemas.openxmlformats.org/drawingml/2006/table">
            <a:tbl>
              <a:tblPr>
                <a:noFill/>
                <a:tableStyleId>{E1D673EE-A136-4475-A9BE-83F346C9F8B3}</a:tableStyleId>
              </a:tblPr>
              <a:tblGrid>
                <a:gridCol w="2952900"/>
              </a:tblGrid>
              <a:tr h="396200">
                <a:tc>
                  <a:txBody>
                    <a:bodyPr/>
                    <a:lstStyle/>
                    <a:p>
                      <a:pPr indent="0" lvl="0" marL="0" rtl="0" algn="l">
                        <a:spcBef>
                          <a:spcPts val="0"/>
                        </a:spcBef>
                        <a:spcAft>
                          <a:spcPts val="0"/>
                        </a:spcAft>
                        <a:buNone/>
                      </a:pPr>
                      <a:r>
                        <a:rPr b="1" lang="en-GB"/>
                        <a:t>Achievement with Excellence</a:t>
                      </a:r>
                      <a:endParaRPr b="1"/>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4CCCC"/>
                    </a:solidFill>
                  </a:tcPr>
                </a:tc>
              </a:tr>
              <a:tr h="381000">
                <a:tc>
                  <a:txBody>
                    <a:bodyPr/>
                    <a:lstStyle/>
                    <a:p>
                      <a:pPr indent="0" lvl="0" marL="0" rtl="0" algn="l">
                        <a:spcBef>
                          <a:spcPts val="200"/>
                        </a:spcBef>
                        <a:spcAft>
                          <a:spcPts val="200"/>
                        </a:spcAft>
                        <a:buNone/>
                      </a:pPr>
                      <a:r>
                        <a:rPr i="1" lang="en-GB" sz="900"/>
                        <a:t>The student has used advanced techniques to develop a refined digital media outcome, by:</a:t>
                      </a:r>
                      <a:endParaRPr i="1" sz="9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9EDEE"/>
                    </a:solidFill>
                  </a:tcPr>
                </a:tc>
              </a:tr>
              <a:tr h="518125">
                <a:tc>
                  <a:txBody>
                    <a:bodyPr/>
                    <a:lstStyle/>
                    <a:p>
                      <a:pPr indent="0" lvl="0" marL="0" rtl="0" algn="l">
                        <a:spcBef>
                          <a:spcPts val="200"/>
                        </a:spcBef>
                        <a:spcAft>
                          <a:spcPts val="200"/>
                        </a:spcAft>
                        <a:buNone/>
                      </a:pPr>
                      <a:r>
                        <a:rPr lang="en-GB" sz="1000"/>
                        <a:t>Iterative improvement throughout the design, development and testing process to produce a high-quality outcome</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FFF"/>
                    </a:solidFill>
                  </a:tcPr>
                </a:tc>
              </a:tr>
              <a:tr h="518125">
                <a:tc rowSpan="4">
                  <a:txBody>
                    <a:bodyPr/>
                    <a:lstStyle/>
                    <a:p>
                      <a:pPr indent="0" lvl="0" marL="0" rtl="0" algn="l">
                        <a:spcBef>
                          <a:spcPts val="200"/>
                        </a:spcBef>
                        <a:spcAft>
                          <a:spcPts val="200"/>
                        </a:spcAft>
                        <a:buNone/>
                      </a:pPr>
                      <a:r>
                        <a:rPr lang="en-GB" sz="1000"/>
                        <a:t>Using efficient tools and techniques in the outcome’s production</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FFF"/>
                    </a:solidFill>
                  </a:tcPr>
                </a:tc>
              </a:tr>
              <a:tr h="518125">
                <a:tc vMerge="1"/>
              </a:tr>
              <a:tr h="685775">
                <a:tc vMerge="1"/>
              </a:tr>
              <a:tr h="381000">
                <a:tc vMerge="1"/>
              </a:tr>
            </a:tbl>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graphicFrame>
        <p:nvGraphicFramePr>
          <p:cNvPr id="448" name="Google Shape;448;p75"/>
          <p:cNvGraphicFramePr/>
          <p:nvPr/>
        </p:nvGraphicFramePr>
        <p:xfrm>
          <a:off x="184200" y="750663"/>
          <a:ext cx="3000000" cy="3000000"/>
        </p:xfrm>
        <a:graphic>
          <a:graphicData uri="http://schemas.openxmlformats.org/drawingml/2006/table">
            <a:tbl>
              <a:tblPr>
                <a:noFill/>
                <a:tableStyleId>{E1D673EE-A136-4475-A9BE-83F346C9F8B3}</a:tableStyleId>
              </a:tblPr>
              <a:tblGrid>
                <a:gridCol w="2952900"/>
              </a:tblGrid>
              <a:tr h="388375">
                <a:tc>
                  <a:txBody>
                    <a:bodyPr/>
                    <a:lstStyle/>
                    <a:p>
                      <a:pPr indent="0" lvl="0" marL="0" rtl="0" algn="l">
                        <a:spcBef>
                          <a:spcPts val="0"/>
                        </a:spcBef>
                        <a:spcAft>
                          <a:spcPts val="0"/>
                        </a:spcAft>
                        <a:buNone/>
                      </a:pPr>
                      <a:r>
                        <a:rPr b="1" lang="en-GB"/>
                        <a:t>Achievement</a:t>
                      </a:r>
                      <a:endParaRPr b="1"/>
                    </a:p>
                  </a:txBody>
                  <a:tcPr marT="91425" marB="91425" marR="91425" marL="91425">
                    <a:lnB cap="flat" cmpd="sng" w="9525">
                      <a:solidFill>
                        <a:srgbClr val="9E9E9E"/>
                      </a:solidFill>
                      <a:prstDash val="solid"/>
                      <a:round/>
                      <a:headEnd len="sm" w="sm" type="none"/>
                      <a:tailEnd len="sm" w="sm" type="none"/>
                    </a:lnB>
                    <a:solidFill>
                      <a:srgbClr val="D9EAD3"/>
                    </a:solidFill>
                  </a:tcPr>
                </a:tc>
              </a:tr>
              <a:tr h="448100">
                <a:tc>
                  <a:txBody>
                    <a:bodyPr/>
                    <a:lstStyle/>
                    <a:p>
                      <a:pPr indent="0" lvl="0" marL="0" rtl="0" algn="l">
                        <a:spcBef>
                          <a:spcPts val="0"/>
                        </a:spcBef>
                        <a:spcAft>
                          <a:spcPts val="0"/>
                        </a:spcAft>
                        <a:buNone/>
                      </a:pPr>
                      <a:r>
                        <a:rPr i="1" lang="en-GB" sz="1000"/>
                        <a:t>Use advanced programming techniques to develop a computer program involves: </a:t>
                      </a:r>
                      <a:endParaRPr i="1"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9EDEE"/>
                    </a:solidFill>
                  </a:tcPr>
                </a:tc>
              </a:tr>
              <a:tr h="640025">
                <a:tc>
                  <a:txBody>
                    <a:bodyPr/>
                    <a:lstStyle/>
                    <a:p>
                      <a:pPr indent="0" lvl="0" marL="0" marR="0" rtl="0" algn="l">
                        <a:lnSpc>
                          <a:spcPct val="100000"/>
                        </a:lnSpc>
                        <a:spcBef>
                          <a:spcPts val="200"/>
                        </a:spcBef>
                        <a:spcAft>
                          <a:spcPts val="200"/>
                        </a:spcAft>
                        <a:buNone/>
                      </a:pPr>
                      <a:r>
                        <a:rPr lang="en-GB" sz="1000"/>
                        <a:t>writing code for a program that performs a specified task</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FFF"/>
                    </a:solidFill>
                  </a:tcPr>
                </a:tc>
              </a:tr>
              <a:tr h="518125">
                <a:tc>
                  <a:txBody>
                    <a:bodyPr/>
                    <a:lstStyle/>
                    <a:p>
                      <a:pPr indent="0" lvl="0" marL="0" marR="0" rtl="0" algn="l">
                        <a:lnSpc>
                          <a:spcPct val="100000"/>
                        </a:lnSpc>
                        <a:spcBef>
                          <a:spcPts val="200"/>
                        </a:spcBef>
                        <a:spcAft>
                          <a:spcPts val="200"/>
                        </a:spcAft>
                        <a:buNone/>
                      </a:pPr>
                      <a:r>
                        <a:rPr lang="en-GB" sz="1000"/>
                        <a:t>using advanced techniques in a suitable programming language </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FFF"/>
                    </a:solidFill>
                  </a:tcPr>
                </a:tc>
              </a:tr>
              <a:tr h="507875">
                <a:tc>
                  <a:txBody>
                    <a:bodyPr/>
                    <a:lstStyle/>
                    <a:p>
                      <a:pPr indent="0" lvl="0" marL="0" marR="0" rtl="0" algn="l">
                        <a:lnSpc>
                          <a:spcPct val="100000"/>
                        </a:lnSpc>
                        <a:spcBef>
                          <a:spcPts val="200"/>
                        </a:spcBef>
                        <a:spcAft>
                          <a:spcPts val="200"/>
                        </a:spcAft>
                        <a:buNone/>
                      </a:pPr>
                      <a:r>
                        <a:rPr lang="en-GB" sz="1000"/>
                        <a:t>setting out the program code clearly and documenting the program with comments </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FFF"/>
                    </a:solidFill>
                  </a:tcPr>
                </a:tc>
              </a:tr>
              <a:tr h="672225">
                <a:tc rowSpan="2">
                  <a:txBody>
                    <a:bodyPr/>
                    <a:lstStyle/>
                    <a:p>
                      <a:pPr indent="0" lvl="0" marL="0" rtl="0" algn="l">
                        <a:spcBef>
                          <a:spcPts val="200"/>
                        </a:spcBef>
                        <a:spcAft>
                          <a:spcPts val="200"/>
                        </a:spcAft>
                        <a:buNone/>
                      </a:pPr>
                      <a:r>
                        <a:rPr lang="en-GB" sz="1000"/>
                        <a:t>testing and debugging the program to ensure that it works on a sample of expected cases. </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solidFill>
                      <a:srgbClr val="FFFFFF"/>
                    </a:solidFill>
                  </a:tcPr>
                </a:tc>
              </a:tr>
              <a:tr h="404800">
                <a:tc vMerge="1"/>
              </a:tr>
            </a:tbl>
          </a:graphicData>
        </a:graphic>
      </p:graphicFrame>
      <p:sp>
        <p:nvSpPr>
          <p:cNvPr id="449" name="Google Shape;449;p75"/>
          <p:cNvSpPr txBox="1"/>
          <p:nvPr>
            <p:ph type="title"/>
          </p:nvPr>
        </p:nvSpPr>
        <p:spPr>
          <a:xfrm>
            <a:off x="311700" y="-8500"/>
            <a:ext cx="8520600" cy="733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Assessment Schedule - Programming (</a:t>
            </a:r>
            <a:r>
              <a:rPr lang="en-GB" u="sng">
                <a:solidFill>
                  <a:schemeClr val="hlink"/>
                </a:solidFill>
                <a:hlinkClick r:id="rId3"/>
              </a:rPr>
              <a:t>AS91896</a:t>
            </a:r>
            <a:r>
              <a:rPr lang="en-GB"/>
              <a:t>)</a:t>
            </a:r>
            <a:endParaRPr/>
          </a:p>
        </p:txBody>
      </p:sp>
      <p:graphicFrame>
        <p:nvGraphicFramePr>
          <p:cNvPr id="450" name="Google Shape;450;p75"/>
          <p:cNvGraphicFramePr/>
          <p:nvPr/>
        </p:nvGraphicFramePr>
        <p:xfrm>
          <a:off x="3137100" y="750663"/>
          <a:ext cx="3000000" cy="3000000"/>
        </p:xfrm>
        <a:graphic>
          <a:graphicData uri="http://schemas.openxmlformats.org/drawingml/2006/table">
            <a:tbl>
              <a:tblPr>
                <a:noFill/>
                <a:tableStyleId>{E1D673EE-A136-4475-A9BE-83F346C9F8B3}</a:tableStyleId>
              </a:tblPr>
              <a:tblGrid>
                <a:gridCol w="2952900"/>
              </a:tblGrid>
              <a:tr h="396200">
                <a:tc>
                  <a:txBody>
                    <a:bodyPr/>
                    <a:lstStyle/>
                    <a:p>
                      <a:pPr indent="0" lvl="0" marL="0" rtl="0" algn="l">
                        <a:spcBef>
                          <a:spcPts val="0"/>
                        </a:spcBef>
                        <a:spcAft>
                          <a:spcPts val="0"/>
                        </a:spcAft>
                        <a:buNone/>
                      </a:pPr>
                      <a:r>
                        <a:rPr b="1" lang="en-GB"/>
                        <a:t>Achievement with Merit</a:t>
                      </a:r>
                      <a:endParaRPr b="1"/>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CE5CD"/>
                    </a:solidFill>
                  </a:tcPr>
                </a:tc>
              </a:tr>
              <a:tr h="457150">
                <a:tc>
                  <a:txBody>
                    <a:bodyPr/>
                    <a:lstStyle/>
                    <a:p>
                      <a:pPr indent="0" lvl="0" marL="0" rtl="0" algn="l">
                        <a:spcBef>
                          <a:spcPts val="0"/>
                        </a:spcBef>
                        <a:spcAft>
                          <a:spcPts val="0"/>
                        </a:spcAft>
                        <a:buNone/>
                      </a:pPr>
                      <a:r>
                        <a:rPr i="1" lang="en-GB" sz="1000"/>
                        <a:t>Use advanced programming techniques to develop an informed computer program involves: </a:t>
                      </a:r>
                      <a:endParaRPr i="1"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9EDEE"/>
                    </a:solidFill>
                  </a:tcPr>
                </a:tc>
              </a:tr>
              <a:tr h="640025">
                <a:tc>
                  <a:txBody>
                    <a:bodyPr/>
                    <a:lstStyle/>
                    <a:p>
                      <a:pPr indent="0" lvl="0" marL="0" marR="0" rtl="0" algn="l">
                        <a:lnSpc>
                          <a:spcPct val="100000"/>
                        </a:lnSpc>
                        <a:spcBef>
                          <a:spcPts val="200"/>
                        </a:spcBef>
                        <a:spcAft>
                          <a:spcPts val="200"/>
                        </a:spcAft>
                        <a:buNone/>
                      </a:pPr>
                      <a:r>
                        <a:rPr lang="en-GB" sz="1000"/>
                        <a:t>documenting the program with appropriate names and comments that describe code function and behaviour </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FFF"/>
                    </a:solidFill>
                  </a:tcPr>
                </a:tc>
              </a:tr>
              <a:tr h="518125">
                <a:tc rowSpan="4">
                  <a:txBody>
                    <a:bodyPr/>
                    <a:lstStyle/>
                    <a:p>
                      <a:pPr indent="0" lvl="0" marL="0" marR="0" rtl="0" algn="l">
                        <a:lnSpc>
                          <a:spcPct val="100000"/>
                        </a:lnSpc>
                        <a:spcBef>
                          <a:spcPts val="200"/>
                        </a:spcBef>
                        <a:spcAft>
                          <a:spcPts val="200"/>
                        </a:spcAft>
                        <a:buNone/>
                      </a:pPr>
                      <a:r>
                        <a:rPr lang="en-GB" sz="1000"/>
                        <a:t>following common conventions for the chosen programming language </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FFF"/>
                    </a:solidFill>
                  </a:tcPr>
                </a:tc>
              </a:tr>
              <a:tr h="536975">
                <a:tc vMerge="1"/>
              </a:tr>
              <a:tr h="710700">
                <a:tc vMerge="1"/>
              </a:tr>
              <a:tr h="337225">
                <a:tc vMerge="1"/>
              </a:tr>
            </a:tbl>
          </a:graphicData>
        </a:graphic>
      </p:graphicFrame>
      <p:graphicFrame>
        <p:nvGraphicFramePr>
          <p:cNvPr id="451" name="Google Shape;451;p75"/>
          <p:cNvGraphicFramePr/>
          <p:nvPr/>
        </p:nvGraphicFramePr>
        <p:xfrm>
          <a:off x="6090000" y="750663"/>
          <a:ext cx="3000000" cy="3000000"/>
        </p:xfrm>
        <a:graphic>
          <a:graphicData uri="http://schemas.openxmlformats.org/drawingml/2006/table">
            <a:tbl>
              <a:tblPr>
                <a:noFill/>
                <a:tableStyleId>{E1D673EE-A136-4475-A9BE-83F346C9F8B3}</a:tableStyleId>
              </a:tblPr>
              <a:tblGrid>
                <a:gridCol w="2952900"/>
              </a:tblGrid>
              <a:tr h="396200">
                <a:tc>
                  <a:txBody>
                    <a:bodyPr/>
                    <a:lstStyle/>
                    <a:p>
                      <a:pPr indent="0" lvl="0" marL="0" rtl="0" algn="l">
                        <a:spcBef>
                          <a:spcPts val="0"/>
                        </a:spcBef>
                        <a:spcAft>
                          <a:spcPts val="0"/>
                        </a:spcAft>
                        <a:buNone/>
                      </a:pPr>
                      <a:r>
                        <a:rPr b="1" lang="en-GB"/>
                        <a:t>Achievement with Excellence</a:t>
                      </a:r>
                      <a:endParaRPr b="1"/>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4CCCC"/>
                    </a:solidFill>
                  </a:tcPr>
                </a:tc>
              </a:tr>
              <a:tr h="473875">
                <a:tc>
                  <a:txBody>
                    <a:bodyPr/>
                    <a:lstStyle/>
                    <a:p>
                      <a:pPr indent="0" lvl="0" marL="0" rtl="0" algn="l">
                        <a:spcBef>
                          <a:spcPts val="0"/>
                        </a:spcBef>
                        <a:spcAft>
                          <a:spcPts val="0"/>
                        </a:spcAft>
                        <a:buNone/>
                      </a:pPr>
                      <a:r>
                        <a:rPr i="1" lang="en-GB" sz="1000"/>
                        <a:t>Use advanced programming techniques to develop a refined computer program involves: </a:t>
                      </a:r>
                      <a:endParaRPr i="1"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9EDEE"/>
                    </a:solidFill>
                  </a:tcPr>
                </a:tc>
              </a:tr>
              <a:tr h="536150">
                <a:tc rowSpan="5">
                  <a:txBody>
                    <a:bodyPr/>
                    <a:lstStyle/>
                    <a:p>
                      <a:pPr indent="0" lvl="0" marL="0" rtl="0" algn="l">
                        <a:spcBef>
                          <a:spcPts val="200"/>
                        </a:spcBef>
                        <a:spcAft>
                          <a:spcPts val="200"/>
                        </a:spcAft>
                        <a:buNone/>
                      </a:pPr>
                      <a:r>
                        <a:rPr lang="en-GB" sz="1000"/>
                        <a:t>ensuring that the program is a well-structured, logical response to the specified task </a:t>
                      </a:r>
                      <a:endParaRPr sz="1000"/>
                    </a:p>
                  </a:txBody>
                  <a:tcPr marT="91425" marB="91425" marR="54000"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FFF"/>
                    </a:solidFill>
                  </a:tcPr>
                </a:tc>
              </a:tr>
              <a:tr h="536150">
                <a:tc vMerge="1"/>
              </a:tr>
              <a:tr h="536150">
                <a:tc vMerge="1"/>
              </a:tr>
              <a:tr h="709625">
                <a:tc vMerge="1"/>
              </a:tr>
              <a:tr h="424975">
                <a:tc vMerge="1"/>
              </a:tr>
            </a:tbl>
          </a:graphicData>
        </a:graphic>
      </p:graphicFrame>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graphicFrame>
        <p:nvGraphicFramePr>
          <p:cNvPr id="456" name="Google Shape;456;p76"/>
          <p:cNvGraphicFramePr/>
          <p:nvPr/>
        </p:nvGraphicFramePr>
        <p:xfrm>
          <a:off x="184200" y="750663"/>
          <a:ext cx="3000000" cy="3000000"/>
        </p:xfrm>
        <a:graphic>
          <a:graphicData uri="http://schemas.openxmlformats.org/drawingml/2006/table">
            <a:tbl>
              <a:tblPr>
                <a:noFill/>
                <a:tableStyleId>{E1D673EE-A136-4475-A9BE-83F346C9F8B3}</a:tableStyleId>
              </a:tblPr>
              <a:tblGrid>
                <a:gridCol w="2952900"/>
              </a:tblGrid>
              <a:tr h="388375">
                <a:tc>
                  <a:txBody>
                    <a:bodyPr/>
                    <a:lstStyle/>
                    <a:p>
                      <a:pPr indent="0" lvl="0" marL="0" rtl="0" algn="l">
                        <a:spcBef>
                          <a:spcPts val="0"/>
                        </a:spcBef>
                        <a:spcAft>
                          <a:spcPts val="0"/>
                        </a:spcAft>
                        <a:buNone/>
                      </a:pPr>
                      <a:r>
                        <a:rPr b="1" lang="en-GB"/>
                        <a:t>Achievement</a:t>
                      </a:r>
                      <a:endParaRPr b="1"/>
                    </a:p>
                  </a:txBody>
                  <a:tcPr marT="91425" marB="91425" marR="91425" marL="91425">
                    <a:lnB cap="flat" cmpd="sng" w="9525">
                      <a:solidFill>
                        <a:srgbClr val="9E9E9E"/>
                      </a:solidFill>
                      <a:prstDash val="solid"/>
                      <a:round/>
                      <a:headEnd len="sm" w="sm" type="none"/>
                      <a:tailEnd len="sm" w="sm" type="none"/>
                    </a:lnB>
                    <a:solidFill>
                      <a:srgbClr val="D9EAD3"/>
                    </a:solidFill>
                  </a:tcPr>
                </a:tc>
              </a:tr>
              <a:tr h="448100">
                <a:tc>
                  <a:txBody>
                    <a:bodyPr/>
                    <a:lstStyle/>
                    <a:p>
                      <a:pPr indent="0" lvl="0" marL="0" rtl="0" algn="l">
                        <a:spcBef>
                          <a:spcPts val="0"/>
                        </a:spcBef>
                        <a:spcAft>
                          <a:spcPts val="0"/>
                        </a:spcAft>
                        <a:buNone/>
                      </a:pPr>
                      <a:r>
                        <a:rPr i="1" lang="en-GB" sz="1000"/>
                        <a:t>Use advanced processes to develop a digital technologies outcome involves: </a:t>
                      </a:r>
                      <a:endParaRPr i="1"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9EDEE"/>
                    </a:solidFill>
                  </a:tcPr>
                </a:tc>
              </a:tr>
              <a:tr h="792425">
                <a:tc>
                  <a:txBody>
                    <a:bodyPr/>
                    <a:lstStyle/>
                    <a:p>
                      <a:pPr indent="0" lvl="0" marL="0" marR="0" rtl="0" algn="l">
                        <a:lnSpc>
                          <a:spcPct val="100000"/>
                        </a:lnSpc>
                        <a:spcBef>
                          <a:spcPts val="0"/>
                        </a:spcBef>
                        <a:spcAft>
                          <a:spcPts val="0"/>
                        </a:spcAft>
                        <a:buNone/>
                      </a:pPr>
                      <a:r>
                        <a:rPr lang="en-GB" sz="1000"/>
                        <a:t>using appropriate project management tools and techniques to plan the development of a digital technologies outcome </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FFF"/>
                    </a:solidFill>
                  </a:tcPr>
                </a:tc>
              </a:tr>
              <a:tr h="618125">
                <a:tc>
                  <a:txBody>
                    <a:bodyPr/>
                    <a:lstStyle/>
                    <a:p>
                      <a:pPr indent="0" lvl="0" marL="0" marR="0" rtl="0" algn="l">
                        <a:lnSpc>
                          <a:spcPct val="100000"/>
                        </a:lnSpc>
                        <a:spcBef>
                          <a:spcPts val="0"/>
                        </a:spcBef>
                        <a:spcAft>
                          <a:spcPts val="0"/>
                        </a:spcAft>
                        <a:buNone/>
                      </a:pPr>
                      <a:r>
                        <a:rPr lang="en-GB" sz="1000"/>
                        <a:t>decomposing the outcome into smaller components </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FFF"/>
                    </a:solidFill>
                  </a:tcPr>
                </a:tc>
              </a:tr>
              <a:tr h="710700">
                <a:tc>
                  <a:txBody>
                    <a:bodyPr/>
                    <a:lstStyle/>
                    <a:p>
                      <a:pPr indent="0" lvl="0" marL="0" marR="0" rtl="0" algn="l">
                        <a:lnSpc>
                          <a:spcPct val="100000"/>
                        </a:lnSpc>
                        <a:spcBef>
                          <a:spcPts val="0"/>
                        </a:spcBef>
                        <a:spcAft>
                          <a:spcPts val="0"/>
                        </a:spcAft>
                        <a:buNone/>
                      </a:pPr>
                      <a:r>
                        <a:rPr lang="en-GB" sz="1000"/>
                        <a:t>trialling the components of the digital technologies outcome </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FFF"/>
                    </a:solidFill>
                  </a:tcPr>
                </a:tc>
              </a:tr>
              <a:tr h="672225">
                <a:tc rowSpan="2">
                  <a:txBody>
                    <a:bodyPr/>
                    <a:lstStyle/>
                    <a:p>
                      <a:pPr indent="0" lvl="0" marL="0" marR="0" rtl="0" algn="l">
                        <a:lnSpc>
                          <a:spcPct val="100000"/>
                        </a:lnSpc>
                        <a:spcBef>
                          <a:spcPts val="0"/>
                        </a:spcBef>
                        <a:spcAft>
                          <a:spcPts val="0"/>
                        </a:spcAft>
                        <a:buNone/>
                      </a:pPr>
                      <a:r>
                        <a:rPr lang="en-GB" sz="1000"/>
                        <a:t>testing that the digital technologies outcome functions as intended</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FFF"/>
                    </a:solidFill>
                  </a:tcPr>
                </a:tc>
              </a:tr>
              <a:tr h="100000">
                <a:tc vMerge="1"/>
              </a:tr>
              <a:tr h="404800">
                <a:tc>
                  <a:txBody>
                    <a:bodyPr/>
                    <a:lstStyle/>
                    <a:p>
                      <a:pPr indent="0" lvl="0" marL="0" marR="0" rtl="0" algn="l">
                        <a:lnSpc>
                          <a:spcPct val="100000"/>
                        </a:lnSpc>
                        <a:spcBef>
                          <a:spcPts val="0"/>
                        </a:spcBef>
                        <a:spcAft>
                          <a:spcPts val="0"/>
                        </a:spcAft>
                        <a:buNone/>
                      </a:pPr>
                      <a:r>
                        <a:rPr lang="en-GB" sz="1000"/>
                        <a:t>explaining relevant implications. </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FFF"/>
                    </a:solidFill>
                  </a:tcPr>
                </a:tc>
              </a:tr>
            </a:tbl>
          </a:graphicData>
        </a:graphic>
      </p:graphicFrame>
      <p:sp>
        <p:nvSpPr>
          <p:cNvPr id="457" name="Google Shape;457;p76"/>
          <p:cNvSpPr txBox="1"/>
          <p:nvPr>
            <p:ph type="title"/>
          </p:nvPr>
        </p:nvSpPr>
        <p:spPr>
          <a:xfrm>
            <a:off x="311700" y="-8500"/>
            <a:ext cx="8520600" cy="733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Assessment Schedule - Processes (</a:t>
            </a:r>
            <a:r>
              <a:rPr lang="en-GB" u="sng">
                <a:solidFill>
                  <a:schemeClr val="hlink"/>
                </a:solidFill>
                <a:hlinkClick r:id="rId3"/>
              </a:rPr>
              <a:t>AS91897</a:t>
            </a:r>
            <a:r>
              <a:rPr lang="en-GB"/>
              <a:t>)</a:t>
            </a:r>
            <a:endParaRPr/>
          </a:p>
        </p:txBody>
      </p:sp>
      <p:graphicFrame>
        <p:nvGraphicFramePr>
          <p:cNvPr id="458" name="Google Shape;458;p76"/>
          <p:cNvGraphicFramePr/>
          <p:nvPr/>
        </p:nvGraphicFramePr>
        <p:xfrm>
          <a:off x="3137100" y="750663"/>
          <a:ext cx="3000000" cy="3000000"/>
        </p:xfrm>
        <a:graphic>
          <a:graphicData uri="http://schemas.openxmlformats.org/drawingml/2006/table">
            <a:tbl>
              <a:tblPr>
                <a:noFill/>
                <a:tableStyleId>{E1D673EE-A136-4475-A9BE-83F346C9F8B3}</a:tableStyleId>
              </a:tblPr>
              <a:tblGrid>
                <a:gridCol w="2952900"/>
              </a:tblGrid>
              <a:tr h="396200">
                <a:tc>
                  <a:txBody>
                    <a:bodyPr/>
                    <a:lstStyle/>
                    <a:p>
                      <a:pPr indent="0" lvl="0" marL="0" rtl="0" algn="l">
                        <a:spcBef>
                          <a:spcPts val="0"/>
                        </a:spcBef>
                        <a:spcAft>
                          <a:spcPts val="0"/>
                        </a:spcAft>
                        <a:buNone/>
                      </a:pPr>
                      <a:r>
                        <a:rPr b="1" lang="en-GB"/>
                        <a:t>Achievement with Merit</a:t>
                      </a:r>
                      <a:endParaRPr b="1"/>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CE5CD"/>
                    </a:solidFill>
                  </a:tcPr>
                </a:tc>
              </a:tr>
              <a:tr h="457150">
                <a:tc>
                  <a:txBody>
                    <a:bodyPr/>
                    <a:lstStyle/>
                    <a:p>
                      <a:pPr indent="0" lvl="0" marL="0" rtl="0" algn="l">
                        <a:spcBef>
                          <a:spcPts val="0"/>
                        </a:spcBef>
                        <a:spcAft>
                          <a:spcPts val="0"/>
                        </a:spcAft>
                        <a:buNone/>
                      </a:pPr>
                      <a:r>
                        <a:rPr i="1" lang="en-GB" sz="1000"/>
                        <a:t>Use advanced processes to develop an informed digital technologies outcome involves: </a:t>
                      </a:r>
                      <a:endParaRPr i="1"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9EDEE"/>
                    </a:solidFill>
                  </a:tcPr>
                </a:tc>
              </a:tr>
              <a:tr h="525725">
                <a:tc>
                  <a:txBody>
                    <a:bodyPr/>
                    <a:lstStyle/>
                    <a:p>
                      <a:pPr indent="0" lvl="0" marL="0" marR="0" rtl="0" algn="l">
                        <a:lnSpc>
                          <a:spcPct val="100000"/>
                        </a:lnSpc>
                        <a:spcBef>
                          <a:spcPts val="200"/>
                        </a:spcBef>
                        <a:spcAft>
                          <a:spcPts val="200"/>
                        </a:spcAft>
                        <a:buNone/>
                      </a:pPr>
                      <a:r>
                        <a:rPr lang="en-GB" sz="1000"/>
                        <a:t>effectively using project management and version control tools and techniques to manage the development of a digital technologies outcome </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FFF"/>
                    </a:solidFill>
                  </a:tcPr>
                </a:tc>
              </a:tr>
              <a:tr h="518125">
                <a:tc rowSpan="2">
                  <a:txBody>
                    <a:bodyPr/>
                    <a:lstStyle/>
                    <a:p>
                      <a:pPr indent="0" lvl="0" marL="0" marR="0" rtl="0" algn="l">
                        <a:lnSpc>
                          <a:spcPct val="100000"/>
                        </a:lnSpc>
                        <a:spcBef>
                          <a:spcPts val="200"/>
                        </a:spcBef>
                        <a:spcAft>
                          <a:spcPts val="200"/>
                        </a:spcAft>
                        <a:buNone/>
                      </a:pPr>
                      <a:r>
                        <a:rPr lang="en-GB" sz="1000"/>
                        <a:t>trialling multiple components and/or techniques and selecting those which are most suitable </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FFF"/>
                    </a:solidFill>
                  </a:tcPr>
                </a:tc>
              </a:tr>
              <a:tr h="100000">
                <a:tc vMerge="1"/>
              </a:tr>
              <a:tr h="710700">
                <a:tc>
                  <a:txBody>
                    <a:bodyPr/>
                    <a:lstStyle/>
                    <a:p>
                      <a:pPr indent="0" lvl="0" marL="0" marR="0" rtl="0" algn="l">
                        <a:lnSpc>
                          <a:spcPct val="100000"/>
                        </a:lnSpc>
                        <a:spcBef>
                          <a:spcPts val="200"/>
                        </a:spcBef>
                        <a:spcAft>
                          <a:spcPts val="200"/>
                        </a:spcAft>
                        <a:buNone/>
                      </a:pPr>
                      <a:r>
                        <a:rPr lang="en-GB" sz="1000"/>
                        <a:t>using information appropriately from testing and trialling to improve the functionality of the digital technologies outcome  </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FFF"/>
                    </a:solidFill>
                  </a:tcPr>
                </a:tc>
              </a:tr>
              <a:tr h="1177025">
                <a:tc>
                  <a:txBody>
                    <a:bodyPr/>
                    <a:lstStyle/>
                    <a:p>
                      <a:pPr indent="0" lvl="0" marL="0" marR="0" rtl="0" algn="l">
                        <a:lnSpc>
                          <a:spcPct val="100000"/>
                        </a:lnSpc>
                        <a:spcBef>
                          <a:spcPts val="200"/>
                        </a:spcBef>
                        <a:spcAft>
                          <a:spcPts val="200"/>
                        </a:spcAft>
                        <a:buNone/>
                      </a:pPr>
                      <a:r>
                        <a:rPr lang="en-GB" sz="1000"/>
                        <a:t>addressing relevant implications.  </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FFF"/>
                    </a:solidFill>
                  </a:tcPr>
                </a:tc>
              </a:tr>
            </a:tbl>
          </a:graphicData>
        </a:graphic>
      </p:graphicFrame>
      <p:graphicFrame>
        <p:nvGraphicFramePr>
          <p:cNvPr id="459" name="Google Shape;459;p76"/>
          <p:cNvGraphicFramePr/>
          <p:nvPr/>
        </p:nvGraphicFramePr>
        <p:xfrm>
          <a:off x="6090000" y="750663"/>
          <a:ext cx="3000000" cy="3000000"/>
        </p:xfrm>
        <a:graphic>
          <a:graphicData uri="http://schemas.openxmlformats.org/drawingml/2006/table">
            <a:tbl>
              <a:tblPr>
                <a:noFill/>
                <a:tableStyleId>{E1D673EE-A136-4475-A9BE-83F346C9F8B3}</a:tableStyleId>
              </a:tblPr>
              <a:tblGrid>
                <a:gridCol w="2952900"/>
              </a:tblGrid>
              <a:tr h="396200">
                <a:tc>
                  <a:txBody>
                    <a:bodyPr/>
                    <a:lstStyle/>
                    <a:p>
                      <a:pPr indent="0" lvl="0" marL="0" rtl="0" algn="l">
                        <a:spcBef>
                          <a:spcPts val="0"/>
                        </a:spcBef>
                        <a:spcAft>
                          <a:spcPts val="0"/>
                        </a:spcAft>
                        <a:buNone/>
                      </a:pPr>
                      <a:r>
                        <a:rPr b="1" lang="en-GB"/>
                        <a:t>Achievement with Excellence</a:t>
                      </a:r>
                      <a:endParaRPr b="1"/>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4CCCC"/>
                    </a:solidFill>
                  </a:tcPr>
                </a:tc>
              </a:tr>
              <a:tr h="473875">
                <a:tc>
                  <a:txBody>
                    <a:bodyPr/>
                    <a:lstStyle/>
                    <a:p>
                      <a:pPr indent="0" lvl="0" marL="0" rtl="0" algn="l">
                        <a:spcBef>
                          <a:spcPts val="0"/>
                        </a:spcBef>
                        <a:spcAft>
                          <a:spcPts val="0"/>
                        </a:spcAft>
                        <a:buNone/>
                      </a:pPr>
                      <a:r>
                        <a:rPr i="1" lang="en-GB" sz="1000"/>
                        <a:t>Use advanced processes to develop a refined digital technologies outcome involves: </a:t>
                      </a:r>
                      <a:endParaRPr i="1"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9EDEE"/>
                    </a:solidFill>
                  </a:tcPr>
                </a:tc>
              </a:tr>
              <a:tr h="792425">
                <a:tc rowSpan="5">
                  <a:txBody>
                    <a:bodyPr/>
                    <a:lstStyle/>
                    <a:p>
                      <a:pPr indent="0" lvl="0" marL="0" rtl="0" algn="l">
                        <a:spcBef>
                          <a:spcPts val="200"/>
                        </a:spcBef>
                        <a:spcAft>
                          <a:spcPts val="200"/>
                        </a:spcAft>
                        <a:buNone/>
                      </a:pPr>
                      <a:r>
                        <a:rPr lang="en-GB" sz="1000"/>
                        <a:t>discussing how the information from planning, testing and trialling of components assisted in the development of a high-quality outcome. </a:t>
                      </a:r>
                      <a:endParaRPr sz="1000"/>
                    </a:p>
                  </a:txBody>
                  <a:tcPr marT="91425" marB="91425" marR="54000"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FFF"/>
                    </a:solidFill>
                  </a:tcPr>
                </a:tc>
              </a:tr>
              <a:tr h="536150">
                <a:tc vMerge="1"/>
              </a:tr>
              <a:tr h="536150">
                <a:tc vMerge="1"/>
              </a:tr>
              <a:tr h="709625">
                <a:tc vMerge="1"/>
              </a:tr>
              <a:tr h="723925">
                <a:tc vMerge="1"/>
              </a:tr>
            </a:tbl>
          </a:graphicData>
        </a:graphic>
      </p:graphicFrame>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odern Writer">
  <a:themeElements>
    <a:clrScheme name="Modern Writer">
      <a:dk1>
        <a:srgbClr val="E91D63"/>
      </a:dk1>
      <a:lt1>
        <a:srgbClr val="FFFFFF"/>
      </a:lt1>
      <a:dk2>
        <a:srgbClr val="424242"/>
      </a:dk2>
      <a:lt2>
        <a:srgbClr val="999999"/>
      </a:lt2>
      <a:accent1>
        <a:srgbClr val="607D8B"/>
      </a:accent1>
      <a:accent2>
        <a:srgbClr val="673AB7"/>
      </a:accent2>
      <a:accent3>
        <a:srgbClr val="9C26B0"/>
      </a:accent3>
      <a:accent4>
        <a:srgbClr val="0090AC"/>
      </a:accent4>
      <a:accent5>
        <a:srgbClr val="00838F"/>
      </a:accent5>
      <a:accent6>
        <a:srgbClr val="F8E71C"/>
      </a:accent6>
      <a:hlink>
        <a:srgbClr val="00838F"/>
      </a:hlink>
      <a:folHlink>
        <a:srgbClr val="00838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